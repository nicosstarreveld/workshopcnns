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2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1F_41C9970D.xml" ContentType="application/vnd.ms-powerpoint.comments+xml"/>
  <Override PartName="/ppt/comments/modernComment_278_748F9603.xml" ContentType="application/vnd.ms-powerpoint.comments+xml"/>
  <Override PartName="/ppt/comments/modernComment_27A_1175085.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2D_E397E111.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1" r:id="rId1"/>
  </p:sldMasterIdLst>
  <p:notesMasterIdLst>
    <p:notesMasterId r:id="rId52"/>
  </p:notesMasterIdLst>
  <p:sldIdLst>
    <p:sldId id="256" r:id="rId2"/>
    <p:sldId id="629" r:id="rId3"/>
    <p:sldId id="258" r:id="rId4"/>
    <p:sldId id="630" r:id="rId5"/>
    <p:sldId id="622" r:id="rId6"/>
    <p:sldId id="623" r:id="rId7"/>
    <p:sldId id="274" r:id="rId8"/>
    <p:sldId id="304" r:id="rId9"/>
    <p:sldId id="257" r:id="rId10"/>
    <p:sldId id="259" r:id="rId11"/>
    <p:sldId id="260" r:id="rId12"/>
    <p:sldId id="262" r:id="rId13"/>
    <p:sldId id="263" r:id="rId14"/>
    <p:sldId id="266" r:id="rId15"/>
    <p:sldId id="279" r:id="rId16"/>
    <p:sldId id="277" r:id="rId17"/>
    <p:sldId id="278" r:id="rId18"/>
    <p:sldId id="281" r:id="rId19"/>
    <p:sldId id="283" r:id="rId20"/>
    <p:sldId id="298" r:id="rId21"/>
    <p:sldId id="290" r:id="rId22"/>
    <p:sldId id="293" r:id="rId23"/>
    <p:sldId id="282" r:id="rId24"/>
    <p:sldId id="287" r:id="rId25"/>
    <p:sldId id="631" r:id="rId26"/>
    <p:sldId id="291" r:id="rId27"/>
    <p:sldId id="296" r:id="rId28"/>
    <p:sldId id="297" r:id="rId29"/>
    <p:sldId id="276" r:id="rId30"/>
    <p:sldId id="284" r:id="rId31"/>
    <p:sldId id="632" r:id="rId32"/>
    <p:sldId id="633" r:id="rId33"/>
    <p:sldId id="280" r:id="rId34"/>
    <p:sldId id="637" r:id="rId35"/>
    <p:sldId id="303" r:id="rId36"/>
    <p:sldId id="302" r:id="rId37"/>
    <p:sldId id="292" r:id="rId38"/>
    <p:sldId id="634" r:id="rId39"/>
    <p:sldId id="286" r:id="rId40"/>
    <p:sldId id="295" r:id="rId41"/>
    <p:sldId id="635" r:id="rId42"/>
    <p:sldId id="301" r:id="rId43"/>
    <p:sldId id="294" r:id="rId44"/>
    <p:sldId id="285" r:id="rId45"/>
    <p:sldId id="288" r:id="rId46"/>
    <p:sldId id="300" r:id="rId47"/>
    <p:sldId id="299" r:id="rId48"/>
    <p:sldId id="638" r:id="rId49"/>
    <p:sldId id="289" r:id="rId50"/>
    <p:sldId id="636" r:id="rId51"/>
  </p:sldIdLst>
  <p:sldSz cx="9144000" cy="5143500" type="screen16x9"/>
  <p:notesSz cx="6858000" cy="9144000"/>
  <p:embeddedFontLst>
    <p:embeddedFont>
      <p:font typeface="Arial Narrow" panose="020B0606020202030204" pitchFamily="34" charset="0"/>
      <p:regular r:id="rId53"/>
      <p:bold r:id="rId54"/>
      <p:italic r:id="rId55"/>
      <p:boldItalic r:id="rId56"/>
    </p:embeddedFont>
    <p:embeddedFont>
      <p:font typeface="Cambria Math" panose="02040503050406030204" pitchFamily="18" charset="0"/>
      <p:regular r:id="rId57"/>
    </p:embeddedFont>
    <p:embeddedFont>
      <p:font typeface="Fira Sans Condensed Light" panose="020B0403050000020004" pitchFamily="34" charset="0"/>
      <p:regular r:id="rId58"/>
      <p:bold r:id="rId59"/>
      <p:italic r:id="rId60"/>
      <p:boldItalic r:id="rId61"/>
    </p:embeddedFont>
    <p:embeddedFont>
      <p:font typeface="Lato" panose="020F0502020204030203" pitchFamily="34" charset="0"/>
      <p:regular r:id="rId62"/>
      <p:bold r:id="rId63"/>
      <p:italic r:id="rId64"/>
      <p:boldItalic r:id="rId65"/>
    </p:embeddedFont>
    <p:embeddedFont>
      <p:font typeface="Lato Medium" panose="020F0502020204030203" pitchFamily="34" charset="0"/>
      <p:regular r:id="rId66"/>
      <p:italic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AA2EA3-81FF-253D-96E4-2824FC35A795}" name="Alblas, Dieuwertje (UT)" initials="DA" userId="S::d.alblas@utwente.nl::b610343e-16d8-42d7-88f4-7d8dfa920152" providerId="AD"/>
  <p188:author id="{07146EB9-EA4E-4327-2B17-1171E1368872}" name="Bouke Hoekstra" initials="BH" userId="S::O305352@zaam.nl::121471f6-d5d9-4dd4-8943-da795c38bd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E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71434-9945-405C-8B25-25B45678A72B}" v="20" dt="2026-03-24T09:32:00.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042" autoAdjust="0"/>
  </p:normalViewPr>
  <p:slideViewPr>
    <p:cSldViewPr snapToGrid="0">
      <p:cViewPr varScale="1">
        <p:scale>
          <a:sx n="81" d="100"/>
          <a:sy n="81" d="100"/>
        </p:scale>
        <p:origin x="86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microsoft.com/office/2018/10/relationships/authors" Target="author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s Starreveld" userId="83671dc5-a0c0-4ea3-bc9f-e1d256743322" providerId="ADAL" clId="{E9E391DF-714A-487F-B868-D98A8F725643}"/>
    <pc:docChg chg="undo custSel addSld delSld modSld">
      <pc:chgData name="Nicos Starreveld" userId="83671dc5-a0c0-4ea3-bc9f-e1d256743322" providerId="ADAL" clId="{E9E391DF-714A-487F-B868-D98A8F725643}" dt="2026-03-24T09:32:00.435" v="21" actId="1076"/>
      <pc:docMkLst>
        <pc:docMk/>
      </pc:docMkLst>
      <pc:sldChg chg="modSp">
        <pc:chgData name="Nicos Starreveld" userId="83671dc5-a0c0-4ea3-bc9f-e1d256743322" providerId="ADAL" clId="{E9E391DF-714A-487F-B868-D98A8F725643}" dt="2026-03-02T21:25:00.531" v="18" actId="20577"/>
        <pc:sldMkLst>
          <pc:docMk/>
          <pc:sldMk cId="0" sldId="256"/>
        </pc:sldMkLst>
        <pc:spChg chg="mod">
          <ac:chgData name="Nicos Starreveld" userId="83671dc5-a0c0-4ea3-bc9f-e1d256743322" providerId="ADAL" clId="{E9E391DF-714A-487F-B868-D98A8F725643}" dt="2026-03-02T21:25:00.531" v="18" actId="20577"/>
          <ac:spMkLst>
            <pc:docMk/>
            <pc:sldMk cId="0" sldId="256"/>
            <ac:spMk id="55" creationId="{00000000-0000-0000-0000-000000000000}"/>
          </ac:spMkLst>
        </pc:spChg>
      </pc:sldChg>
      <pc:sldChg chg="modSp">
        <pc:chgData name="Nicos Starreveld" userId="83671dc5-a0c0-4ea3-bc9f-e1d256743322" providerId="ADAL" clId="{E9E391DF-714A-487F-B868-D98A8F725643}" dt="2026-03-24T09:32:00.435" v="21" actId="1076"/>
        <pc:sldMkLst>
          <pc:docMk/>
          <pc:sldMk cId="555272709" sldId="276"/>
        </pc:sldMkLst>
        <pc:picChg chg="mod">
          <ac:chgData name="Nicos Starreveld" userId="83671dc5-a0c0-4ea3-bc9f-e1d256743322" providerId="ADAL" clId="{E9E391DF-714A-487F-B868-D98A8F725643}" dt="2026-03-24T09:32:00.435" v="21" actId="1076"/>
          <ac:picMkLst>
            <pc:docMk/>
            <pc:sldMk cId="555272709" sldId="276"/>
            <ac:picMk id="2050" creationId="{B8DEEA90-9C42-B7C0-0F87-1FF677B3A814}"/>
          </ac:picMkLst>
        </pc:picChg>
      </pc:sldChg>
      <pc:sldChg chg="add del">
        <pc:chgData name="Nicos Starreveld" userId="83671dc5-a0c0-4ea3-bc9f-e1d256743322" providerId="ADAL" clId="{E9E391DF-714A-487F-B868-D98A8F725643}" dt="2026-03-02T21:25:08.104" v="20" actId="47"/>
        <pc:sldMkLst>
          <pc:docMk/>
          <pc:sldMk cId="3950857737" sldId="629"/>
        </pc:sldMkLst>
      </pc:sldChg>
    </pc:docChg>
  </pc:docChgLst>
</pc:chgInfo>
</file>

<file path=ppt/comments/modernComment_11F_41C9970D.xml><?xml version="1.0" encoding="utf-8"?>
<p188:cmLst xmlns:a="http://schemas.openxmlformats.org/drawingml/2006/main" xmlns:r="http://schemas.openxmlformats.org/officeDocument/2006/relationships" xmlns:p188="http://schemas.microsoft.com/office/powerpoint/2018/8/main">
  <p188:cm id="{38E74729-AE26-4E69-88CE-566D72D02B2D}" authorId="{21AA2EA3-81FF-253D-96E4-2824FC35A795}" created="2025-03-04T12:22:31.193">
    <ac:txMkLst xmlns:ac="http://schemas.microsoft.com/office/drawing/2013/main/command">
      <pc:docMk xmlns:pc="http://schemas.microsoft.com/office/powerpoint/2013/main/command"/>
      <pc:sldMk xmlns:pc="http://schemas.microsoft.com/office/powerpoint/2013/main/command" cId="1103730445" sldId="287"/>
      <ac:spMk id="3" creationId="{CF132CC4-8F4C-83C7-CBE9-DF162193A08D}"/>
      <ac:txMk cp="0">
        <ac:context len="126" hash="1386029814"/>
      </ac:txMk>
    </ac:txMkLst>
    <p188:pos x="3719280" y="264845"/>
    <p188:txBody>
      <a:bodyPr/>
      <a:lstStyle/>
      <a:p>
        <a:r>
          <a:rPr lang="nl-NL"/>
          <a:t>Misschien hier patronen zeggen? Omdat je dat op de vorige slides ook patronen hebt genoemd?</a:t>
        </a:r>
      </a:p>
    </p188:txBody>
  </p188:cm>
</p188:cmLst>
</file>

<file path=ppt/comments/modernComment_12D_E397E111.xml><?xml version="1.0" encoding="utf-8"?>
<p188:cmLst xmlns:a="http://schemas.openxmlformats.org/drawingml/2006/main" xmlns:r="http://schemas.openxmlformats.org/officeDocument/2006/relationships" xmlns:p188="http://schemas.microsoft.com/office/powerpoint/2018/8/main">
  <p188:cm id="{7EDD219C-5FF4-4571-81FB-6E6FFE630A7A}" authorId="{21AA2EA3-81FF-253D-96E4-2824FC35A795}" created="2025-03-04T12:29:09.153">
    <pc:sldMkLst xmlns:pc="http://schemas.microsoft.com/office/powerpoint/2013/main/command">
      <pc:docMk/>
      <pc:sldMk cId="3818381585" sldId="301"/>
    </pc:sldMkLst>
    <p188:replyLst/>
    <p188:txBody>
      <a:bodyPr/>
      <a:lstStyle/>
      <a:p>
        <a:r>
          <a:rPr lang="nl-NL"/>
          <a:t>Dit zou ik niet zeggen bij overfitting, heeft eerder te maken met adverserial attacks of onzekerheidskwantificatie</a:t>
        </a:r>
      </a:p>
    </p188:txBody>
  </p188:cm>
</p188:cmLst>
</file>

<file path=ppt/comments/modernComment_27A_1175085.xml><?xml version="1.0" encoding="utf-8"?>
<p188:cmLst xmlns:a="http://schemas.openxmlformats.org/drawingml/2006/main" xmlns:r="http://schemas.openxmlformats.org/officeDocument/2006/relationships" xmlns:p188="http://schemas.microsoft.com/office/powerpoint/2018/8/main">
  <p188:cm id="{3DF7DDEC-54E2-471D-83A2-8225637D46C1}" authorId="{21AA2EA3-81FF-253D-96E4-2824FC35A795}" created="2025-03-04T12:25:25.203">
    <ac:deMkLst xmlns:ac="http://schemas.microsoft.com/office/drawing/2013/main/command">
      <pc:docMk xmlns:pc="http://schemas.microsoft.com/office/powerpoint/2013/main/command"/>
      <pc:sldMk xmlns:pc="http://schemas.microsoft.com/office/powerpoint/2013/main/command" cId="18305157" sldId="634"/>
      <ac:picMk id="5" creationId="{E0CAD02B-BC68-FBD1-1657-4224902D4C1D}"/>
    </ac:deMkLst>
    <p188:txBody>
      <a:bodyPr/>
      <a:lstStyle/>
      <a:p>
        <a:r>
          <a:rPr lang="nl-NL"/>
          <a:t>Deze kan misschien nuttig zijn om gradient descent nog wat verder uit te diepen. Omdat de lossfunctie niet convex is, kom je altijd in een lokaal minimum van de weight space</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5D2189DF-F62A-403A-8C2C-2AE7657AE277}" authorId="{21AA2EA3-81FF-253D-96E4-2824FC35A795}" status="resolved" created="2025-03-04T12:20:24.334" complete="100000">
    <pc:sldMkLst xmlns:pc="http://schemas.microsoft.com/office/powerpoint/2013/main/command">
      <pc:docMk/>
      <pc:sldMk cId="0" sldId="274"/>
    </pc:sldMkLst>
    <p188:txBody>
      <a:bodyPr/>
      <a:lstStyle/>
      <a:p>
        <a:r>
          <a:rPr lang="nl-NL"/>
          <a:t>Toegevoegd dat het interdisciplinair is. Evt nog toevoegen dat het een nieuw mastervak is wat we aanbieden</a:t>
        </a:r>
      </a:p>
    </p188:txBody>
  </p188:cm>
</p188:cmLst>
</file>

<file path=ppt/comments/modernComment_278_748F9603.xml><?xml version="1.0" encoding="utf-8"?>
<p188:cmLst xmlns:a="http://schemas.openxmlformats.org/drawingml/2006/main" xmlns:r="http://schemas.openxmlformats.org/officeDocument/2006/relationships" xmlns:p188="http://schemas.microsoft.com/office/powerpoint/2018/8/main">
  <p188:cm id="{C1B23F82-3C5A-4FAF-B342-C11AD99E1DF8}" authorId="{21AA2EA3-81FF-253D-96E4-2824FC35A795}" created="2025-03-04T12:23:13.583">
    <ac:txMkLst xmlns:ac="http://schemas.microsoft.com/office/drawing/2013/main/command">
      <pc:docMk xmlns:pc="http://schemas.microsoft.com/office/powerpoint/2013/main/command"/>
      <pc:sldMk xmlns:pc="http://schemas.microsoft.com/office/powerpoint/2013/main/command" cId="1955567107" sldId="632"/>
      <ac:spMk id="3" creationId="{7E5C9522-72E6-946F-49E3-9D0CCD961E16}"/>
      <ac:txMk cp="0">
        <ac:context len="67" hash="489286880"/>
      </ac:txMk>
    </ac:txMkLst>
    <p188:pos x="1890480" y="1522145"/>
    <p188:txBody>
      <a:bodyPr/>
      <a:lstStyle/>
      <a:p>
        <a:r>
          <a:rPr lang="nl-NL"/>
          <a:t>X wordt veel gebruikt voor de input. Je kunt ook \hat{y} doen hier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1439850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1758847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346B-F700-0F2E-91D0-34F3C1BCF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3F6B0-6CBE-0F6F-AACF-0307126BC36A}"/>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650C9FA5-97B2-4AD2-EFE0-5E496EF90CA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057FA799-4B8B-6955-0777-8F738F7EEAB0}"/>
              </a:ext>
            </a:extLst>
          </p:cNvPr>
          <p:cNvSpPr>
            <a:spLocks noGrp="1"/>
          </p:cNvSpPr>
          <p:nvPr>
            <p:ph type="sldNum" sz="quarter" idx="5"/>
          </p:nvPr>
        </p:nvSpPr>
        <p:spPr/>
        <p:txBody>
          <a:bodyPr/>
          <a:lstStyle/>
          <a:p>
            <a:fld id="{871B2431-D351-4C6E-A3CF-9DFAC0E3E050}" type="slidenum">
              <a:rPr lang="cs-CZ" smtClean="0"/>
              <a:t>5</a:t>
            </a:fld>
            <a:endParaRPr lang="cs-CZ"/>
          </a:p>
        </p:txBody>
      </p:sp>
    </p:spTree>
    <p:extLst>
      <p:ext uri="{BB962C8B-B14F-4D97-AF65-F5344CB8AC3E}">
        <p14:creationId xmlns:p14="http://schemas.microsoft.com/office/powerpoint/2010/main" val="370831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346B-F700-0F2E-91D0-34F3C1BCF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3F6B0-6CBE-0F6F-AACF-0307126BC36A}"/>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650C9FA5-97B2-4AD2-EFE0-5E496EF90CA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057FA799-4B8B-6955-0777-8F738F7EEAB0}"/>
              </a:ext>
            </a:extLst>
          </p:cNvPr>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2873715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871B2431-D351-4C6E-A3CF-9DFAC0E3E050}" type="slidenum">
              <a:rPr lang="cs-CZ" smtClean="0"/>
              <a:t>7</a:t>
            </a:fld>
            <a:endParaRPr lang="cs-CZ"/>
          </a:p>
        </p:txBody>
      </p:sp>
    </p:spTree>
    <p:extLst>
      <p:ext uri="{BB962C8B-B14F-4D97-AF65-F5344CB8AC3E}">
        <p14:creationId xmlns:p14="http://schemas.microsoft.com/office/powerpoint/2010/main" val="2952144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8E8FCCC-9BD7-DA4A-E536-562260BE3DA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7BB908F9-8BE0-5614-3B79-FEC05CB10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47B0244-EDCB-A870-7983-42D99D85C0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22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dba45512e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dba45512e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daf694814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daf69481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daf694814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daf694814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err="1"/>
              <a:t>Duidelijker</a:t>
            </a:r>
            <a:r>
              <a:rPr lang="en-GB" dirty="0"/>
              <a:t> </a:t>
            </a:r>
            <a:r>
              <a:rPr lang="en-GB" dirty="0" err="1"/>
              <a:t>maken</a:t>
            </a:r>
            <a:r>
              <a:rPr lang="en-GB" dirty="0"/>
              <a:t>: </a:t>
            </a:r>
            <a:r>
              <a:rPr lang="en-GB" dirty="0" err="1"/>
              <a:t>paradigma</a:t>
            </a:r>
            <a:r>
              <a:rPr lang="en-GB" dirty="0"/>
              <a:t> 1: Supervised Learning. (</a:t>
            </a:r>
            <a:r>
              <a:rPr lang="en-GB" dirty="0" err="1"/>
              <a:t>Titel</a:t>
            </a:r>
            <a:r>
              <a:rPr lang="en-GB" dirty="0"/>
              <a:t> </a:t>
            </a:r>
            <a:r>
              <a:rPr lang="en-GB" dirty="0" err="1"/>
              <a:t>veranderen</a:t>
            </a:r>
            <a:r>
              <a:rPr lang="en-GB" dirty="0"/>
              <a:t>, </a:t>
            </a:r>
            <a:r>
              <a:rPr lang="en-GB" dirty="0" err="1"/>
              <a:t>opmaak</a:t>
            </a:r>
            <a:r>
              <a:rPr lang="en-GB" dirty="0"/>
              <a: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dba45512e0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dba45512e0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ba45512e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dba45512e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db0d5c83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db0d5c83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4708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599877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nl-NL" dirty="0"/>
          </a:p>
        </p:txBody>
      </p:sp>
    </p:spTree>
    <p:extLst>
      <p:ext uri="{BB962C8B-B14F-4D97-AF65-F5344CB8AC3E}">
        <p14:creationId xmlns:p14="http://schemas.microsoft.com/office/powerpoint/2010/main" val="181183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16664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nl-NL" dirty="0"/>
          </a:p>
        </p:txBody>
      </p:sp>
    </p:spTree>
    <p:extLst>
      <p:ext uri="{BB962C8B-B14F-4D97-AF65-F5344CB8AC3E}">
        <p14:creationId xmlns:p14="http://schemas.microsoft.com/office/powerpoint/2010/main" val="4363053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8871-0551-36F4-97BC-A56C1B48B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C49D0-9C5E-C8B1-F8D1-398E92223C12}"/>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73893EEC-AAEB-A06F-6033-89C9C1E4BE59}"/>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71C7CABB-56D3-C597-299C-E107E7E255F2}"/>
              </a:ext>
            </a:extLst>
          </p:cNvPr>
          <p:cNvSpPr>
            <a:spLocks noGrp="1"/>
          </p:cNvSpPr>
          <p:nvPr>
            <p:ph type="sldNum" sz="quarter" idx="5"/>
          </p:nvPr>
        </p:nvSpPr>
        <p:spPr/>
        <p:txBody>
          <a:bodyPr/>
          <a:lstStyle/>
          <a:p>
            <a:fld id="{871B2431-D351-4C6E-A3CF-9DFAC0E3E050}" type="slidenum">
              <a:rPr lang="cs-CZ" smtClean="0"/>
              <a:t>48</a:t>
            </a:fld>
            <a:endParaRPr lang="cs-CZ"/>
          </a:p>
        </p:txBody>
      </p:sp>
    </p:spTree>
    <p:extLst>
      <p:ext uri="{BB962C8B-B14F-4D97-AF65-F5344CB8AC3E}">
        <p14:creationId xmlns:p14="http://schemas.microsoft.com/office/powerpoint/2010/main" val="4268623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41327-CD08-05D1-4C25-979FC2B71888}"/>
              </a:ext>
            </a:extLst>
          </p:cNvPr>
          <p:cNvSpPr>
            <a:spLocks noGrp="1"/>
          </p:cNvSpPr>
          <p:nvPr>
            <p:ph type="ctrTitle"/>
          </p:nvPr>
        </p:nvSpPr>
        <p:spPr>
          <a:xfrm>
            <a:off x="1143000" y="841772"/>
            <a:ext cx="6858000" cy="1790700"/>
          </a:xfrm>
        </p:spPr>
        <p:txBody>
          <a:bodyPr anchor="b"/>
          <a:lstStyle>
            <a:lvl1pPr algn="ctr">
              <a:defRPr sz="4500">
                <a:solidFill>
                  <a:schemeClr val="tx1">
                    <a:lumMod val="75000"/>
                    <a:lumOff val="25000"/>
                  </a:schemeClr>
                </a:solidFill>
              </a:defRPr>
            </a:lvl1pPr>
          </a:lstStyle>
          <a:p>
            <a:r>
              <a:rPr lang="en-US" dirty="0"/>
              <a:t>Click to edit Master title style</a:t>
            </a:r>
          </a:p>
        </p:txBody>
      </p:sp>
      <p:sp>
        <p:nvSpPr>
          <p:cNvPr id="3" name="Subtitle 2">
            <a:extLst>
              <a:ext uri="{FF2B5EF4-FFF2-40B4-BE49-F238E27FC236}">
                <a16:creationId xmlns:a16="http://schemas.microsoft.com/office/drawing/2014/main" id="{0591B084-78F5-CA62-84D8-32A377677E36}"/>
              </a:ext>
            </a:extLst>
          </p:cNvPr>
          <p:cNvSpPr>
            <a:spLocks noGrp="1"/>
          </p:cNvSpPr>
          <p:nvPr>
            <p:ph type="subTitle" idx="1"/>
          </p:nvPr>
        </p:nvSpPr>
        <p:spPr>
          <a:xfrm>
            <a:off x="1143000" y="2701528"/>
            <a:ext cx="6858000" cy="1241822"/>
          </a:xfrm>
        </p:spPr>
        <p:txBody>
          <a:bodyPr/>
          <a:lstStyle>
            <a:lvl1pPr marL="0" indent="0" algn="ctr">
              <a:buNone/>
              <a:defRPr sz="18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0376491B-E652-7B69-CC0E-32A00E323BD5}"/>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92EFF8C6-2E0C-FED6-905B-19A9907655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B945D6A-5ECF-318C-D320-3D7AF1F7D1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1886176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B2FC-F64A-B721-E62C-0A23E1D12B7F}"/>
              </a:ext>
            </a:extLst>
          </p:cNvPr>
          <p:cNvSpPr>
            <a:spLocks noGrp="1"/>
          </p:cNvSpPr>
          <p:nvPr>
            <p:ph type="title"/>
          </p:nvPr>
        </p:nvSpPr>
        <p:spPr/>
        <p:txBody>
          <a:bodyPr/>
          <a:lstStyle>
            <a:lvl1pPr>
              <a:defRPr>
                <a:solidFill>
                  <a:schemeClr val="tx1">
                    <a:lumMod val="75000"/>
                    <a:lumOff val="2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DD6F98A-CF26-1572-0A5E-886CB766A7D3}"/>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27ADC4-6EE0-8F81-4A60-2814FF4C97D5}"/>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FC7F9DAB-45FF-2453-D7C9-EEC876A0B9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AE9752-8028-B42D-9828-01BBC848666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21452152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22D6-3CED-D2D4-EE08-F809CD28E838}"/>
              </a:ext>
            </a:extLst>
          </p:cNvPr>
          <p:cNvSpPr>
            <a:spLocks noGrp="1"/>
          </p:cNvSpPr>
          <p:nvPr>
            <p:ph type="title"/>
          </p:nvPr>
        </p:nvSpPr>
        <p:spPr>
          <a:xfrm>
            <a:off x="623888" y="1282304"/>
            <a:ext cx="7886700" cy="2139553"/>
          </a:xfrm>
        </p:spPr>
        <p:txBody>
          <a:bodyPr anchor="b"/>
          <a:lstStyle>
            <a:lvl1pPr>
              <a:defRPr sz="4500">
                <a:solidFill>
                  <a:schemeClr val="tx1">
                    <a:lumMod val="75000"/>
                    <a:lumOff val="25000"/>
                  </a:schemeClr>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C23B23F5-76BE-DFA4-5152-B9E0DAFEC56E}"/>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623199-E418-4F2E-2895-F3223E742CD0}"/>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15D83E5F-71FC-8DD5-1340-6C2A292EE7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F85183-2410-E20B-CA4D-4522A357AA5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14001001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6B4F-ED6B-BE02-18A6-8BBE68AE432B}"/>
              </a:ext>
            </a:extLst>
          </p:cNvPr>
          <p:cNvSpPr>
            <a:spLocks noGrp="1"/>
          </p:cNvSpPr>
          <p:nvPr>
            <p:ph type="title"/>
          </p:nvPr>
        </p:nvSpPr>
        <p:spPr/>
        <p:txBody>
          <a:bodyPr/>
          <a:lstStyle>
            <a:lvl1pPr>
              <a:defRPr>
                <a:solidFill>
                  <a:schemeClr val="tx1">
                    <a:lumMod val="75000"/>
                    <a:lumOff val="2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71EC60C-6D93-D027-6A62-1D55E9A6A74C}"/>
              </a:ext>
            </a:extLst>
          </p:cNvPr>
          <p:cNvSpPr>
            <a:spLocks noGrp="1"/>
          </p:cNvSpPr>
          <p:nvPr>
            <p:ph sz="half" idx="1"/>
          </p:nvPr>
        </p:nvSpPr>
        <p:spPr>
          <a:xfrm>
            <a:off x="628650" y="1369219"/>
            <a:ext cx="3886200" cy="326350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0B52E74-D1B4-9B95-E2CD-29E9248EC89C}"/>
              </a:ext>
            </a:extLst>
          </p:cNvPr>
          <p:cNvSpPr>
            <a:spLocks noGrp="1"/>
          </p:cNvSpPr>
          <p:nvPr>
            <p:ph sz="half" idx="2"/>
          </p:nvPr>
        </p:nvSpPr>
        <p:spPr>
          <a:xfrm>
            <a:off x="4629150" y="1369219"/>
            <a:ext cx="3886200" cy="326350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5F8C8D9F-28E4-6B1D-5F16-96B76F9F78C9}"/>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6" name="Footer Placeholder 5">
            <a:extLst>
              <a:ext uri="{FF2B5EF4-FFF2-40B4-BE49-F238E27FC236}">
                <a16:creationId xmlns:a16="http://schemas.microsoft.com/office/drawing/2014/main" id="{1C6F02FF-797A-0F34-556A-2AEDC31AAC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0A528DE-7F8A-4196-FBC3-CE174CE3BA0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15188221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BB2B-0E46-0254-201B-CFCAC75F5189}"/>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ACD496-825B-4F92-C05D-FB251058FF6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B876B0-34A6-B6CE-A724-4C504C6CB3D0}"/>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68CBF1-8A70-A2D5-18D2-76A9D614CC1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5D2074A-106D-83A8-86A8-1866199CA90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4A36E9-016F-635C-4FEB-40D3BC6DEACF}"/>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8" name="Footer Placeholder 7">
            <a:extLst>
              <a:ext uri="{FF2B5EF4-FFF2-40B4-BE49-F238E27FC236}">
                <a16:creationId xmlns:a16="http://schemas.microsoft.com/office/drawing/2014/main" id="{14083C51-FA8D-AE2D-1612-54B65BE7BD2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360BF8C-143E-6AC8-AFC0-A931644A66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39689685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A292D-9933-5BCD-FC8B-BAFA0F640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E9E63B-AECC-0221-91A8-E8ED2C2770C4}"/>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4" name="Footer Placeholder 3">
            <a:extLst>
              <a:ext uri="{FF2B5EF4-FFF2-40B4-BE49-F238E27FC236}">
                <a16:creationId xmlns:a16="http://schemas.microsoft.com/office/drawing/2014/main" id="{AAF774EB-180E-8637-CDDF-A08F9CE89F4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96FDB10-7055-53A2-A6D0-ECC26CEB5F6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22157812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20F43-3E1D-5AB3-E2CD-7C239A0E4FED}"/>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3" name="Footer Placeholder 2">
            <a:extLst>
              <a:ext uri="{FF2B5EF4-FFF2-40B4-BE49-F238E27FC236}">
                <a16:creationId xmlns:a16="http://schemas.microsoft.com/office/drawing/2014/main" id="{40304AE4-1A85-0E25-81BA-C49E0531A2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ACAB96A-5F7D-92AE-A327-DA2C55EC46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292713040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7837-FB39-83B6-4980-C23A6E99FE7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79326EF-BE7C-77B6-E221-451CC15F2C1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263D48-C6F7-565B-066F-890FF7992F1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D10539A-4759-4032-5581-6977F55B4E3A}"/>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6" name="Footer Placeholder 5">
            <a:extLst>
              <a:ext uri="{FF2B5EF4-FFF2-40B4-BE49-F238E27FC236}">
                <a16:creationId xmlns:a16="http://schemas.microsoft.com/office/drawing/2014/main" id="{30B56263-4F15-B236-A406-FFD07BC158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99A6B36-FFC0-BCCB-9D11-2FA2852671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2060368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A9BDB-2D59-DE4B-6181-2451EBE7DBC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C4E4897-505F-B1CD-B427-0E6B51DD640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55FDB6C-BF20-60D7-779D-3866A226B79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921BD33-5AD6-729F-763D-67985B2E9382}"/>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6" name="Footer Placeholder 5">
            <a:extLst>
              <a:ext uri="{FF2B5EF4-FFF2-40B4-BE49-F238E27FC236}">
                <a16:creationId xmlns:a16="http://schemas.microsoft.com/office/drawing/2014/main" id="{BC00A84B-54DC-2696-9616-160746C15A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AF1F7A1-876E-55BF-CDC1-1B4AE05B41C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6122886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E071-3113-EDC7-C8BF-F6C8C101AD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DE78C4-44DF-0A21-76DA-AF42657CF4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72C15-5EF3-B220-A542-8C04C0BF4D16}"/>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A5C09E6F-3A3E-8E04-CDEF-A7DF64F6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C95A61C-143E-1BB3-1B81-79D14FC550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6743712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B3F02A-90EF-A102-70E9-66EBCAC5C79D}"/>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D43D7F-DAB1-6D70-AE27-B6F34EA33CDC}"/>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C3B63-271E-7197-ADBD-C6F025086C80}"/>
              </a:ext>
            </a:extLst>
          </p:cNvPr>
          <p:cNvSpPr>
            <a:spLocks noGrp="1"/>
          </p:cNvSpPr>
          <p:nvPr>
            <p:ph type="dt" sz="half" idx="10"/>
          </p:nvPr>
        </p:nvSpPr>
        <p:spPr/>
        <p:txBody>
          <a:body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FFCA6272-5B89-07C0-9DE1-48E41765ED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B1D8BD6-2D2C-AC0D-6C2A-84E7ACEF51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12418794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extLst>
      <p:ext uri="{BB962C8B-B14F-4D97-AF65-F5344CB8AC3E}">
        <p14:creationId xmlns:p14="http://schemas.microsoft.com/office/powerpoint/2010/main" val="1288407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dirty="0"/>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extLst>
      <p:ext uri="{BB962C8B-B14F-4D97-AF65-F5344CB8AC3E}">
        <p14:creationId xmlns:p14="http://schemas.microsoft.com/office/powerpoint/2010/main" val="1982164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extLst>
      <p:ext uri="{BB962C8B-B14F-4D97-AF65-F5344CB8AC3E}">
        <p14:creationId xmlns:p14="http://schemas.microsoft.com/office/powerpoint/2010/main" val="4219352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Heading or Chapter dark-grey picture right">
    <p:bg>
      <p:bgPr>
        <a:solidFill>
          <a:srgbClr val="1E2328"/>
        </a:solidFill>
        <a:effectLst/>
      </p:bgPr>
    </p:bg>
    <p:spTree>
      <p:nvGrpSpPr>
        <p:cNvPr id="1" name=""/>
        <p:cNvGrpSpPr/>
        <p:nvPr/>
      </p:nvGrpSpPr>
      <p:grpSpPr>
        <a:xfrm>
          <a:off x="0" y="0"/>
          <a:ext cx="0" cy="0"/>
          <a:chOff x="0" y="0"/>
          <a:chExt cx="0" cy="0"/>
        </a:xfrm>
      </p:grpSpPr>
      <p:sp>
        <p:nvSpPr>
          <p:cNvPr id="12" name="Picture Placeholder 7">
            <a:extLst>
              <a:ext uri="{FF2B5EF4-FFF2-40B4-BE49-F238E27FC236}">
                <a16:creationId xmlns:a16="http://schemas.microsoft.com/office/drawing/2014/main" id="{1782213A-5203-4F9B-A874-7C6B03F26055}"/>
              </a:ext>
            </a:extLst>
          </p:cNvPr>
          <p:cNvSpPr>
            <a:spLocks noGrp="1"/>
          </p:cNvSpPr>
          <p:nvPr>
            <p:ph type="pic" sz="quarter" idx="19"/>
          </p:nvPr>
        </p:nvSpPr>
        <p:spPr>
          <a:xfrm>
            <a:off x="4783500" y="0"/>
            <a:ext cx="4360500" cy="5143500"/>
          </a:xfrm>
          <a:noFill/>
        </p:spPr>
        <p:txBody>
          <a:bodyPr tIns="72000"/>
          <a:lstStyle>
            <a:lvl1pPr marL="0" indent="0" algn="ctr">
              <a:buNone/>
              <a:defRPr>
                <a:solidFill>
                  <a:schemeClr val="tx2"/>
                </a:solidFill>
              </a:defRPr>
            </a:lvl1pPr>
          </a:lstStyle>
          <a:p>
            <a:endParaRPr lang="en-US" dirty="0"/>
          </a:p>
        </p:txBody>
      </p:sp>
      <p:sp>
        <p:nvSpPr>
          <p:cNvPr id="4" name="Date Placeholder 3">
            <a:extLst>
              <a:ext uri="{FF2B5EF4-FFF2-40B4-BE49-F238E27FC236}">
                <a16:creationId xmlns:a16="http://schemas.microsoft.com/office/drawing/2014/main" id="{67A40098-905F-4E29-B84C-4EE5C5FA6245}"/>
              </a:ext>
            </a:extLst>
          </p:cNvPr>
          <p:cNvSpPr>
            <a:spLocks noGrp="1"/>
          </p:cNvSpPr>
          <p:nvPr>
            <p:ph type="dt" sz="half" idx="10"/>
          </p:nvPr>
        </p:nvSpPr>
        <p:spPr/>
        <p:txBody>
          <a:bodyPr/>
          <a:lstStyle/>
          <a:p>
            <a:fld id="{E16DB134-A740-47D9-9359-CFD0405A8817}" type="datetimeFigureOut">
              <a:rPr lang="en-US" smtClean="0"/>
              <a:t>3/24/2026</a:t>
            </a:fld>
            <a:endParaRPr lang="en-US" dirty="0"/>
          </a:p>
        </p:txBody>
      </p:sp>
      <p:sp>
        <p:nvSpPr>
          <p:cNvPr id="5" name="Footer Placeholder 4">
            <a:extLst>
              <a:ext uri="{FF2B5EF4-FFF2-40B4-BE49-F238E27FC236}">
                <a16:creationId xmlns:a16="http://schemas.microsoft.com/office/drawing/2014/main" id="{253856D2-F2C7-4A79-9527-2A90E51FEE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A7D2DA5-11C3-4269-915A-7510F28927F8}"/>
              </a:ext>
            </a:extLst>
          </p:cNvPr>
          <p:cNvSpPr>
            <a:spLocks noGrp="1"/>
          </p:cNvSpPr>
          <p:nvPr>
            <p:ph type="sldNum" sz="quarter" idx="12"/>
          </p:nvPr>
        </p:nvSpPr>
        <p:spPr>
          <a:xfrm>
            <a:off x="571909" y="5265000"/>
            <a:ext cx="383382" cy="135000"/>
          </a:xfrm>
        </p:spPr>
        <p:txBody>
          <a:bodyPr/>
          <a:lstStyle>
            <a:lvl1pPr algn="r">
              <a:defRPr>
                <a:solidFill>
                  <a:srgbClr val="F0F0F0"/>
                </a:solidFill>
              </a:defRPr>
            </a:lvl1pPr>
          </a:lstStyle>
          <a:p>
            <a:fld id="{F9FB0CC8-2783-4C0F-826D-494942753165}" type="slidenum">
              <a:rPr lang="en-US" smtClean="0"/>
              <a:pPr/>
              <a:t>‹#›</a:t>
            </a:fld>
            <a:endParaRPr lang="en-US" dirty="0"/>
          </a:p>
        </p:txBody>
      </p:sp>
      <p:sp>
        <p:nvSpPr>
          <p:cNvPr id="16" name="Text Placeholder 15">
            <a:extLst>
              <a:ext uri="{FF2B5EF4-FFF2-40B4-BE49-F238E27FC236}">
                <a16:creationId xmlns:a16="http://schemas.microsoft.com/office/drawing/2014/main" id="{481E1DEF-2B94-4C73-8D26-52C70E65D675}"/>
              </a:ext>
            </a:extLst>
          </p:cNvPr>
          <p:cNvSpPr>
            <a:spLocks noGrp="1"/>
          </p:cNvSpPr>
          <p:nvPr>
            <p:ph type="body" sz="quarter" idx="15" hasCustomPrompt="1"/>
          </p:nvPr>
        </p:nvSpPr>
        <p:spPr>
          <a:xfrm>
            <a:off x="8206774" y="4631979"/>
            <a:ext cx="653728" cy="2295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100"/>
            </a:lvl1pPr>
          </a:lstStyle>
          <a:p>
            <a:pPr lvl="0"/>
            <a:r>
              <a:rPr lang="en-US"/>
              <a:t>.</a:t>
            </a:r>
            <a:endParaRPr lang="en-US" dirty="0"/>
          </a:p>
        </p:txBody>
      </p:sp>
      <p:sp>
        <p:nvSpPr>
          <p:cNvPr id="13" name="Subtitle 2">
            <a:extLst>
              <a:ext uri="{FF2B5EF4-FFF2-40B4-BE49-F238E27FC236}">
                <a16:creationId xmlns:a16="http://schemas.microsoft.com/office/drawing/2014/main" id="{9647F2CA-4D89-4F30-8416-98E600605660}"/>
              </a:ext>
            </a:extLst>
          </p:cNvPr>
          <p:cNvSpPr>
            <a:spLocks noGrp="1"/>
          </p:cNvSpPr>
          <p:nvPr>
            <p:ph type="subTitle" idx="1" hasCustomPrompt="1"/>
          </p:nvPr>
        </p:nvSpPr>
        <p:spPr>
          <a:xfrm>
            <a:off x="934201" y="2319112"/>
            <a:ext cx="3658500" cy="1136082"/>
          </a:xfrm>
        </p:spPr>
        <p:txBody>
          <a:bodyPr/>
          <a:lstStyle>
            <a:lvl1pPr marL="0" indent="0" algn="l">
              <a:buNone/>
              <a:defRPr sz="1650" b="1" cap="all" baseline="0">
                <a:solidFill>
                  <a:schemeClr val="accent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1" name="Title 1">
            <a:extLst>
              <a:ext uri="{FF2B5EF4-FFF2-40B4-BE49-F238E27FC236}">
                <a16:creationId xmlns:a16="http://schemas.microsoft.com/office/drawing/2014/main" id="{5EA9EAC9-CBFD-4B5C-8FE6-28D45CE9FAD8}"/>
              </a:ext>
            </a:extLst>
          </p:cNvPr>
          <p:cNvSpPr>
            <a:spLocks noGrp="1"/>
          </p:cNvSpPr>
          <p:nvPr>
            <p:ph type="ctrTitle" hasCustomPrompt="1"/>
          </p:nvPr>
        </p:nvSpPr>
        <p:spPr>
          <a:xfrm>
            <a:off x="934201" y="1508084"/>
            <a:ext cx="3658500" cy="729000"/>
          </a:xfrm>
        </p:spPr>
        <p:txBody>
          <a:bodyPr anchor="b"/>
          <a:lstStyle>
            <a:lvl1pPr algn="l">
              <a:lnSpc>
                <a:spcPts val="2925"/>
              </a:lnSpc>
              <a:defRPr sz="2700" baseline="0">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9F4DE129-7BC9-481F-8B33-0063CF0D959A}"/>
              </a:ext>
            </a:extLst>
          </p:cNvPr>
          <p:cNvSpPr>
            <a:spLocks noGrp="1"/>
          </p:cNvSpPr>
          <p:nvPr>
            <p:ph type="body" sz="quarter" idx="17" hasCustomPrompt="1"/>
          </p:nvPr>
        </p:nvSpPr>
        <p:spPr>
          <a:xfrm>
            <a:off x="566738" y="1880327"/>
            <a:ext cx="367464" cy="320175"/>
          </a:xfrm>
        </p:spPr>
        <p:txBody>
          <a:bodyPr tIns="108000"/>
          <a:lstStyle>
            <a:lvl1pPr marL="0" indent="0">
              <a:lnSpc>
                <a:spcPct val="100000"/>
              </a:lnSpc>
              <a:buFontTx/>
              <a:buNone/>
              <a:defRPr sz="1575">
                <a:solidFill>
                  <a:schemeClr val="bg1"/>
                </a:solidFill>
              </a:defRPr>
            </a:lvl1pPr>
          </a:lstStyle>
          <a:p>
            <a:pPr lvl="0"/>
            <a:r>
              <a:rPr lang="en-US"/>
              <a:t>01</a:t>
            </a:r>
            <a:endParaRPr lang="en-US" dirty="0"/>
          </a:p>
        </p:txBody>
      </p:sp>
    </p:spTree>
    <p:extLst>
      <p:ext uri="{BB962C8B-B14F-4D97-AF65-F5344CB8AC3E}">
        <p14:creationId xmlns:p14="http://schemas.microsoft.com/office/powerpoint/2010/main" val="1336809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93940E-A0CE-5B2E-BBE2-24659433444C}"/>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AF20FC9-E0C1-E125-9C14-DFCC54C155E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7B28A-F8C3-29B9-D7C5-8A21B890EF4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B61BEF0D-F0BB-DE4B-95CE-6DB70DBA9567}" type="datetimeFigureOut">
              <a:rPr lang="en-US" smtClean="0"/>
              <a:pPr/>
              <a:t>3/24/2026</a:t>
            </a:fld>
            <a:endParaRPr lang="en-US" dirty="0"/>
          </a:p>
        </p:txBody>
      </p:sp>
      <p:sp>
        <p:nvSpPr>
          <p:cNvPr id="5" name="Footer Placeholder 4">
            <a:extLst>
              <a:ext uri="{FF2B5EF4-FFF2-40B4-BE49-F238E27FC236}">
                <a16:creationId xmlns:a16="http://schemas.microsoft.com/office/drawing/2014/main" id="{AD11E5AE-213F-2F55-B2B9-CD337962A895}"/>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4769354-99A6-399F-6DB1-865326D3FF1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fr-FR" smtClean="0"/>
              <a:t>‹#›</a:t>
            </a:fld>
            <a:endParaRPr lang="fr-FR"/>
          </a:p>
        </p:txBody>
      </p:sp>
    </p:spTree>
    <p:extLst>
      <p:ext uri="{BB962C8B-B14F-4D97-AF65-F5344CB8AC3E}">
        <p14:creationId xmlns:p14="http://schemas.microsoft.com/office/powerpoint/2010/main" val="83247257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Lst>
  <p:hf sldNum="0" hdr="0" ftr="0" dt="0"/>
  <p:txStyles>
    <p:titleStyle>
      <a:lvl1pPr algn="l" defTabSz="685800" rtl="0" eaLnBrk="1" latinLnBrk="0" hangingPunct="1">
        <a:lnSpc>
          <a:spcPct val="90000"/>
        </a:lnSpc>
        <a:spcBef>
          <a:spcPct val="0"/>
        </a:spcBef>
        <a:buNone/>
        <a:defRPr sz="3300" kern="1200">
          <a:solidFill>
            <a:schemeClr val="tx1">
              <a:lumMod val="75000"/>
              <a:lumOff val="25000"/>
            </a:schemeClr>
          </a:solidFill>
          <a:latin typeface="Lato Medium" panose="020F0502020204030203" pitchFamily="34" charset="0"/>
          <a:ea typeface="Lato Medium" panose="020F0502020204030203" pitchFamily="34" charset="0"/>
          <a:cs typeface="Lato Medium" panose="020F0502020204030203"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0.jpeg"/><Relationship Id="rId7"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1F_41C9970D.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40.png"/><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microsoft.com/office/2018/10/relationships/comments" Target="../comments/modernComment_278_748F9603.xml"/><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14.xml"/><Relationship Id="rId6" Type="http://schemas.openxmlformats.org/officeDocument/2006/relationships/image" Target="../media/image46.png"/><Relationship Id="rId5" Type="http://schemas.openxmlformats.org/officeDocument/2006/relationships/image" Target="../media/image40.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30.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46.gif"/><Relationship Id="rId2" Type="http://schemas.microsoft.com/office/2018/10/relationships/comments" Target="../comments/modernComment_27A_1175085.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12D_E397E111.xml"/><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57.jpeg"/><Relationship Id="rId4" Type="http://schemas.openxmlformats.org/officeDocument/2006/relationships/image" Target="../media/image56.jpe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4.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jpeg"/><Relationship Id="rId4" Type="http://schemas.openxmlformats.org/officeDocument/2006/relationships/image" Target="../media/image5.svg"/></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colab.research.google.com/github/clarastegehuis/machine_learning_medical_data_workshop/" TargetMode="Externa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p:cNvSpPr txBox="1">
            <a:spLocks noGrp="1"/>
          </p:cNvSpPr>
          <p:nvPr>
            <p:ph type="ctrTitle"/>
          </p:nvPr>
        </p:nvSpPr>
        <p:spPr>
          <a:xfrm>
            <a:off x="482601" y="482600"/>
            <a:ext cx="3465438" cy="3425353"/>
          </a:xfrm>
          <a:prstGeom prst="rect">
            <a:avLst/>
          </a:prstGeom>
        </p:spPr>
        <p:txBody>
          <a:bodyPr spcFirstLastPara="1" lIns="91425" tIns="91425" rIns="91425" bIns="91425" anchorCtr="0">
            <a:normAutofit/>
          </a:bodyPr>
          <a:lstStyle/>
          <a:p>
            <a:pPr marL="0" lvl="0" indent="0" algn="l" rtl="0">
              <a:spcBef>
                <a:spcPts val="0"/>
              </a:spcBef>
              <a:spcAft>
                <a:spcPts val="0"/>
              </a:spcAft>
              <a:buNone/>
            </a:pPr>
            <a:r>
              <a:rPr lang="en-US" sz="3300"/>
              <a:t>De wiskunde achter medische machine learning</a:t>
            </a:r>
          </a:p>
        </p:txBody>
      </p:sp>
      <p:sp>
        <p:nvSpPr>
          <p:cNvPr id="55" name="Google Shape;55;p13"/>
          <p:cNvSpPr txBox="1">
            <a:spLocks noGrp="1"/>
          </p:cNvSpPr>
          <p:nvPr>
            <p:ph type="subTitle" idx="1"/>
          </p:nvPr>
        </p:nvSpPr>
        <p:spPr>
          <a:xfrm>
            <a:off x="482600" y="3958263"/>
            <a:ext cx="3465438" cy="581620"/>
          </a:xfrm>
          <a:prstGeom prst="rect">
            <a:avLst/>
          </a:prstGeom>
        </p:spPr>
        <p:txBody>
          <a:bodyPr spcFirstLastPara="1" lIns="91425" tIns="91425" rIns="91425" bIns="91425" anchorCtr="0">
            <a:normAutofit/>
          </a:bodyPr>
          <a:lstStyle/>
          <a:p>
            <a:pPr marL="0" lvl="0" indent="0" algn="l" rtl="0">
              <a:spcBef>
                <a:spcPts val="0"/>
              </a:spcBef>
              <a:spcAft>
                <a:spcPts val="600"/>
              </a:spcAft>
              <a:buNone/>
            </a:pPr>
            <a:r>
              <a:rPr lang="en-US" sz="1700" dirty="0"/>
              <a:t>Clara </a:t>
            </a:r>
            <a:r>
              <a:rPr lang="en-US" sz="1700" dirty="0" err="1"/>
              <a:t>Stegehuis</a:t>
            </a:r>
            <a:r>
              <a:rPr lang="en-US" sz="1700" dirty="0"/>
              <a:t>, Nicos </a:t>
            </a:r>
            <a:r>
              <a:rPr lang="en-US" sz="1700" dirty="0" err="1"/>
              <a:t>Starreveld</a:t>
            </a:r>
            <a:endParaRPr lang="en-US" sz="1700" dirty="0"/>
          </a:p>
        </p:txBody>
      </p:sp>
      <p:pic>
        <p:nvPicPr>
          <p:cNvPr id="1026" name="Picture 2">
            <a:extLst>
              <a:ext uri="{FF2B5EF4-FFF2-40B4-BE49-F238E27FC236}">
                <a16:creationId xmlns:a16="http://schemas.microsoft.com/office/drawing/2014/main" id="{415C34AB-B512-62D9-4F83-77097C149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77" r="6779" b="2"/>
          <a:stretch/>
        </p:blipFill>
        <p:spPr bwMode="auto">
          <a:xfrm>
            <a:off x="4671911" y="10"/>
            <a:ext cx="4472089" cy="51434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4"/>
                                        </p:tgtEl>
                                        <p:attrNameLst>
                                          <p:attrName>style.visibility</p:attrName>
                                        </p:attrNameLst>
                                      </p:cBhvr>
                                      <p:to>
                                        <p:strVal val="visible"/>
                                      </p:to>
                                    </p:set>
                                    <p:animEffect transition="in" filter="fade">
                                      <p:cBhvr>
                                        <p:cTn id="7" dur="400"/>
                                        <p:tgtEl>
                                          <p:spTgt spid="54"/>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5">
                                            <p:txEl>
                                              <p:pRg st="0" end="0"/>
                                            </p:txEl>
                                          </p:spTgt>
                                        </p:tgtEl>
                                        <p:attrNameLst>
                                          <p:attrName>style.visibility</p:attrName>
                                        </p:attrNameLst>
                                      </p:cBhvr>
                                      <p:to>
                                        <p:strVal val="visible"/>
                                      </p:to>
                                    </p:set>
                                    <p:animEffect transition="in" filter="fade">
                                      <p:cBhvr>
                                        <p:cTn id="10" dur="4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520FF-2704-DA86-D587-4573F43062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58B3A9-4792-21A6-5FA1-412E56023CDA}"/>
              </a:ext>
            </a:extLst>
          </p:cNvPr>
          <p:cNvGrpSpPr/>
          <p:nvPr/>
        </p:nvGrpSpPr>
        <p:grpSpPr>
          <a:xfrm>
            <a:off x="8185500" y="4630500"/>
            <a:ext cx="675000" cy="229500"/>
            <a:chOff x="0" y="0"/>
            <a:chExt cx="1800000" cy="612000"/>
          </a:xfrm>
        </p:grpSpPr>
        <p:sp>
          <p:nvSpPr>
            <p:cNvPr id="3" name="Freeform 3">
              <a:extLst>
                <a:ext uri="{FF2B5EF4-FFF2-40B4-BE49-F238E27FC236}">
                  <a16:creationId xmlns:a16="http://schemas.microsoft.com/office/drawing/2014/main" id="{D8B82E76-A5B5-7E10-6AF2-C0AE28EDC7CC}"/>
                </a:ext>
              </a:extLst>
            </p:cNvPr>
            <p:cNvSpPr/>
            <p:nvPr/>
          </p:nvSpPr>
          <p:spPr>
            <a:xfrm>
              <a:off x="0" y="0"/>
              <a:ext cx="1799971" cy="612013"/>
            </a:xfrm>
            <a:custGeom>
              <a:avLst/>
              <a:gdLst/>
              <a:ahLst/>
              <a:cxnLst/>
              <a:rect l="l" t="t" r="r" b="b"/>
              <a:pathLst>
                <a:path w="1799971" h="612013">
                  <a:moveTo>
                    <a:pt x="0" y="0"/>
                  </a:moveTo>
                  <a:lnTo>
                    <a:pt x="1799971" y="0"/>
                  </a:lnTo>
                  <a:lnTo>
                    <a:pt x="1799971" y="612013"/>
                  </a:lnTo>
                  <a:lnTo>
                    <a:pt x="0" y="612013"/>
                  </a:lnTo>
                  <a:close/>
                </a:path>
              </a:pathLst>
            </a:custGeom>
            <a:solidFill>
              <a:srgbClr val="BF9D00"/>
            </a:solidFill>
          </p:spPr>
          <p:txBody>
            <a:bodyPr/>
            <a:lstStyle/>
            <a:p>
              <a:endParaRPr lang="nl-NL" sz="900"/>
            </a:p>
          </p:txBody>
        </p:sp>
      </p:grpSp>
      <p:sp>
        <p:nvSpPr>
          <p:cNvPr id="4" name="Freeform 4">
            <a:extLst>
              <a:ext uri="{FF2B5EF4-FFF2-40B4-BE49-F238E27FC236}">
                <a16:creationId xmlns:a16="http://schemas.microsoft.com/office/drawing/2014/main" id="{6E850B3D-52A2-6D07-ABE3-EFD51E098F68}"/>
              </a:ext>
            </a:extLst>
          </p:cNvPr>
          <p:cNvSpPr/>
          <p:nvPr/>
        </p:nvSpPr>
        <p:spPr>
          <a:xfrm>
            <a:off x="8206773" y="4631978"/>
            <a:ext cx="653727" cy="229500"/>
          </a:xfrm>
          <a:custGeom>
            <a:avLst/>
            <a:gdLst/>
            <a:ahLst/>
            <a:cxnLst/>
            <a:rect l="l" t="t" r="r" b="b"/>
            <a:pathLst>
              <a:path w="1307454" h="459000">
                <a:moveTo>
                  <a:pt x="0" y="0"/>
                </a:moveTo>
                <a:lnTo>
                  <a:pt x="1307454" y="0"/>
                </a:lnTo>
                <a:lnTo>
                  <a:pt x="1307454" y="459000"/>
                </a:lnTo>
                <a:lnTo>
                  <a:pt x="0" y="459000"/>
                </a:lnTo>
                <a:lnTo>
                  <a:pt x="0" y="0"/>
                </a:lnTo>
                <a:close/>
              </a:path>
            </a:pathLst>
          </a:custGeom>
          <a:blipFill>
            <a:blip r:embed="rId2">
              <a:extLst>
                <a:ext uri="{96DAC541-7B7A-43D3-8B79-37D633B846F1}">
                  <asvg:svgBlip xmlns:asvg="http://schemas.microsoft.com/office/drawing/2016/SVG/main" r:embed="rId3"/>
                </a:ext>
              </a:extLst>
            </a:blip>
            <a:stretch>
              <a:fillRect t="-570" b="-570"/>
            </a:stretch>
          </a:blipFill>
        </p:spPr>
        <p:txBody>
          <a:bodyPr/>
          <a:lstStyle/>
          <a:p>
            <a:endParaRPr lang="nl-NL" sz="900"/>
          </a:p>
        </p:txBody>
      </p:sp>
      <p:sp>
        <p:nvSpPr>
          <p:cNvPr id="5" name="Freeform 5">
            <a:extLst>
              <a:ext uri="{FF2B5EF4-FFF2-40B4-BE49-F238E27FC236}">
                <a16:creationId xmlns:a16="http://schemas.microsoft.com/office/drawing/2014/main" id="{8951E7D5-9834-50EE-69A5-D167F73AE2BB}"/>
              </a:ext>
            </a:extLst>
          </p:cNvPr>
          <p:cNvSpPr/>
          <p:nvPr/>
        </p:nvSpPr>
        <p:spPr>
          <a:xfrm>
            <a:off x="0" y="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a:stretch>
          </a:blipFill>
        </p:spPr>
        <p:txBody>
          <a:bodyPr/>
          <a:lstStyle/>
          <a:p>
            <a:endParaRPr lang="nl-NL" sz="900"/>
          </a:p>
        </p:txBody>
      </p:sp>
      <p:sp>
        <p:nvSpPr>
          <p:cNvPr id="6" name="TextBox 6">
            <a:extLst>
              <a:ext uri="{FF2B5EF4-FFF2-40B4-BE49-F238E27FC236}">
                <a16:creationId xmlns:a16="http://schemas.microsoft.com/office/drawing/2014/main" id="{50118D6B-2D37-B08D-8EB6-EAC46732AD69}"/>
              </a:ext>
            </a:extLst>
          </p:cNvPr>
          <p:cNvSpPr txBox="1"/>
          <p:nvPr/>
        </p:nvSpPr>
        <p:spPr>
          <a:xfrm>
            <a:off x="514350" y="1537424"/>
            <a:ext cx="5247058" cy="923330"/>
          </a:xfrm>
          <a:prstGeom prst="rect">
            <a:avLst/>
          </a:prstGeom>
        </p:spPr>
        <p:txBody>
          <a:bodyPr wrap="square" lIns="0" tIns="0" rIns="0" bIns="0" rtlCol="0" anchor="t">
            <a:spAutoFit/>
          </a:bodyPr>
          <a:lstStyle/>
          <a:p>
            <a:pPr>
              <a:lnSpc>
                <a:spcPts val="3600"/>
              </a:lnSpc>
            </a:pPr>
            <a:r>
              <a:rPr lang="en-US" sz="3375" b="1" dirty="0">
                <a:solidFill>
                  <a:srgbClr val="FFFFFF"/>
                </a:solidFill>
                <a:latin typeface="Arial Narrow" panose="020B0604020202020204" pitchFamily="34" charset="0"/>
                <a:cs typeface="Arial Narrow" panose="020B0604020202020204" pitchFamily="34" charset="0"/>
              </a:rPr>
              <a:t>WELKOM BIJ </a:t>
            </a:r>
            <a:br>
              <a:rPr lang="en-US" sz="3375" b="1" dirty="0">
                <a:solidFill>
                  <a:srgbClr val="FFFFFF"/>
                </a:solidFill>
                <a:latin typeface="Arial Narrow" panose="020B0604020202020204" pitchFamily="34" charset="0"/>
                <a:cs typeface="Arial Narrow" panose="020B0604020202020204" pitchFamily="34" charset="0"/>
              </a:rPr>
            </a:br>
            <a:r>
              <a:rPr lang="en-US" sz="3375" b="1" dirty="0">
                <a:solidFill>
                  <a:srgbClr val="0098C3"/>
                </a:solidFill>
                <a:latin typeface="Arial Narrow" panose="020B0604020202020204" pitchFamily="34" charset="0"/>
                <a:cs typeface="Arial Narrow" panose="020B0604020202020204" pitchFamily="34" charset="0"/>
              </a:rPr>
              <a:t>APPLIED MATHEMATICS @ UT</a:t>
            </a:r>
          </a:p>
        </p:txBody>
      </p:sp>
      <p:sp>
        <p:nvSpPr>
          <p:cNvPr id="7" name="TextBox 7">
            <a:extLst>
              <a:ext uri="{FF2B5EF4-FFF2-40B4-BE49-F238E27FC236}">
                <a16:creationId xmlns:a16="http://schemas.microsoft.com/office/drawing/2014/main" id="{682FDA07-E1BA-4337-C40C-DEFBD3D90B5D}"/>
              </a:ext>
            </a:extLst>
          </p:cNvPr>
          <p:cNvSpPr txBox="1"/>
          <p:nvPr/>
        </p:nvSpPr>
        <p:spPr>
          <a:xfrm>
            <a:off x="562092" y="2606797"/>
            <a:ext cx="4076438" cy="192360"/>
          </a:xfrm>
          <a:prstGeom prst="rect">
            <a:avLst/>
          </a:prstGeom>
        </p:spPr>
        <p:txBody>
          <a:bodyPr lIns="0" tIns="0" rIns="0" bIns="0" rtlCol="0" anchor="t">
            <a:spAutoFit/>
          </a:bodyPr>
          <a:lstStyle/>
          <a:p>
            <a:pPr>
              <a:lnSpc>
                <a:spcPts val="1500"/>
              </a:lnSpc>
            </a:pPr>
            <a:r>
              <a:rPr lang="en-US" sz="1650" b="1" dirty="0">
                <a:solidFill>
                  <a:srgbClr val="939598"/>
                </a:solidFill>
                <a:latin typeface="Arial Narrow" panose="020B0604020202020204" pitchFamily="34" charset="0"/>
                <a:cs typeface="Arial Narrow" panose="020B0604020202020204" pitchFamily="34" charset="0"/>
              </a:rPr>
              <a:t>Workshop medical machine learning</a:t>
            </a:r>
          </a:p>
        </p:txBody>
      </p:sp>
      <p:grpSp>
        <p:nvGrpSpPr>
          <p:cNvPr id="8" name="Group 8">
            <a:extLst>
              <a:ext uri="{FF2B5EF4-FFF2-40B4-BE49-F238E27FC236}">
                <a16:creationId xmlns:a16="http://schemas.microsoft.com/office/drawing/2014/main" id="{FFAE9923-4E7D-7032-A1FE-72FE5EEFB16E}"/>
              </a:ext>
            </a:extLst>
          </p:cNvPr>
          <p:cNvGrpSpPr/>
          <p:nvPr/>
        </p:nvGrpSpPr>
        <p:grpSpPr>
          <a:xfrm>
            <a:off x="567000" y="566999"/>
            <a:ext cx="2673000" cy="108000"/>
            <a:chOff x="0" y="0"/>
            <a:chExt cx="7128000" cy="288000"/>
          </a:xfrm>
        </p:grpSpPr>
        <p:sp>
          <p:nvSpPr>
            <p:cNvPr id="9" name="Freeform 9">
              <a:extLst>
                <a:ext uri="{FF2B5EF4-FFF2-40B4-BE49-F238E27FC236}">
                  <a16:creationId xmlns:a16="http://schemas.microsoft.com/office/drawing/2014/main" id="{32AC8D8C-5101-4EB0-A0E2-2982C3E6FEC1}"/>
                </a:ext>
              </a:extLst>
            </p:cNvPr>
            <p:cNvSpPr/>
            <p:nvPr/>
          </p:nvSpPr>
          <p:spPr>
            <a:xfrm>
              <a:off x="0" y="0"/>
              <a:ext cx="7128002" cy="288036"/>
            </a:xfrm>
            <a:custGeom>
              <a:avLst/>
              <a:gdLst/>
              <a:ahLst/>
              <a:cxnLst/>
              <a:rect l="l" t="t" r="r" b="b"/>
              <a:pathLst>
                <a:path w="7128002" h="288036">
                  <a:moveTo>
                    <a:pt x="0" y="0"/>
                  </a:moveTo>
                  <a:lnTo>
                    <a:pt x="7128002" y="0"/>
                  </a:lnTo>
                  <a:lnTo>
                    <a:pt x="7128002" y="288036"/>
                  </a:lnTo>
                  <a:lnTo>
                    <a:pt x="0" y="288036"/>
                  </a:lnTo>
                  <a:close/>
                </a:path>
              </a:pathLst>
            </a:custGeom>
            <a:solidFill>
              <a:srgbClr val="000000">
                <a:alpha val="0"/>
              </a:srgbClr>
            </a:solidFill>
          </p:spPr>
          <p:txBody>
            <a:bodyPr/>
            <a:lstStyle/>
            <a:p>
              <a:endParaRPr lang="nl-NL" sz="900"/>
            </a:p>
          </p:txBody>
        </p:sp>
        <p:sp>
          <p:nvSpPr>
            <p:cNvPr id="10" name="TextBox 10">
              <a:extLst>
                <a:ext uri="{FF2B5EF4-FFF2-40B4-BE49-F238E27FC236}">
                  <a16:creationId xmlns:a16="http://schemas.microsoft.com/office/drawing/2014/main" id="{A55C6239-EEA6-B198-E73A-5822C08E6E1B}"/>
                </a:ext>
              </a:extLst>
            </p:cNvPr>
            <p:cNvSpPr txBox="1"/>
            <p:nvPr/>
          </p:nvSpPr>
          <p:spPr>
            <a:xfrm>
              <a:off x="0" y="-19050"/>
              <a:ext cx="7128000" cy="307050"/>
            </a:xfrm>
            <a:prstGeom prst="rect">
              <a:avLst/>
            </a:prstGeom>
          </p:spPr>
          <p:txBody>
            <a:bodyPr lIns="25400" tIns="25400" rIns="25400" bIns="25400" rtlCol="0" anchor="t"/>
            <a:lstStyle/>
            <a:p>
              <a:pPr>
                <a:lnSpc>
                  <a:spcPts val="188"/>
                </a:lnSpc>
              </a:pPr>
              <a:r>
                <a:rPr lang="en-US" sz="100">
                  <a:solidFill>
                    <a:srgbClr val="231F20"/>
                  </a:solidFill>
                  <a:latin typeface="Linotype Univers 1"/>
                </a:rPr>
                <a:t>.</a:t>
              </a:r>
            </a:p>
          </p:txBody>
        </p:sp>
      </p:grpSp>
      <p:grpSp>
        <p:nvGrpSpPr>
          <p:cNvPr id="11" name="Group 11">
            <a:extLst>
              <a:ext uri="{FF2B5EF4-FFF2-40B4-BE49-F238E27FC236}">
                <a16:creationId xmlns:a16="http://schemas.microsoft.com/office/drawing/2014/main" id="{2E8E85F7-9828-623F-1059-DD1B410C98AF}"/>
              </a:ext>
            </a:extLst>
          </p:cNvPr>
          <p:cNvGrpSpPr/>
          <p:nvPr/>
        </p:nvGrpSpPr>
        <p:grpSpPr>
          <a:xfrm>
            <a:off x="8206774" y="4631978"/>
            <a:ext cx="653728" cy="229500"/>
            <a:chOff x="0" y="0"/>
            <a:chExt cx="1743274" cy="612000"/>
          </a:xfrm>
        </p:grpSpPr>
        <p:sp>
          <p:nvSpPr>
            <p:cNvPr id="12" name="Freeform 12">
              <a:extLst>
                <a:ext uri="{FF2B5EF4-FFF2-40B4-BE49-F238E27FC236}">
                  <a16:creationId xmlns:a16="http://schemas.microsoft.com/office/drawing/2014/main" id="{15FC7672-4F0A-D7B3-ACB3-225026391EA3}"/>
                </a:ext>
              </a:extLst>
            </p:cNvPr>
            <p:cNvSpPr/>
            <p:nvPr/>
          </p:nvSpPr>
          <p:spPr>
            <a:xfrm>
              <a:off x="0" y="0"/>
              <a:ext cx="1743329" cy="612013"/>
            </a:xfrm>
            <a:custGeom>
              <a:avLst/>
              <a:gdLst/>
              <a:ahLst/>
              <a:cxnLst/>
              <a:rect l="l" t="t" r="r" b="b"/>
              <a:pathLst>
                <a:path w="1743329" h="612013">
                  <a:moveTo>
                    <a:pt x="0" y="0"/>
                  </a:moveTo>
                  <a:lnTo>
                    <a:pt x="1743329" y="0"/>
                  </a:lnTo>
                  <a:lnTo>
                    <a:pt x="1743329" y="612013"/>
                  </a:lnTo>
                  <a:lnTo>
                    <a:pt x="0" y="612013"/>
                  </a:lnTo>
                  <a:close/>
                </a:path>
              </a:pathLst>
            </a:custGeom>
            <a:solidFill>
              <a:srgbClr val="000000">
                <a:alpha val="0"/>
              </a:srgbClr>
            </a:solidFill>
          </p:spPr>
          <p:txBody>
            <a:bodyPr/>
            <a:lstStyle/>
            <a:p>
              <a:endParaRPr lang="nl-NL" sz="900"/>
            </a:p>
          </p:txBody>
        </p:sp>
        <p:sp>
          <p:nvSpPr>
            <p:cNvPr id="13" name="TextBox 13">
              <a:extLst>
                <a:ext uri="{FF2B5EF4-FFF2-40B4-BE49-F238E27FC236}">
                  <a16:creationId xmlns:a16="http://schemas.microsoft.com/office/drawing/2014/main" id="{5DBF1D5D-0AE4-0BB9-CF57-4E7ACF7070AB}"/>
                </a:ext>
              </a:extLst>
            </p:cNvPr>
            <p:cNvSpPr txBox="1"/>
            <p:nvPr/>
          </p:nvSpPr>
          <p:spPr>
            <a:xfrm>
              <a:off x="0" y="-19050"/>
              <a:ext cx="1743274" cy="631050"/>
            </a:xfrm>
            <a:prstGeom prst="rect">
              <a:avLst/>
            </a:prstGeom>
          </p:spPr>
          <p:txBody>
            <a:bodyPr lIns="25400" tIns="25400" rIns="25400" bIns="25400" rtlCol="0" anchor="t"/>
            <a:lstStyle/>
            <a:p>
              <a:pPr>
                <a:lnSpc>
                  <a:spcPts val="188"/>
                </a:lnSpc>
              </a:pPr>
              <a:r>
                <a:rPr lang="en-US" sz="100">
                  <a:solidFill>
                    <a:srgbClr val="231F20"/>
                  </a:solidFill>
                  <a:latin typeface="Linotype Univers 1"/>
                </a:rPr>
                <a:t>.</a:t>
              </a:r>
            </a:p>
          </p:txBody>
        </p:sp>
      </p:grpSp>
      <p:sp>
        <p:nvSpPr>
          <p:cNvPr id="14" name="Freeform 14">
            <a:extLst>
              <a:ext uri="{FF2B5EF4-FFF2-40B4-BE49-F238E27FC236}">
                <a16:creationId xmlns:a16="http://schemas.microsoft.com/office/drawing/2014/main" id="{FBF60E4F-591D-D881-223D-E1DF23665DFE}"/>
              </a:ext>
            </a:extLst>
          </p:cNvPr>
          <p:cNvSpPr/>
          <p:nvPr/>
        </p:nvSpPr>
        <p:spPr>
          <a:xfrm>
            <a:off x="8093228" y="4517229"/>
            <a:ext cx="880817" cy="440409"/>
          </a:xfrm>
          <a:custGeom>
            <a:avLst/>
            <a:gdLst/>
            <a:ahLst/>
            <a:cxnLst/>
            <a:rect l="l" t="t" r="r" b="b"/>
            <a:pathLst>
              <a:path w="1761634" h="880817">
                <a:moveTo>
                  <a:pt x="0" y="0"/>
                </a:moveTo>
                <a:lnTo>
                  <a:pt x="1761634" y="0"/>
                </a:lnTo>
                <a:lnTo>
                  <a:pt x="1761634" y="880817"/>
                </a:lnTo>
                <a:lnTo>
                  <a:pt x="0" y="8808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nl-NL" sz="900"/>
          </a:p>
        </p:txBody>
      </p:sp>
    </p:spTree>
    <p:extLst>
      <p:ext uri="{BB962C8B-B14F-4D97-AF65-F5344CB8AC3E}">
        <p14:creationId xmlns:p14="http://schemas.microsoft.com/office/powerpoint/2010/main" val="3950857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185500" y="4630500"/>
            <a:ext cx="675000" cy="229500"/>
            <a:chOff x="0" y="0"/>
            <a:chExt cx="1800000" cy="612000"/>
          </a:xfrm>
        </p:grpSpPr>
        <p:sp>
          <p:nvSpPr>
            <p:cNvPr id="3" name="Freeform 3"/>
            <p:cNvSpPr/>
            <p:nvPr/>
          </p:nvSpPr>
          <p:spPr>
            <a:xfrm>
              <a:off x="0" y="0"/>
              <a:ext cx="1799971" cy="612013"/>
            </a:xfrm>
            <a:custGeom>
              <a:avLst/>
              <a:gdLst/>
              <a:ahLst/>
              <a:cxnLst/>
              <a:rect l="l" t="t" r="r" b="b"/>
              <a:pathLst>
                <a:path w="1799971" h="612013">
                  <a:moveTo>
                    <a:pt x="0" y="0"/>
                  </a:moveTo>
                  <a:lnTo>
                    <a:pt x="1799971" y="0"/>
                  </a:lnTo>
                  <a:lnTo>
                    <a:pt x="1799971" y="612013"/>
                  </a:lnTo>
                  <a:lnTo>
                    <a:pt x="0" y="612013"/>
                  </a:lnTo>
                  <a:close/>
                </a:path>
              </a:pathLst>
            </a:custGeom>
            <a:solidFill>
              <a:srgbClr val="BF9D00"/>
            </a:solidFill>
          </p:spPr>
          <p:txBody>
            <a:bodyPr/>
            <a:lstStyle/>
            <a:p>
              <a:endParaRPr lang="nl-NL" sz="900"/>
            </a:p>
          </p:txBody>
        </p:sp>
      </p:grpSp>
      <p:sp>
        <p:nvSpPr>
          <p:cNvPr id="4" name="Freeform 4"/>
          <p:cNvSpPr/>
          <p:nvPr/>
        </p:nvSpPr>
        <p:spPr>
          <a:xfrm>
            <a:off x="8206773" y="4631978"/>
            <a:ext cx="653727" cy="229500"/>
          </a:xfrm>
          <a:custGeom>
            <a:avLst/>
            <a:gdLst/>
            <a:ahLst/>
            <a:cxnLst/>
            <a:rect l="l" t="t" r="r" b="b"/>
            <a:pathLst>
              <a:path w="1307454" h="459000">
                <a:moveTo>
                  <a:pt x="0" y="0"/>
                </a:moveTo>
                <a:lnTo>
                  <a:pt x="1307454" y="0"/>
                </a:lnTo>
                <a:lnTo>
                  <a:pt x="1307454" y="459000"/>
                </a:lnTo>
                <a:lnTo>
                  <a:pt x="0" y="459000"/>
                </a:lnTo>
                <a:lnTo>
                  <a:pt x="0" y="0"/>
                </a:lnTo>
                <a:close/>
              </a:path>
            </a:pathLst>
          </a:custGeom>
          <a:blipFill>
            <a:blip r:embed="rId3">
              <a:extLst>
                <a:ext uri="{96DAC541-7B7A-43D3-8B79-37D633B846F1}">
                  <asvg:svgBlip xmlns:asvg="http://schemas.microsoft.com/office/drawing/2016/SVG/main" r:embed="rId4"/>
                </a:ext>
              </a:extLst>
            </a:blip>
            <a:stretch>
              <a:fillRect t="-570" b="-570"/>
            </a:stretch>
          </a:blipFill>
        </p:spPr>
        <p:txBody>
          <a:bodyPr/>
          <a:lstStyle/>
          <a:p>
            <a:endParaRPr lang="nl-NL" sz="900"/>
          </a:p>
        </p:txBody>
      </p:sp>
      <p:sp>
        <p:nvSpPr>
          <p:cNvPr id="5" name="Freeform 5"/>
          <p:cNvSpPr/>
          <p:nvPr/>
        </p:nvSpPr>
        <p:spPr>
          <a:xfrm>
            <a:off x="0" y="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nl-NL" sz="900" dirty="0"/>
          </a:p>
        </p:txBody>
      </p:sp>
      <p:sp>
        <p:nvSpPr>
          <p:cNvPr id="6" name="TextBox 6"/>
          <p:cNvSpPr txBox="1"/>
          <p:nvPr/>
        </p:nvSpPr>
        <p:spPr>
          <a:xfrm>
            <a:off x="4441371" y="357449"/>
            <a:ext cx="4409735" cy="3030317"/>
          </a:xfrm>
          <a:prstGeom prst="rect">
            <a:avLst/>
          </a:prstGeom>
        </p:spPr>
        <p:txBody>
          <a:bodyPr wrap="square" lIns="0" tIns="0" rIns="0" bIns="0" rtlCol="0" anchor="t">
            <a:spAutoFit/>
          </a:bodyPr>
          <a:lstStyle/>
          <a:p>
            <a:pPr>
              <a:lnSpc>
                <a:spcPct val="150000"/>
              </a:lnSpc>
            </a:pPr>
            <a:r>
              <a:rPr lang="en-US" sz="1450" b="1" spc="-17" dirty="0">
                <a:solidFill>
                  <a:srgbClr val="FFFFFF"/>
                </a:solidFill>
                <a:latin typeface="Arial Narrow" panose="020B0604020202020204" pitchFamily="34" charset="0"/>
                <a:cs typeface="Arial Narrow" panose="020B0604020202020204" pitchFamily="34" charset="0"/>
              </a:rPr>
              <a:t>13:00-13:10 	|	Welkom</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13.10 - 14.10 | 	</a:t>
            </a:r>
            <a:r>
              <a:rPr lang="en-US" sz="1450" b="1" spc="-17" dirty="0" err="1">
                <a:solidFill>
                  <a:srgbClr val="FFFFFF"/>
                </a:solidFill>
                <a:latin typeface="Arial Narrow" panose="020B0604020202020204" pitchFamily="34" charset="0"/>
                <a:cs typeface="Arial Narrow" panose="020B0604020202020204" pitchFamily="34" charset="0"/>
              </a:rPr>
              <a:t>Beeldalyse</a:t>
            </a:r>
            <a:r>
              <a:rPr lang="en-US" sz="1450" b="1" spc="-17" dirty="0">
                <a:solidFill>
                  <a:srgbClr val="FFFFFF"/>
                </a:solidFill>
                <a:latin typeface="Arial Narrow" panose="020B0604020202020204" pitchFamily="34" charset="0"/>
                <a:cs typeface="Arial Narrow" panose="020B0604020202020204" pitchFamily="34" charset="0"/>
              </a:rPr>
              <a:t>: 	</a:t>
            </a:r>
            <a:r>
              <a:rPr lang="en-US" sz="1450" b="1" spc="-17" dirty="0" err="1">
                <a:solidFill>
                  <a:srgbClr val="FFFFFF"/>
                </a:solidFill>
                <a:latin typeface="Arial Narrow" panose="020B0604020202020204" pitchFamily="34" charset="0"/>
                <a:cs typeface="Arial Narrow" panose="020B0604020202020204" pitchFamily="34" charset="0"/>
              </a:rPr>
              <a:t>Theorie</a:t>
            </a:r>
            <a:r>
              <a:rPr lang="en-US" sz="1450" b="1" spc="-17" dirty="0">
                <a:solidFill>
                  <a:srgbClr val="FFFFFF"/>
                </a:solidFill>
                <a:latin typeface="Arial Narrow" panose="020B0604020202020204" pitchFamily="34" charset="0"/>
                <a:cs typeface="Arial Narrow" panose="020B0604020202020204" pitchFamily="34" charset="0"/>
              </a:rPr>
              <a:t>	</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14.10 - 14.30 | 	</a:t>
            </a:r>
            <a:r>
              <a:rPr lang="en-US" sz="1450" b="1" spc="-17" dirty="0" err="1">
                <a:solidFill>
                  <a:srgbClr val="FFFFFF"/>
                </a:solidFill>
                <a:latin typeface="Arial Narrow" panose="020B0604020202020204" pitchFamily="34" charset="0"/>
                <a:cs typeface="Arial Narrow" panose="020B0604020202020204" pitchFamily="34" charset="0"/>
              </a:rPr>
              <a:t>Pauze</a:t>
            </a:r>
            <a:endParaRPr lang="en-US" sz="1450" b="1" spc="-17" dirty="0">
              <a:solidFill>
                <a:srgbClr val="FFFFFF"/>
              </a:solidFill>
              <a:latin typeface="Arial Narrow" panose="020B0604020202020204" pitchFamily="34" charset="0"/>
              <a:cs typeface="Arial Narrow" panose="020B0604020202020204" pitchFamily="34" charset="0"/>
            </a:endParaRP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14:30 –16:00 |	</a:t>
            </a:r>
            <a:r>
              <a:rPr lang="en-US" sz="1450" b="1" spc="-17" dirty="0" err="1">
                <a:solidFill>
                  <a:srgbClr val="FFFFFF"/>
                </a:solidFill>
                <a:latin typeface="Arial Narrow" panose="020B0604020202020204" pitchFamily="34" charset="0"/>
                <a:cs typeface="Arial Narrow" panose="020B0604020202020204" pitchFamily="34" charset="0"/>
              </a:rPr>
              <a:t>programmeren</a:t>
            </a:r>
            <a:r>
              <a:rPr lang="en-US" sz="1450" b="1" spc="-17" dirty="0">
                <a:solidFill>
                  <a:srgbClr val="FFFFFF"/>
                </a:solidFill>
                <a:latin typeface="Arial Narrow" panose="020B0604020202020204" pitchFamily="34" charset="0"/>
                <a:cs typeface="Arial Narrow" panose="020B0604020202020204" pitchFamily="34" charset="0"/>
              </a:rPr>
              <a:t> </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16:00 - 16:30 |	</a:t>
            </a:r>
            <a:r>
              <a:rPr lang="en-US" sz="1450" b="1" spc="-17" dirty="0" err="1">
                <a:solidFill>
                  <a:srgbClr val="FFFFFF"/>
                </a:solidFill>
                <a:latin typeface="Arial Narrow" panose="020B0604020202020204" pitchFamily="34" charset="0"/>
                <a:cs typeface="Arial Narrow" panose="020B0604020202020204" pitchFamily="34" charset="0"/>
              </a:rPr>
              <a:t>Presentatie</a:t>
            </a:r>
            <a:r>
              <a:rPr lang="en-US" sz="1450" b="1" spc="-17" dirty="0">
                <a:solidFill>
                  <a:srgbClr val="FFFFFF"/>
                </a:solidFill>
                <a:latin typeface="Arial Narrow" panose="020B0604020202020204" pitchFamily="34" charset="0"/>
                <a:cs typeface="Arial Narrow" panose="020B0604020202020204" pitchFamily="34" charset="0"/>
              </a:rPr>
              <a:t> medical machine 		learning Dieuwertje</a:t>
            </a:r>
          </a:p>
          <a:p>
            <a:pPr>
              <a:lnSpc>
                <a:spcPts val="3624"/>
              </a:lnSpc>
            </a:pPr>
            <a:endParaRPr lang="en-US" sz="1450" b="1" spc="-17" dirty="0">
              <a:solidFill>
                <a:srgbClr val="FFFFFF"/>
              </a:solidFill>
              <a:latin typeface="Arial Narrow" panose="020B0604020202020204" pitchFamily="34" charset="0"/>
              <a:cs typeface="Arial Narrow" panose="020B0604020202020204" pitchFamily="34" charset="0"/>
            </a:endParaRPr>
          </a:p>
        </p:txBody>
      </p:sp>
      <p:sp>
        <p:nvSpPr>
          <p:cNvPr id="7" name="TextBox 7"/>
          <p:cNvSpPr txBox="1"/>
          <p:nvPr/>
        </p:nvSpPr>
        <p:spPr>
          <a:xfrm>
            <a:off x="567000" y="543187"/>
            <a:ext cx="4076438" cy="371897"/>
          </a:xfrm>
          <a:prstGeom prst="rect">
            <a:avLst/>
          </a:prstGeom>
        </p:spPr>
        <p:txBody>
          <a:bodyPr lIns="0" tIns="0" rIns="0" bIns="0" rtlCol="0" anchor="t">
            <a:spAutoFit/>
          </a:bodyPr>
          <a:lstStyle/>
          <a:p>
            <a:pPr>
              <a:lnSpc>
                <a:spcPts val="2925"/>
              </a:lnSpc>
            </a:pPr>
            <a:r>
              <a:rPr lang="en-US" sz="2700" b="1" dirty="0">
                <a:solidFill>
                  <a:srgbClr val="FFFFFF"/>
                </a:solidFill>
                <a:latin typeface="Arial Narrow" panose="020B0604020202020204" pitchFamily="34" charset="0"/>
                <a:cs typeface="Arial Narrow" panose="020B0604020202020204" pitchFamily="34" charset="0"/>
              </a:rPr>
              <a:t>PROGRAMMA</a:t>
            </a:r>
          </a:p>
        </p:txBody>
      </p:sp>
      <p:sp>
        <p:nvSpPr>
          <p:cNvPr id="8" name="Freeform 8"/>
          <p:cNvSpPr/>
          <p:nvPr/>
        </p:nvSpPr>
        <p:spPr>
          <a:xfrm>
            <a:off x="8093228" y="4517229"/>
            <a:ext cx="880817" cy="440409"/>
          </a:xfrm>
          <a:custGeom>
            <a:avLst/>
            <a:gdLst/>
            <a:ahLst/>
            <a:cxnLst/>
            <a:rect l="l" t="t" r="r" b="b"/>
            <a:pathLst>
              <a:path w="1761634" h="880817">
                <a:moveTo>
                  <a:pt x="0" y="0"/>
                </a:moveTo>
                <a:lnTo>
                  <a:pt x="1761634" y="0"/>
                </a:lnTo>
                <a:lnTo>
                  <a:pt x="1761634" y="880817"/>
                </a:lnTo>
                <a:lnTo>
                  <a:pt x="0" y="8808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nl-NL"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nl-NL" sz="900" dirty="0"/>
          </a:p>
        </p:txBody>
      </p:sp>
      <p:sp>
        <p:nvSpPr>
          <p:cNvPr id="5" name="Freeform 5"/>
          <p:cNvSpPr/>
          <p:nvPr/>
        </p:nvSpPr>
        <p:spPr>
          <a:xfrm>
            <a:off x="8093228" y="4517229"/>
            <a:ext cx="880817" cy="440409"/>
          </a:xfrm>
          <a:custGeom>
            <a:avLst/>
            <a:gdLst/>
            <a:ahLst/>
            <a:cxnLst/>
            <a:rect l="l" t="t" r="r" b="b"/>
            <a:pathLst>
              <a:path w="1761634" h="880817">
                <a:moveTo>
                  <a:pt x="0" y="0"/>
                </a:moveTo>
                <a:lnTo>
                  <a:pt x="1761634" y="0"/>
                </a:lnTo>
                <a:lnTo>
                  <a:pt x="1761634" y="880817"/>
                </a:lnTo>
                <a:lnTo>
                  <a:pt x="0" y="8808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nl-NL" sz="900"/>
          </a:p>
        </p:txBody>
      </p:sp>
      <p:sp>
        <p:nvSpPr>
          <p:cNvPr id="8" name="TextBox 23">
            <a:extLst>
              <a:ext uri="{FF2B5EF4-FFF2-40B4-BE49-F238E27FC236}">
                <a16:creationId xmlns:a16="http://schemas.microsoft.com/office/drawing/2014/main" id="{92B4603B-C33F-0A93-1C8D-4218145182C0}"/>
              </a:ext>
            </a:extLst>
          </p:cNvPr>
          <p:cNvSpPr txBox="1"/>
          <p:nvPr/>
        </p:nvSpPr>
        <p:spPr>
          <a:xfrm>
            <a:off x="514350" y="490538"/>
            <a:ext cx="6494205" cy="371897"/>
          </a:xfrm>
          <a:prstGeom prst="rect">
            <a:avLst/>
          </a:prstGeom>
        </p:spPr>
        <p:txBody>
          <a:bodyPr wrap="square" lIns="0" tIns="0" rIns="0" bIns="0" rtlCol="0" anchor="t">
            <a:spAutoFit/>
          </a:bodyPr>
          <a:lstStyle/>
          <a:p>
            <a:pPr>
              <a:lnSpc>
                <a:spcPts val="2925"/>
              </a:lnSpc>
            </a:pPr>
            <a:r>
              <a:rPr lang="en-US" sz="2700" b="1" dirty="0">
                <a:solidFill>
                  <a:srgbClr val="FFFFFF"/>
                </a:solidFill>
                <a:latin typeface="Arial Narrow" panose="020B0604020202020204" pitchFamily="34" charset="0"/>
                <a:cs typeface="Arial Narrow" panose="020B0604020202020204" pitchFamily="34" charset="0"/>
              </a:rPr>
              <a:t>Wie </a:t>
            </a:r>
            <a:r>
              <a:rPr lang="en-US" sz="2700" b="1" dirty="0" err="1">
                <a:solidFill>
                  <a:srgbClr val="FFFFFF"/>
                </a:solidFill>
                <a:latin typeface="Arial Narrow" panose="020B0604020202020204" pitchFamily="34" charset="0"/>
                <a:cs typeface="Arial Narrow" panose="020B0604020202020204" pitchFamily="34" charset="0"/>
              </a:rPr>
              <a:t>zijn</a:t>
            </a:r>
            <a:r>
              <a:rPr lang="en-US" sz="2700" b="1" dirty="0">
                <a:solidFill>
                  <a:srgbClr val="FFFFFF"/>
                </a:solidFill>
                <a:latin typeface="Arial Narrow" panose="020B0604020202020204" pitchFamily="34" charset="0"/>
                <a:cs typeface="Arial Narrow" panose="020B0604020202020204" pitchFamily="34" charset="0"/>
              </a:rPr>
              <a:t> </a:t>
            </a:r>
            <a:r>
              <a:rPr lang="en-US" sz="2700" b="1" dirty="0" err="1">
                <a:solidFill>
                  <a:srgbClr val="FFFFFF"/>
                </a:solidFill>
                <a:latin typeface="Arial Narrow" panose="020B0604020202020204" pitchFamily="34" charset="0"/>
                <a:cs typeface="Arial Narrow" panose="020B0604020202020204" pitchFamily="34" charset="0"/>
              </a:rPr>
              <a:t>wij</a:t>
            </a:r>
            <a:r>
              <a:rPr lang="en-US" sz="2700" b="1" dirty="0">
                <a:solidFill>
                  <a:srgbClr val="FFFFFF"/>
                </a:solidFill>
                <a:latin typeface="Arial Narrow" panose="020B0604020202020204" pitchFamily="34" charset="0"/>
                <a:cs typeface="Arial Narrow" panose="020B0604020202020204" pitchFamily="34" charset="0"/>
              </a:rPr>
              <a:t>?</a:t>
            </a:r>
            <a:endParaRPr lang="en-US" sz="2700" b="1" dirty="0">
              <a:solidFill>
                <a:srgbClr val="0094B3"/>
              </a:solidFill>
              <a:latin typeface="Arial Narrow" panose="020B0604020202020204" pitchFamily="34" charset="0"/>
              <a:cs typeface="Arial Narrow" panose="020B0604020202020204" pitchFamily="34" charset="0"/>
            </a:endParaRPr>
          </a:p>
        </p:txBody>
      </p:sp>
      <p:pic>
        <p:nvPicPr>
          <p:cNvPr id="1026" name="Picture 2" descr="Outreach - Clara Stegehuis">
            <a:extLst>
              <a:ext uri="{FF2B5EF4-FFF2-40B4-BE49-F238E27FC236}">
                <a16:creationId xmlns:a16="http://schemas.microsoft.com/office/drawing/2014/main" id="{794D1D94-717C-9514-2FDB-204E879F8C2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0000"/>
          <a:stretch/>
        </p:blipFill>
        <p:spPr bwMode="auto">
          <a:xfrm>
            <a:off x="514351" y="1526291"/>
            <a:ext cx="1561528" cy="15615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CFB3A28-A941-A888-3135-5E734E54F626}"/>
              </a:ext>
            </a:extLst>
          </p:cNvPr>
          <p:cNvSpPr txBox="1"/>
          <p:nvPr/>
        </p:nvSpPr>
        <p:spPr>
          <a:xfrm>
            <a:off x="426262" y="3087818"/>
            <a:ext cx="1401794" cy="307777"/>
          </a:xfrm>
          <a:prstGeom prst="rect">
            <a:avLst/>
          </a:prstGeom>
          <a:noFill/>
        </p:spPr>
        <p:txBody>
          <a:bodyPr wrap="none" rtlCol="0">
            <a:spAutoFit/>
          </a:bodyPr>
          <a:lstStyle/>
          <a:p>
            <a:r>
              <a:rPr lang="en-GB" sz="1400" dirty="0">
                <a:solidFill>
                  <a:schemeClr val="bg1"/>
                </a:solidFill>
              </a:rPr>
              <a:t>Clara Stegehuis</a:t>
            </a:r>
            <a:endParaRPr lang="en-US" sz="1400" dirty="0">
              <a:solidFill>
                <a:schemeClr val="bg1"/>
              </a:solidFill>
            </a:endParaRPr>
          </a:p>
        </p:txBody>
      </p:sp>
      <p:pic>
        <p:nvPicPr>
          <p:cNvPr id="1028" name="Picture 4" descr="Dieuwertje Alblas (@Dieuwertje_1) / X">
            <a:extLst>
              <a:ext uri="{FF2B5EF4-FFF2-40B4-BE49-F238E27FC236}">
                <a16:creationId xmlns:a16="http://schemas.microsoft.com/office/drawing/2014/main" id="{669C4832-AFB5-0D29-BBC3-AFD2E18CE20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0056" y="1526291"/>
            <a:ext cx="1561527" cy="156152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39EB7F-53E9-7F25-DBDF-FD551F5E4FAC}"/>
              </a:ext>
            </a:extLst>
          </p:cNvPr>
          <p:cNvSpPr txBox="1"/>
          <p:nvPr/>
        </p:nvSpPr>
        <p:spPr>
          <a:xfrm>
            <a:off x="2705380" y="3087817"/>
            <a:ext cx="1543884" cy="307777"/>
          </a:xfrm>
          <a:prstGeom prst="rect">
            <a:avLst/>
          </a:prstGeom>
          <a:noFill/>
        </p:spPr>
        <p:txBody>
          <a:bodyPr wrap="none" rtlCol="0">
            <a:spAutoFit/>
          </a:bodyPr>
          <a:lstStyle/>
          <a:p>
            <a:r>
              <a:rPr lang="en-GB" sz="1400" dirty="0">
                <a:solidFill>
                  <a:schemeClr val="bg1"/>
                </a:solidFill>
              </a:rPr>
              <a:t>Dieuwertje Alblas</a:t>
            </a:r>
            <a:endParaRPr lang="en-US" sz="1400" dirty="0">
              <a:solidFill>
                <a:schemeClr val="bg1"/>
              </a:solidFill>
            </a:endParaRPr>
          </a:p>
        </p:txBody>
      </p:sp>
      <p:pic>
        <p:nvPicPr>
          <p:cNvPr id="1032" name="Picture 8" descr="New 4TU.AMI PR/communication advisor">
            <a:extLst>
              <a:ext uri="{FF2B5EF4-FFF2-40B4-BE49-F238E27FC236}">
                <a16:creationId xmlns:a16="http://schemas.microsoft.com/office/drawing/2014/main" id="{A0817416-08C4-AA4F-6103-1F740F9D266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4858" r="22641"/>
          <a:stretch/>
        </p:blipFill>
        <p:spPr bwMode="auto">
          <a:xfrm>
            <a:off x="4965760" y="1526291"/>
            <a:ext cx="1561527" cy="15615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CCFC7A-F3E9-6D0B-2F24-FFB2432B6D32}"/>
              </a:ext>
            </a:extLst>
          </p:cNvPr>
          <p:cNvSpPr txBox="1"/>
          <p:nvPr/>
        </p:nvSpPr>
        <p:spPr>
          <a:xfrm>
            <a:off x="4878765" y="3087817"/>
            <a:ext cx="1211550" cy="307777"/>
          </a:xfrm>
          <a:prstGeom prst="rect">
            <a:avLst/>
          </a:prstGeom>
          <a:noFill/>
        </p:spPr>
        <p:txBody>
          <a:bodyPr wrap="none" rtlCol="0">
            <a:spAutoFit/>
          </a:bodyPr>
          <a:lstStyle/>
          <a:p>
            <a:r>
              <a:rPr lang="en-GB" sz="1400" dirty="0">
                <a:solidFill>
                  <a:schemeClr val="bg1"/>
                </a:solidFill>
              </a:rPr>
              <a:t>Pim van t Hof</a:t>
            </a:r>
            <a:endParaRPr lang="en-US" sz="1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FDD7C-9508-D436-41B4-79406FD2F60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D81DC9-19FB-34BF-7F00-B833B5E1BDA8}"/>
              </a:ext>
            </a:extLst>
          </p:cNvPr>
          <p:cNvSpPr>
            <a:spLocks noGrp="1"/>
          </p:cNvSpPr>
          <p:nvPr>
            <p:ph type="body" sz="quarter" idx="15"/>
          </p:nvPr>
        </p:nvSpPr>
        <p:spPr/>
        <p:txBody>
          <a:bodyPr/>
          <a:lstStyle/>
          <a:p>
            <a:endParaRPr lang="nl-NL"/>
          </a:p>
        </p:txBody>
      </p:sp>
      <p:sp>
        <p:nvSpPr>
          <p:cNvPr id="8" name="TextBox 6">
            <a:extLst>
              <a:ext uri="{FF2B5EF4-FFF2-40B4-BE49-F238E27FC236}">
                <a16:creationId xmlns:a16="http://schemas.microsoft.com/office/drawing/2014/main" id="{FB11C107-E296-121A-7DF8-D02F95DBBEA2}"/>
              </a:ext>
            </a:extLst>
          </p:cNvPr>
          <p:cNvSpPr txBox="1"/>
          <p:nvPr/>
        </p:nvSpPr>
        <p:spPr>
          <a:xfrm>
            <a:off x="469760" y="1393508"/>
            <a:ext cx="2570413" cy="1487587"/>
          </a:xfrm>
          <a:prstGeom prst="rect">
            <a:avLst/>
          </a:prstGeom>
        </p:spPr>
        <p:txBody>
          <a:bodyPr lIns="0" tIns="0" rIns="0" bIns="0" rtlCol="0" anchor="ctr">
            <a:spAutoFit/>
          </a:bodyPr>
          <a:lstStyle/>
          <a:p>
            <a:pPr>
              <a:lnSpc>
                <a:spcPts val="2925"/>
              </a:lnSpc>
            </a:pPr>
            <a:r>
              <a:rPr lang="en-US" sz="2700" b="1" dirty="0">
                <a:solidFill>
                  <a:srgbClr val="FFFFFF"/>
                </a:solidFill>
                <a:latin typeface="Arial Narrow" panose="020B0604020202020204" pitchFamily="34" charset="0"/>
                <a:cs typeface="Arial Narrow" panose="020B0604020202020204" pitchFamily="34" charset="0"/>
              </a:rPr>
              <a:t>APPLIED MATHEMATICS IS </a:t>
            </a:r>
            <a:r>
              <a:rPr lang="en-US" sz="2700" b="1" dirty="0">
                <a:solidFill>
                  <a:srgbClr val="0094B3"/>
                </a:solidFill>
                <a:latin typeface="Arial Narrow" panose="020B0604020202020204" pitchFamily="34" charset="0"/>
                <a:cs typeface="Arial Narrow" panose="020B0604020202020204" pitchFamily="34" charset="0"/>
              </a:rPr>
              <a:t>ENERGY EFFICIENCY</a:t>
            </a:r>
          </a:p>
        </p:txBody>
      </p:sp>
      <p:pic>
        <p:nvPicPr>
          <p:cNvPr id="2" name="Picture 1" descr="A row of wind turbines in the ocean">
            <a:extLst>
              <a:ext uri="{FF2B5EF4-FFF2-40B4-BE49-F238E27FC236}">
                <a16:creationId xmlns:a16="http://schemas.microsoft.com/office/drawing/2014/main" id="{EF661812-44B7-58B8-6A37-00114A459D8D}"/>
              </a:ext>
            </a:extLst>
          </p:cNvPr>
          <p:cNvPicPr>
            <a:picLocks noChangeAspect="1"/>
          </p:cNvPicPr>
          <p:nvPr/>
        </p:nvPicPr>
        <p:blipFill rotWithShape="1">
          <a:blip r:embed="rId3">
            <a:extLst>
              <a:ext uri="{28A0092B-C50C-407E-A947-70E740481C1C}">
                <a14:useLocalDpi xmlns:a14="http://schemas.microsoft.com/office/drawing/2010/main" val="0"/>
              </a:ext>
            </a:extLst>
          </a:blip>
          <a:srcRect r="22308"/>
          <a:stretch/>
        </p:blipFill>
        <p:spPr>
          <a:xfrm>
            <a:off x="3265872" y="0"/>
            <a:ext cx="6008757" cy="5143500"/>
          </a:xfrm>
          <a:prstGeom prst="rect">
            <a:avLst/>
          </a:prstGeom>
        </p:spPr>
      </p:pic>
    </p:spTree>
    <p:extLst>
      <p:ext uri="{BB962C8B-B14F-4D97-AF65-F5344CB8AC3E}">
        <p14:creationId xmlns:p14="http://schemas.microsoft.com/office/powerpoint/2010/main" val="2373324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FDD7C-9508-D436-41B4-79406FD2F60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CD81DC9-19FB-34BF-7F00-B833B5E1BDA8}"/>
              </a:ext>
            </a:extLst>
          </p:cNvPr>
          <p:cNvSpPr>
            <a:spLocks noGrp="1"/>
          </p:cNvSpPr>
          <p:nvPr>
            <p:ph type="body" sz="quarter" idx="15"/>
          </p:nvPr>
        </p:nvSpPr>
        <p:spPr/>
        <p:txBody>
          <a:bodyPr/>
          <a:lstStyle/>
          <a:p>
            <a:endParaRPr lang="nl-NL"/>
          </a:p>
        </p:txBody>
      </p:sp>
      <p:sp>
        <p:nvSpPr>
          <p:cNvPr id="8" name="TextBox 6">
            <a:extLst>
              <a:ext uri="{FF2B5EF4-FFF2-40B4-BE49-F238E27FC236}">
                <a16:creationId xmlns:a16="http://schemas.microsoft.com/office/drawing/2014/main" id="{FB11C107-E296-121A-7DF8-D02F95DBBEA2}"/>
              </a:ext>
            </a:extLst>
          </p:cNvPr>
          <p:cNvSpPr txBox="1"/>
          <p:nvPr/>
        </p:nvSpPr>
        <p:spPr>
          <a:xfrm>
            <a:off x="469760" y="1579456"/>
            <a:ext cx="2570413" cy="1115690"/>
          </a:xfrm>
          <a:prstGeom prst="rect">
            <a:avLst/>
          </a:prstGeom>
        </p:spPr>
        <p:txBody>
          <a:bodyPr lIns="0" tIns="0" rIns="0" bIns="0" rtlCol="0" anchor="ctr">
            <a:spAutoFit/>
          </a:bodyPr>
          <a:lstStyle/>
          <a:p>
            <a:pPr>
              <a:lnSpc>
                <a:spcPts val="2925"/>
              </a:lnSpc>
            </a:pPr>
            <a:r>
              <a:rPr lang="en-US" sz="2700" b="1" dirty="0">
                <a:solidFill>
                  <a:srgbClr val="FFFFFF"/>
                </a:solidFill>
                <a:latin typeface="Arial Narrow" panose="020B0604020202020204" pitchFamily="34" charset="0"/>
                <a:cs typeface="Arial Narrow" panose="020B0604020202020204" pitchFamily="34" charset="0"/>
              </a:rPr>
              <a:t>APPLIED MATHEMATICS IS </a:t>
            </a:r>
            <a:r>
              <a:rPr lang="en-US" sz="2700" b="1" dirty="0">
                <a:solidFill>
                  <a:srgbClr val="0094B3"/>
                </a:solidFill>
                <a:latin typeface="Arial Narrow" panose="020B0604020202020204" pitchFamily="34" charset="0"/>
                <a:cs typeface="Arial Narrow" panose="020B0604020202020204" pitchFamily="34" charset="0"/>
              </a:rPr>
              <a:t>ENGINEERING</a:t>
            </a:r>
          </a:p>
        </p:txBody>
      </p:sp>
      <p:pic>
        <p:nvPicPr>
          <p:cNvPr id="4" name="Picture 3">
            <a:extLst>
              <a:ext uri="{FF2B5EF4-FFF2-40B4-BE49-F238E27FC236}">
                <a16:creationId xmlns:a16="http://schemas.microsoft.com/office/drawing/2014/main" id="{5E4D3D9B-420A-09A8-A68F-4E617F510276}"/>
              </a:ext>
            </a:extLst>
          </p:cNvPr>
          <p:cNvPicPr>
            <a:picLocks noChangeAspect="1"/>
          </p:cNvPicPr>
          <p:nvPr/>
        </p:nvPicPr>
        <p:blipFill>
          <a:blip r:embed="rId3"/>
          <a:stretch>
            <a:fillRect/>
          </a:stretch>
        </p:blipFill>
        <p:spPr>
          <a:xfrm>
            <a:off x="6127606" y="53546"/>
            <a:ext cx="5988383" cy="5147437"/>
          </a:xfrm>
          <a:prstGeom prst="rect">
            <a:avLst/>
          </a:prstGeom>
        </p:spPr>
      </p:pic>
      <p:pic>
        <p:nvPicPr>
          <p:cNvPr id="1026" name="Picture 2" descr="Bijna 90 procent van de fietsers in Utrecht ervaart fietspaden als te druk'">
            <a:extLst>
              <a:ext uri="{FF2B5EF4-FFF2-40B4-BE49-F238E27FC236}">
                <a16:creationId xmlns:a16="http://schemas.microsoft.com/office/drawing/2014/main" id="{63296E80-3D98-D902-23A3-EFFA10FF52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2934" y="57274"/>
            <a:ext cx="77216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880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A48C0CD-1766-D46D-B2AD-567A12B4099F}"/>
              </a:ext>
            </a:extLst>
          </p:cNvPr>
          <p:cNvSpPr/>
          <p:nvPr/>
        </p:nvSpPr>
        <p:spPr>
          <a:xfrm>
            <a:off x="0" y="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a:stretch>
          </a:blipFill>
        </p:spPr>
        <p:txBody>
          <a:bodyPr/>
          <a:lstStyle/>
          <a:p>
            <a:pPr algn="r"/>
            <a:endParaRPr lang="nl-NL" sz="900" dirty="0"/>
          </a:p>
        </p:txBody>
      </p:sp>
      <p:sp>
        <p:nvSpPr>
          <p:cNvPr id="5" name="TextBox 5"/>
          <p:cNvSpPr txBox="1"/>
          <p:nvPr/>
        </p:nvSpPr>
        <p:spPr>
          <a:xfrm>
            <a:off x="514350" y="490538"/>
            <a:ext cx="3429000" cy="371897"/>
          </a:xfrm>
          <a:prstGeom prst="rect">
            <a:avLst/>
          </a:prstGeom>
        </p:spPr>
        <p:txBody>
          <a:bodyPr lIns="0" tIns="0" rIns="0" bIns="0" rtlCol="0" anchor="t">
            <a:spAutoFit/>
          </a:bodyPr>
          <a:lstStyle/>
          <a:p>
            <a:pPr>
              <a:lnSpc>
                <a:spcPts val="2925"/>
              </a:lnSpc>
            </a:pPr>
            <a:r>
              <a:rPr lang="en-US" sz="2700" b="1" dirty="0" err="1">
                <a:solidFill>
                  <a:srgbClr val="FFFFFF"/>
                </a:solidFill>
                <a:latin typeface="Arial Narrow" panose="020B0604020202020204" pitchFamily="34" charset="0"/>
                <a:cs typeface="Arial Narrow" panose="020B0604020202020204" pitchFamily="34" charset="0"/>
              </a:rPr>
              <a:t>Voorbeeld</a:t>
            </a:r>
            <a:r>
              <a:rPr lang="en-US" sz="2700" b="1" dirty="0">
                <a:solidFill>
                  <a:srgbClr val="FFFFFF"/>
                </a:solidFill>
                <a:latin typeface="Arial Narrow" panose="020B0604020202020204" pitchFamily="34" charset="0"/>
                <a:cs typeface="Arial Narrow" panose="020B0604020202020204" pitchFamily="34" charset="0"/>
              </a:rPr>
              <a:t> van </a:t>
            </a:r>
            <a:r>
              <a:rPr lang="en-US" sz="2700" b="1" dirty="0" err="1">
                <a:solidFill>
                  <a:srgbClr val="FFFFFF"/>
                </a:solidFill>
                <a:latin typeface="Arial Narrow" panose="020B0604020202020204" pitchFamily="34" charset="0"/>
                <a:cs typeface="Arial Narrow" panose="020B0604020202020204" pitchFamily="34" charset="0"/>
              </a:rPr>
              <a:t>een</a:t>
            </a:r>
            <a:r>
              <a:rPr lang="en-US" sz="2700" b="1" dirty="0">
                <a:solidFill>
                  <a:srgbClr val="FFFFFF"/>
                </a:solidFill>
                <a:latin typeface="Arial Narrow" panose="020B0604020202020204" pitchFamily="34" charset="0"/>
                <a:cs typeface="Arial Narrow" panose="020B0604020202020204" pitchFamily="34" charset="0"/>
              </a:rPr>
              <a:t> </a:t>
            </a:r>
            <a:r>
              <a:rPr lang="en-US" sz="2700" b="1" dirty="0" err="1">
                <a:solidFill>
                  <a:srgbClr val="FFFFFF"/>
                </a:solidFill>
                <a:latin typeface="Arial Narrow" panose="020B0604020202020204" pitchFamily="34" charset="0"/>
                <a:cs typeface="Arial Narrow" panose="020B0604020202020204" pitchFamily="34" charset="0"/>
              </a:rPr>
              <a:t>vak</a:t>
            </a:r>
            <a:endParaRPr lang="en-US" sz="2700" b="1" dirty="0">
              <a:solidFill>
                <a:srgbClr val="FFFFFF"/>
              </a:solidFill>
              <a:latin typeface="Arial Narrow" panose="020B0604020202020204" pitchFamily="34" charset="0"/>
              <a:cs typeface="Arial Narrow" panose="020B0604020202020204" pitchFamily="34" charset="0"/>
            </a:endParaRPr>
          </a:p>
        </p:txBody>
      </p:sp>
      <p:grpSp>
        <p:nvGrpSpPr>
          <p:cNvPr id="6" name="Group 6"/>
          <p:cNvGrpSpPr/>
          <p:nvPr/>
        </p:nvGrpSpPr>
        <p:grpSpPr>
          <a:xfrm>
            <a:off x="7689868" y="4517229"/>
            <a:ext cx="653728" cy="111922"/>
            <a:chOff x="0" y="0"/>
            <a:chExt cx="1743274" cy="298458"/>
          </a:xfrm>
        </p:grpSpPr>
        <p:sp>
          <p:nvSpPr>
            <p:cNvPr id="7" name="Freeform 7"/>
            <p:cNvSpPr/>
            <p:nvPr/>
          </p:nvSpPr>
          <p:spPr>
            <a:xfrm>
              <a:off x="0" y="0"/>
              <a:ext cx="1743329" cy="298471"/>
            </a:xfrm>
            <a:custGeom>
              <a:avLst/>
              <a:gdLst/>
              <a:ahLst/>
              <a:cxnLst/>
              <a:rect l="l" t="t" r="r" b="b"/>
              <a:pathLst>
                <a:path w="1743329" h="298471">
                  <a:moveTo>
                    <a:pt x="0" y="0"/>
                  </a:moveTo>
                  <a:lnTo>
                    <a:pt x="1743329" y="0"/>
                  </a:lnTo>
                  <a:lnTo>
                    <a:pt x="1743329" y="298471"/>
                  </a:lnTo>
                  <a:lnTo>
                    <a:pt x="0" y="298471"/>
                  </a:lnTo>
                  <a:close/>
                </a:path>
              </a:pathLst>
            </a:custGeom>
            <a:solidFill>
              <a:srgbClr val="000000">
                <a:alpha val="0"/>
              </a:srgbClr>
            </a:solidFill>
          </p:spPr>
          <p:txBody>
            <a:bodyPr/>
            <a:lstStyle/>
            <a:p>
              <a:endParaRPr lang="nl-NL" sz="900"/>
            </a:p>
          </p:txBody>
        </p:sp>
        <p:sp>
          <p:nvSpPr>
            <p:cNvPr id="8" name="TextBox 8"/>
            <p:cNvSpPr txBox="1"/>
            <p:nvPr/>
          </p:nvSpPr>
          <p:spPr>
            <a:xfrm>
              <a:off x="0" y="-19050"/>
              <a:ext cx="1743274" cy="317508"/>
            </a:xfrm>
            <a:prstGeom prst="rect">
              <a:avLst/>
            </a:prstGeom>
          </p:spPr>
          <p:txBody>
            <a:bodyPr lIns="25400" tIns="25400" rIns="25400" bIns="25400" rtlCol="0" anchor="t"/>
            <a:lstStyle/>
            <a:p>
              <a:pPr>
                <a:lnSpc>
                  <a:spcPts val="188"/>
                </a:lnSpc>
              </a:pPr>
              <a:r>
                <a:rPr lang="en-US" sz="100">
                  <a:solidFill>
                    <a:srgbClr val="231F20"/>
                  </a:solidFill>
                  <a:latin typeface="Arimo"/>
                </a:rPr>
                <a:t>.</a:t>
              </a:r>
            </a:p>
          </p:txBody>
        </p:sp>
      </p:grpSp>
      <p:sp>
        <p:nvSpPr>
          <p:cNvPr id="9" name="TextBox 9"/>
          <p:cNvSpPr txBox="1"/>
          <p:nvPr/>
        </p:nvSpPr>
        <p:spPr>
          <a:xfrm>
            <a:off x="495562" y="1497834"/>
            <a:ext cx="4248317" cy="1831271"/>
          </a:xfrm>
          <a:prstGeom prst="rect">
            <a:avLst/>
          </a:prstGeom>
        </p:spPr>
        <p:txBody>
          <a:bodyPr wrap="square" lIns="0" tIns="0" rIns="0" bIns="0" rtlCol="0" anchor="t">
            <a:spAutoFit/>
          </a:bodyPr>
          <a:lstStyle/>
          <a:p>
            <a:pPr marL="313055" lvl="1" indent="-156527">
              <a:lnSpc>
                <a:spcPts val="3624"/>
              </a:lnSpc>
              <a:buFont typeface="Arial"/>
              <a:buChar char="•"/>
            </a:pPr>
            <a:r>
              <a:rPr lang="en-US" sz="1450" b="1" spc="-17" dirty="0">
                <a:solidFill>
                  <a:srgbClr val="FFFFFF"/>
                </a:solidFill>
                <a:latin typeface="Arial Narrow" panose="020B0604020202020204" pitchFamily="34" charset="0"/>
                <a:cs typeface="Arial Narrow" panose="020B0604020202020204" pitchFamily="34" charset="0"/>
              </a:rPr>
              <a:t>Convolutional neural networks</a:t>
            </a:r>
          </a:p>
          <a:p>
            <a:pPr marL="313055" lvl="1" indent="-156527">
              <a:lnSpc>
                <a:spcPts val="3624"/>
              </a:lnSpc>
              <a:buFont typeface="Arial"/>
              <a:buChar char="•"/>
            </a:pPr>
            <a:r>
              <a:rPr lang="en-US" sz="1450" b="1" spc="-17" dirty="0">
                <a:solidFill>
                  <a:srgbClr val="FFFFFF"/>
                </a:solidFill>
                <a:latin typeface="Arial Narrow" panose="020B0604020202020204" pitchFamily="34" charset="0"/>
                <a:cs typeface="Arial Narrow" panose="020B0604020202020204" pitchFamily="34" charset="0"/>
              </a:rPr>
              <a:t>Explainability in deep learning models</a:t>
            </a:r>
          </a:p>
          <a:p>
            <a:pPr marL="313055" lvl="1" indent="-156527">
              <a:lnSpc>
                <a:spcPts val="3624"/>
              </a:lnSpc>
              <a:buFont typeface="Arial"/>
              <a:buChar char="•"/>
            </a:pPr>
            <a:r>
              <a:rPr lang="nl-NL" sz="1450" b="1" spc="-10" dirty="0">
                <a:solidFill>
                  <a:schemeClr val="bg1"/>
                </a:solidFill>
                <a:latin typeface="Arial Narrow"/>
                <a:ea typeface="Calibri"/>
                <a:cs typeface="Arial"/>
              </a:rPr>
              <a:t>Wiskundige beeldanalyse</a:t>
            </a:r>
          </a:p>
          <a:p>
            <a:pPr marL="313055" lvl="1" indent="-156527">
              <a:buFont typeface="Arial"/>
              <a:buChar char="•"/>
            </a:pPr>
            <a:r>
              <a:rPr lang="en-US" sz="1450" b="1" spc="-17" dirty="0" err="1">
                <a:solidFill>
                  <a:srgbClr val="FFFFFF"/>
                </a:solidFill>
                <a:latin typeface="Arial Narrow" panose="020B0604020202020204" pitchFamily="34" charset="0"/>
                <a:cs typeface="Arial Narrow" panose="020B0604020202020204" pitchFamily="34" charset="0"/>
              </a:rPr>
              <a:t>Interdisciplinair</a:t>
            </a:r>
            <a:r>
              <a:rPr lang="en-US" sz="1450" b="1" spc="-17" dirty="0">
                <a:solidFill>
                  <a:srgbClr val="FFFFFF"/>
                </a:solidFill>
                <a:latin typeface="Arial Narrow" panose="020B0604020202020204" pitchFamily="34" charset="0"/>
                <a:cs typeface="Arial Narrow" panose="020B0604020202020204" pitchFamily="34" charset="0"/>
              </a:rPr>
              <a:t>: </a:t>
            </a:r>
            <a:r>
              <a:rPr lang="en-US" sz="1450" b="1" spc="-17" dirty="0" err="1">
                <a:solidFill>
                  <a:srgbClr val="FFFFFF"/>
                </a:solidFill>
                <a:latin typeface="Arial Narrow" panose="020B0604020202020204" pitchFamily="34" charset="0"/>
                <a:cs typeface="Arial Narrow" panose="020B0604020202020204" pitchFamily="34" charset="0"/>
              </a:rPr>
              <a:t>wiskunde</a:t>
            </a:r>
            <a:r>
              <a:rPr lang="en-US" sz="1450" b="1" spc="-17" dirty="0">
                <a:solidFill>
                  <a:srgbClr val="FFFFFF"/>
                </a:solidFill>
                <a:latin typeface="Arial Narrow" panose="020B0604020202020204" pitchFamily="34" charset="0"/>
                <a:cs typeface="Arial Narrow" panose="020B0604020202020204" pitchFamily="34" charset="0"/>
              </a:rPr>
              <a:t>, informatica, </a:t>
            </a:r>
            <a:r>
              <a:rPr lang="en-US" sz="1450" b="1" spc="-17" dirty="0" err="1">
                <a:solidFill>
                  <a:srgbClr val="FFFFFF"/>
                </a:solidFill>
                <a:latin typeface="Arial Narrow" panose="020B0604020202020204" pitchFamily="34" charset="0"/>
                <a:cs typeface="Arial Narrow" panose="020B0604020202020204" pitchFamily="34" charset="0"/>
              </a:rPr>
              <a:t>biomedische</a:t>
            </a:r>
            <a:r>
              <a:rPr lang="en-US" sz="1450" b="1" spc="-17" dirty="0">
                <a:solidFill>
                  <a:srgbClr val="FFFFFF"/>
                </a:solidFill>
                <a:latin typeface="Arial Narrow" panose="020B0604020202020204" pitchFamily="34" charset="0"/>
                <a:cs typeface="Arial Narrow" panose="020B0604020202020204" pitchFamily="34" charset="0"/>
              </a:rPr>
              <a:t> </a:t>
            </a:r>
            <a:r>
              <a:rPr lang="en-US" sz="1450" b="1" spc="-17" dirty="0" err="1">
                <a:solidFill>
                  <a:srgbClr val="FFFFFF"/>
                </a:solidFill>
                <a:latin typeface="Arial Narrow" panose="020B0604020202020204" pitchFamily="34" charset="0"/>
                <a:cs typeface="Arial Narrow" panose="020B0604020202020204" pitchFamily="34" charset="0"/>
              </a:rPr>
              <a:t>technologie</a:t>
            </a:r>
            <a:r>
              <a:rPr lang="en-US" sz="1450" b="1" spc="-17" dirty="0">
                <a:solidFill>
                  <a:srgbClr val="FFFFFF"/>
                </a:solidFill>
                <a:latin typeface="Arial Narrow" panose="020B0604020202020204" pitchFamily="34" charset="0"/>
                <a:cs typeface="Arial Narrow" panose="020B0604020202020204" pitchFamily="34" charset="0"/>
              </a:rPr>
              <a:t> &amp; </a:t>
            </a:r>
            <a:r>
              <a:rPr lang="en-US" sz="1450" b="1" spc="-17" dirty="0" err="1">
                <a:solidFill>
                  <a:srgbClr val="FFFFFF"/>
                </a:solidFill>
                <a:latin typeface="Arial Narrow" panose="020B0604020202020204" pitchFamily="34" charset="0"/>
                <a:cs typeface="Arial Narrow" panose="020B0604020202020204" pitchFamily="34" charset="0"/>
              </a:rPr>
              <a:t>technisch</a:t>
            </a:r>
            <a:r>
              <a:rPr lang="en-US" sz="1450" b="1" spc="-17" dirty="0">
                <a:solidFill>
                  <a:srgbClr val="FFFFFF"/>
                </a:solidFill>
                <a:latin typeface="Arial Narrow" panose="020B0604020202020204" pitchFamily="34" charset="0"/>
                <a:cs typeface="Arial Narrow" panose="020B0604020202020204" pitchFamily="34" charset="0"/>
              </a:rPr>
              <a:t> </a:t>
            </a:r>
            <a:r>
              <a:rPr lang="en-US" sz="1450" b="1" spc="-17" dirty="0" err="1">
                <a:solidFill>
                  <a:srgbClr val="FFFFFF"/>
                </a:solidFill>
                <a:latin typeface="Arial Narrow" panose="020B0604020202020204" pitchFamily="34" charset="0"/>
                <a:cs typeface="Arial Narrow" panose="020B0604020202020204" pitchFamily="34" charset="0"/>
              </a:rPr>
              <a:t>geneeskunde</a:t>
            </a:r>
            <a:endParaRPr lang="en-US" sz="1450" b="1" spc="-17" dirty="0">
              <a:solidFill>
                <a:srgbClr val="FFFFFF"/>
              </a:solidFill>
              <a:latin typeface="Arial Narrow" panose="020B0604020202020204" pitchFamily="34" charset="0"/>
              <a:cs typeface="Arial Narrow" panose="020B0604020202020204" pitchFamily="34" charset="0"/>
            </a:endParaRPr>
          </a:p>
        </p:txBody>
      </p:sp>
      <p:sp>
        <p:nvSpPr>
          <p:cNvPr id="10" name="TextBox 10"/>
          <p:cNvSpPr txBox="1"/>
          <p:nvPr/>
        </p:nvSpPr>
        <p:spPr>
          <a:xfrm>
            <a:off x="495563" y="935355"/>
            <a:ext cx="4076438" cy="192360"/>
          </a:xfrm>
          <a:prstGeom prst="rect">
            <a:avLst/>
          </a:prstGeom>
        </p:spPr>
        <p:txBody>
          <a:bodyPr lIns="0" tIns="0" rIns="0" bIns="0" rtlCol="0" anchor="t">
            <a:spAutoFit/>
          </a:bodyPr>
          <a:lstStyle/>
          <a:p>
            <a:pPr>
              <a:lnSpc>
                <a:spcPts val="1500"/>
              </a:lnSpc>
            </a:pPr>
            <a:r>
              <a:rPr lang="en-US" sz="1650" b="1" dirty="0">
                <a:solidFill>
                  <a:srgbClr val="0098C3"/>
                </a:solidFill>
                <a:latin typeface="Arial Narrow" panose="020B0604020202020204" pitchFamily="34" charset="0"/>
                <a:cs typeface="Arial Narrow" panose="020B0604020202020204" pitchFamily="34" charset="0"/>
              </a:rPr>
              <a:t>Deep Learning for 3D Medical Image Analysis</a:t>
            </a:r>
          </a:p>
        </p:txBody>
      </p:sp>
      <p:sp>
        <p:nvSpPr>
          <p:cNvPr id="11" name="Freeform 11"/>
          <p:cNvSpPr/>
          <p:nvPr/>
        </p:nvSpPr>
        <p:spPr>
          <a:xfrm>
            <a:off x="8093228" y="4517229"/>
            <a:ext cx="880817" cy="440409"/>
          </a:xfrm>
          <a:custGeom>
            <a:avLst/>
            <a:gdLst/>
            <a:ahLst/>
            <a:cxnLst/>
            <a:rect l="l" t="t" r="r" b="b"/>
            <a:pathLst>
              <a:path w="1761634" h="880817">
                <a:moveTo>
                  <a:pt x="0" y="0"/>
                </a:moveTo>
                <a:lnTo>
                  <a:pt x="1761634" y="0"/>
                </a:lnTo>
                <a:lnTo>
                  <a:pt x="1761634" y="880817"/>
                </a:lnTo>
                <a:lnTo>
                  <a:pt x="0" y="88081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nl-NL" sz="90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a:extLst>
            <a:ext uri="{FF2B5EF4-FFF2-40B4-BE49-F238E27FC236}">
              <a16:creationId xmlns:a16="http://schemas.microsoft.com/office/drawing/2014/main" id="{F8BDB50E-F957-F32E-5702-C22D3A60FB27}"/>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D489E4E-E5B7-CA68-F496-0484FA923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a:extLst>
              <a:ext uri="{FF2B5EF4-FFF2-40B4-BE49-F238E27FC236}">
                <a16:creationId xmlns:a16="http://schemas.microsoft.com/office/drawing/2014/main" id="{C605F70D-4940-3E27-67EA-CE20FB15386C}"/>
              </a:ext>
            </a:extLst>
          </p:cNvPr>
          <p:cNvSpPr txBox="1">
            <a:spLocks noGrp="1"/>
          </p:cNvSpPr>
          <p:nvPr>
            <p:ph type="ctrTitle"/>
          </p:nvPr>
        </p:nvSpPr>
        <p:spPr>
          <a:xfrm>
            <a:off x="482601" y="482600"/>
            <a:ext cx="3465438" cy="3425353"/>
          </a:xfrm>
          <a:prstGeom prst="rect">
            <a:avLst/>
          </a:prstGeom>
        </p:spPr>
        <p:txBody>
          <a:bodyPr spcFirstLastPara="1" lIns="91425" tIns="91425" rIns="91425" bIns="91425" anchorCtr="0">
            <a:normAutofit/>
          </a:bodyPr>
          <a:lstStyle/>
          <a:p>
            <a:pPr marL="0" lvl="0" indent="0" algn="l" rtl="0">
              <a:spcBef>
                <a:spcPts val="0"/>
              </a:spcBef>
              <a:spcAft>
                <a:spcPts val="0"/>
              </a:spcAft>
              <a:buNone/>
            </a:pPr>
            <a:r>
              <a:rPr lang="en-US" sz="3300"/>
              <a:t>De wiskunde achter medische machine learning</a:t>
            </a:r>
          </a:p>
        </p:txBody>
      </p:sp>
      <p:sp>
        <p:nvSpPr>
          <p:cNvPr id="55" name="Google Shape;55;p13">
            <a:extLst>
              <a:ext uri="{FF2B5EF4-FFF2-40B4-BE49-F238E27FC236}">
                <a16:creationId xmlns:a16="http://schemas.microsoft.com/office/drawing/2014/main" id="{0015C38E-0F95-56C0-4B89-C4D9EFD2F121}"/>
              </a:ext>
            </a:extLst>
          </p:cNvPr>
          <p:cNvSpPr txBox="1">
            <a:spLocks noGrp="1"/>
          </p:cNvSpPr>
          <p:nvPr>
            <p:ph type="subTitle" idx="1"/>
          </p:nvPr>
        </p:nvSpPr>
        <p:spPr>
          <a:xfrm>
            <a:off x="482600" y="3958263"/>
            <a:ext cx="3465438" cy="581620"/>
          </a:xfrm>
          <a:prstGeom prst="rect">
            <a:avLst/>
          </a:prstGeom>
        </p:spPr>
        <p:txBody>
          <a:bodyPr spcFirstLastPara="1" lIns="91425" tIns="91425" rIns="91425" bIns="91425" anchorCtr="0">
            <a:normAutofit/>
          </a:bodyPr>
          <a:lstStyle/>
          <a:p>
            <a:pPr marL="0" lvl="0" indent="0" algn="l" rtl="0">
              <a:spcBef>
                <a:spcPts val="0"/>
              </a:spcBef>
              <a:spcAft>
                <a:spcPts val="600"/>
              </a:spcAft>
              <a:buNone/>
            </a:pPr>
            <a:r>
              <a:rPr lang="en-US" sz="1700"/>
              <a:t>Dieuwertje Alblas, Clara Stegehuis</a:t>
            </a:r>
          </a:p>
        </p:txBody>
      </p:sp>
      <p:pic>
        <p:nvPicPr>
          <p:cNvPr id="1026" name="Picture 2">
            <a:extLst>
              <a:ext uri="{FF2B5EF4-FFF2-40B4-BE49-F238E27FC236}">
                <a16:creationId xmlns:a16="http://schemas.microsoft.com/office/drawing/2014/main" id="{785568FA-5F22-F710-C886-2EF0E3B8EC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77" r="6779" b="2"/>
          <a:stretch/>
        </p:blipFill>
        <p:spPr bwMode="auto">
          <a:xfrm>
            <a:off x="4671911" y="10"/>
            <a:ext cx="4472089" cy="51434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57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4"/>
                                        </p:tgtEl>
                                        <p:attrNameLst>
                                          <p:attrName>style.visibility</p:attrName>
                                        </p:attrNameLst>
                                      </p:cBhvr>
                                      <p:to>
                                        <p:strVal val="visible"/>
                                      </p:to>
                                    </p:set>
                                    <p:animEffect transition="in" filter="fade">
                                      <p:cBhvr>
                                        <p:cTn id="7" dur="400"/>
                                        <p:tgtEl>
                                          <p:spTgt spid="54"/>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5">
                                            <p:txEl>
                                              <p:pRg st="0" end="0"/>
                                            </p:txEl>
                                          </p:spTgt>
                                        </p:tgtEl>
                                        <p:attrNameLst>
                                          <p:attrName>style.visibility</p:attrName>
                                        </p:attrNameLst>
                                      </p:cBhvr>
                                      <p:to>
                                        <p:strVal val="visible"/>
                                      </p:to>
                                    </p:set>
                                    <p:animEffect transition="in" filter="fade">
                                      <p:cBhvr>
                                        <p:cTn id="10" dur="4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53825" y="25337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nl"/>
              <a:t>ChatGPT - openAI</a:t>
            </a:r>
            <a:endParaRPr/>
          </a:p>
        </p:txBody>
      </p:sp>
      <p:sp>
        <p:nvSpPr>
          <p:cNvPr id="63" name="Google Shape;63;p14"/>
          <p:cNvSpPr txBox="1"/>
          <p:nvPr/>
        </p:nvSpPr>
        <p:spPr>
          <a:xfrm>
            <a:off x="453825" y="1045325"/>
            <a:ext cx="7786500" cy="2462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nl" sz="3700" dirty="0">
                <a:solidFill>
                  <a:schemeClr val="dk1"/>
                </a:solidFill>
                <a:latin typeface="Fira Sans Condensed Light"/>
                <a:ea typeface="Fira Sans Condensed Light"/>
                <a:cs typeface="Fira Sans Condensed Light"/>
                <a:sym typeface="Fira Sans Condensed Light"/>
              </a:rPr>
              <a:t>Wie van jullie heeft wel eens met ChatGPT zijn huiswerk gedaan? </a:t>
            </a:r>
            <a:endParaRPr sz="3700" dirty="0">
              <a:solidFill>
                <a:schemeClr val="dk1"/>
              </a:solidFill>
              <a:latin typeface="Fira Sans Condensed Light"/>
              <a:ea typeface="Fira Sans Condensed Light"/>
              <a:cs typeface="Fira Sans Condensed Light"/>
              <a:sym typeface="Fira Sans Condensed Light"/>
            </a:endParaRPr>
          </a:p>
          <a:p>
            <a:pPr marL="0" lvl="0" indent="0" algn="r" rtl="0">
              <a:spcBef>
                <a:spcPts val="0"/>
              </a:spcBef>
              <a:spcAft>
                <a:spcPts val="0"/>
              </a:spcAft>
              <a:buNone/>
            </a:pPr>
            <a:r>
              <a:rPr lang="nl" sz="3700" dirty="0">
                <a:solidFill>
                  <a:schemeClr val="dk1"/>
                </a:solidFill>
                <a:latin typeface="Fira Sans Condensed Light"/>
                <a:ea typeface="Fira Sans Condensed Light"/>
                <a:cs typeface="Fira Sans Condensed Light"/>
                <a:sym typeface="Fira Sans Condensed Light"/>
              </a:rPr>
              <a:t>Of ChatGPT gevraagd om een concept uit te leggen?</a:t>
            </a:r>
            <a:endParaRPr sz="100" dirty="0">
              <a:solidFill>
                <a:schemeClr val="dk1"/>
              </a:solidFill>
            </a:endParaRPr>
          </a:p>
        </p:txBody>
      </p:sp>
      <p:pic>
        <p:nvPicPr>
          <p:cNvPr id="64" name="Google Shape;64;p14"/>
          <p:cNvPicPr preferRelativeResize="0"/>
          <p:nvPr/>
        </p:nvPicPr>
        <p:blipFill>
          <a:blip r:embed="rId3">
            <a:alphaModFix/>
          </a:blip>
          <a:stretch>
            <a:fillRect/>
          </a:stretch>
        </p:blipFill>
        <p:spPr>
          <a:xfrm>
            <a:off x="453825" y="3106075"/>
            <a:ext cx="3609050" cy="1712900"/>
          </a:xfrm>
          <a:prstGeom prst="rect">
            <a:avLst/>
          </a:prstGeom>
          <a:noFill/>
          <a:ln>
            <a:noFill/>
          </a:ln>
        </p:spPr>
      </p:pic>
      <p:sp>
        <p:nvSpPr>
          <p:cNvPr id="65" name="Google Shape;65;p14"/>
          <p:cNvSpPr txBox="1"/>
          <p:nvPr/>
        </p:nvSpPr>
        <p:spPr>
          <a:xfrm>
            <a:off x="840625" y="4818975"/>
            <a:ext cx="30000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700"/>
              <a:t>https://www.klippa.com/blog/informatief/wat-is-chatgpt/</a:t>
            </a:r>
            <a:endParaRPr sz="7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nl" dirty="0"/>
              <a:t>Supervised/ unsupervised </a:t>
            </a:r>
            <a:br>
              <a:rPr lang="nl" dirty="0"/>
            </a:br>
            <a:r>
              <a:rPr lang="nl" dirty="0"/>
              <a:t>learning</a:t>
            </a:r>
            <a:endParaRPr dirty="0"/>
          </a:p>
        </p:txBody>
      </p:sp>
      <p:pic>
        <p:nvPicPr>
          <p:cNvPr id="2" name="Picture 2">
            <a:extLst>
              <a:ext uri="{FF2B5EF4-FFF2-40B4-BE49-F238E27FC236}">
                <a16:creationId xmlns:a16="http://schemas.microsoft.com/office/drawing/2014/main" id="{8E121719-F771-2369-C970-264F8D26B1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77" r="6779" b="2"/>
          <a:stretch/>
        </p:blipFill>
        <p:spPr bwMode="auto">
          <a:xfrm>
            <a:off x="4671911" y="10"/>
            <a:ext cx="4472089" cy="51434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nl" dirty="0"/>
              <a:t>Supervised learning</a:t>
            </a:r>
            <a:endParaRPr dirty="0"/>
          </a:p>
        </p:txBody>
      </p:sp>
      <p:sp>
        <p:nvSpPr>
          <p:cNvPr id="86" name="Google Shape;86;p17"/>
          <p:cNvSpPr txBox="1">
            <a:spLocks noGrp="1"/>
          </p:cNvSpPr>
          <p:nvPr>
            <p:ph type="body" idx="1"/>
          </p:nvPr>
        </p:nvSpPr>
        <p:spPr>
          <a:xfrm>
            <a:off x="240475" y="1159600"/>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endParaRPr dirty="0"/>
          </a:p>
          <a:p>
            <a:pPr marL="457200" lvl="0" indent="0" algn="l" rtl="0">
              <a:spcBef>
                <a:spcPts val="1200"/>
              </a:spcBef>
              <a:spcAft>
                <a:spcPts val="1200"/>
              </a:spcAft>
              <a:buNone/>
            </a:pPr>
            <a:endParaRPr dirty="0"/>
          </a:p>
        </p:txBody>
      </p:sp>
      <p:pic>
        <p:nvPicPr>
          <p:cNvPr id="3" name="Picture 2">
            <a:extLst>
              <a:ext uri="{FF2B5EF4-FFF2-40B4-BE49-F238E27FC236}">
                <a16:creationId xmlns:a16="http://schemas.microsoft.com/office/drawing/2014/main" id="{7062334B-26AF-4697-C819-61F97CDEFE89}"/>
              </a:ext>
            </a:extLst>
          </p:cNvPr>
          <p:cNvPicPr>
            <a:picLocks noChangeAspect="1"/>
          </p:cNvPicPr>
          <p:nvPr/>
        </p:nvPicPr>
        <p:blipFill>
          <a:blip r:embed="rId3"/>
          <a:stretch>
            <a:fillRect/>
          </a:stretch>
        </p:blipFill>
        <p:spPr>
          <a:xfrm>
            <a:off x="664076" y="1322849"/>
            <a:ext cx="3558549" cy="2853491"/>
          </a:xfrm>
          <a:prstGeom prst="rect">
            <a:avLst/>
          </a:prstGeom>
        </p:spPr>
      </p:pic>
      <p:pic>
        <p:nvPicPr>
          <p:cNvPr id="2" name="Google Shape;90;p17">
            <a:extLst>
              <a:ext uri="{FF2B5EF4-FFF2-40B4-BE49-F238E27FC236}">
                <a16:creationId xmlns:a16="http://schemas.microsoft.com/office/drawing/2014/main" id="{82FEBF44-63E6-4FB8-3912-0B4CCD2A2838}"/>
              </a:ext>
            </a:extLst>
          </p:cNvPr>
          <p:cNvPicPr preferRelativeResize="0"/>
          <p:nvPr/>
        </p:nvPicPr>
        <p:blipFill>
          <a:blip r:embed="rId4">
            <a:alphaModFix/>
          </a:blip>
          <a:stretch>
            <a:fillRect/>
          </a:stretch>
        </p:blipFill>
        <p:spPr>
          <a:xfrm>
            <a:off x="5225824" y="1699112"/>
            <a:ext cx="3606476" cy="1947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114300" lvl="0" algn="l" rtl="0">
              <a:spcBef>
                <a:spcPts val="0"/>
              </a:spcBef>
              <a:spcAft>
                <a:spcPts val="0"/>
              </a:spcAft>
              <a:buSzPts val="1800"/>
            </a:pPr>
            <a:r>
              <a:rPr lang="en-US" dirty="0"/>
              <a:t>Unsupervised learning</a:t>
            </a:r>
          </a:p>
        </p:txBody>
      </p:sp>
      <p:sp>
        <p:nvSpPr>
          <p:cNvPr id="105" name="Google Shape;105;p19"/>
          <p:cNvSpPr txBox="1">
            <a:spLocks noGrp="1"/>
          </p:cNvSpPr>
          <p:nvPr>
            <p:ph type="body" idx="1"/>
          </p:nvPr>
        </p:nvSpPr>
        <p:spPr>
          <a:xfrm>
            <a:off x="240475" y="1159600"/>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1200"/>
              </a:spcAft>
              <a:buNone/>
            </a:pPr>
            <a:endParaRPr dirty="0"/>
          </a:p>
        </p:txBody>
      </p:sp>
      <p:pic>
        <p:nvPicPr>
          <p:cNvPr id="107" name="Google Shape;107;p19" descr="Unsupervised Learning in ML"/>
          <p:cNvPicPr preferRelativeResize="0"/>
          <p:nvPr/>
        </p:nvPicPr>
        <p:blipFill>
          <a:blip r:embed="rId3">
            <a:alphaModFix/>
          </a:blip>
          <a:srcRect t="24769"/>
          <a:stretch/>
        </p:blipFill>
        <p:spPr>
          <a:xfrm>
            <a:off x="240475" y="2042654"/>
            <a:ext cx="5867349" cy="1650292"/>
          </a:xfrm>
          <a:prstGeom prst="rect">
            <a:avLst/>
          </a:prstGeom>
          <a:noFill/>
          <a:ln>
            <a:noFill/>
          </a:ln>
        </p:spPr>
      </p:pic>
      <p:pic>
        <p:nvPicPr>
          <p:cNvPr id="3" name="Picture 2">
            <a:extLst>
              <a:ext uri="{FF2B5EF4-FFF2-40B4-BE49-F238E27FC236}">
                <a16:creationId xmlns:a16="http://schemas.microsoft.com/office/drawing/2014/main" id="{8E9906DA-9E32-9545-BEFB-BA519AF3628F}"/>
              </a:ext>
            </a:extLst>
          </p:cNvPr>
          <p:cNvPicPr>
            <a:picLocks noChangeAspect="1"/>
          </p:cNvPicPr>
          <p:nvPr/>
        </p:nvPicPr>
        <p:blipFill>
          <a:blip r:embed="rId4"/>
          <a:stretch>
            <a:fillRect/>
          </a:stretch>
        </p:blipFill>
        <p:spPr>
          <a:xfrm>
            <a:off x="374179" y="0"/>
            <a:ext cx="8395641"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6" name="Google Shape;116;p20"/>
          <p:cNvPicPr preferRelativeResize="0"/>
          <p:nvPr/>
        </p:nvPicPr>
        <p:blipFill>
          <a:blip r:embed="rId3">
            <a:alphaModFix/>
          </a:blip>
          <a:stretch>
            <a:fillRect/>
          </a:stretch>
        </p:blipFill>
        <p:spPr>
          <a:xfrm>
            <a:off x="0" y="-1"/>
            <a:ext cx="9144000" cy="5143511"/>
          </a:xfrm>
          <a:prstGeom prst="rect">
            <a:avLst/>
          </a:prstGeom>
          <a:noFill/>
          <a:ln>
            <a:noFill/>
          </a:ln>
        </p:spPr>
      </p:pic>
      <p:sp>
        <p:nvSpPr>
          <p:cNvPr id="3" name="Title 2">
            <a:extLst>
              <a:ext uri="{FF2B5EF4-FFF2-40B4-BE49-F238E27FC236}">
                <a16:creationId xmlns:a16="http://schemas.microsoft.com/office/drawing/2014/main" id="{6D6B67F2-39A4-754D-7733-29FF90F930FD}"/>
              </a:ext>
            </a:extLst>
          </p:cNvPr>
          <p:cNvSpPr>
            <a:spLocks noGrp="1"/>
          </p:cNvSpPr>
          <p:nvPr>
            <p:ph type="title"/>
          </p:nvPr>
        </p:nvSpPr>
        <p:spPr/>
        <p:txBody>
          <a:bodyPr>
            <a:normAutofit fontScale="90000"/>
          </a:bodyPr>
          <a:lstStyle/>
          <a:p>
            <a:endParaRPr lang="en-US"/>
          </a:p>
        </p:txBody>
      </p:sp>
      <p:sp>
        <p:nvSpPr>
          <p:cNvPr id="5" name="Text Placeholder 4">
            <a:extLst>
              <a:ext uri="{FF2B5EF4-FFF2-40B4-BE49-F238E27FC236}">
                <a16:creationId xmlns:a16="http://schemas.microsoft.com/office/drawing/2014/main" id="{DA3029EC-A270-B5EF-0C33-1E9182511C31}"/>
              </a:ext>
            </a:extLst>
          </p:cNvPr>
          <p:cNvSpPr>
            <a:spLocks noGrp="1"/>
          </p:cNvSpPr>
          <p:nvPr>
            <p:ph type="body" idx="1"/>
          </p:nvPr>
        </p:nvSpPr>
        <p:spPr/>
        <p:txBody>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nl" dirty="0"/>
              <a:t>Hoe ziet de computer een beeld?</a:t>
            </a:r>
            <a:endParaRPr dirty="0"/>
          </a:p>
        </p:txBody>
      </p:sp>
      <p:sp>
        <p:nvSpPr>
          <p:cNvPr id="137" name="Google Shape;137;p23"/>
          <p:cNvSpPr txBox="1">
            <a:spLocks noGrp="1"/>
          </p:cNvSpPr>
          <p:nvPr>
            <p:ph type="body" idx="1"/>
          </p:nvPr>
        </p:nvSpPr>
        <p:spPr>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endParaRPr dirty="0"/>
          </a:p>
        </p:txBody>
      </p:sp>
      <p:pic>
        <p:nvPicPr>
          <p:cNvPr id="3" name="Picture 2">
            <a:extLst>
              <a:ext uri="{FF2B5EF4-FFF2-40B4-BE49-F238E27FC236}">
                <a16:creationId xmlns:a16="http://schemas.microsoft.com/office/drawing/2014/main" id="{3F0F0D46-5D2A-A75A-7F96-48BF1B111DCD}"/>
              </a:ext>
            </a:extLst>
          </p:cNvPr>
          <p:cNvPicPr>
            <a:picLocks noChangeAspect="1"/>
          </p:cNvPicPr>
          <p:nvPr/>
        </p:nvPicPr>
        <p:blipFill>
          <a:blip r:embed="rId3"/>
          <a:srcRect l="1772" t="51929" r="77465"/>
          <a:stretch/>
        </p:blipFill>
        <p:spPr>
          <a:xfrm>
            <a:off x="6998967" y="1098516"/>
            <a:ext cx="1411537" cy="3019618"/>
          </a:xfrm>
          <a:prstGeom prst="rect">
            <a:avLst/>
          </a:prstGeom>
        </p:spPr>
      </p:pic>
      <p:pic>
        <p:nvPicPr>
          <p:cNvPr id="6" name="Picture 5">
            <a:extLst>
              <a:ext uri="{FF2B5EF4-FFF2-40B4-BE49-F238E27FC236}">
                <a16:creationId xmlns:a16="http://schemas.microsoft.com/office/drawing/2014/main" id="{680FC157-CAB8-988C-864D-A08FD819F590}"/>
              </a:ext>
            </a:extLst>
          </p:cNvPr>
          <p:cNvPicPr>
            <a:picLocks noChangeAspect="1"/>
          </p:cNvPicPr>
          <p:nvPr/>
        </p:nvPicPr>
        <p:blipFill>
          <a:blip r:embed="rId4"/>
          <a:stretch>
            <a:fillRect/>
          </a:stretch>
        </p:blipFill>
        <p:spPr>
          <a:xfrm>
            <a:off x="159760" y="1152475"/>
            <a:ext cx="6687267" cy="3162257"/>
          </a:xfrm>
          <a:prstGeom prst="rect">
            <a:avLst/>
          </a:prstGeom>
        </p:spPr>
      </p:pic>
      <p:sp>
        <p:nvSpPr>
          <p:cNvPr id="7" name="Rectangle 6">
            <a:extLst>
              <a:ext uri="{FF2B5EF4-FFF2-40B4-BE49-F238E27FC236}">
                <a16:creationId xmlns:a16="http://schemas.microsoft.com/office/drawing/2014/main" id="{2FCA7FCA-B8F8-09DB-95A6-D16358235F78}"/>
              </a:ext>
            </a:extLst>
          </p:cNvPr>
          <p:cNvSpPr/>
          <p:nvPr/>
        </p:nvSpPr>
        <p:spPr>
          <a:xfrm>
            <a:off x="240632" y="935026"/>
            <a:ext cx="8387729" cy="17600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DD81-FAA5-4E2F-0894-71B2BC3F9A46}"/>
              </a:ext>
            </a:extLst>
          </p:cNvPr>
          <p:cNvSpPr>
            <a:spLocks noGrp="1"/>
          </p:cNvSpPr>
          <p:nvPr>
            <p:ph type="title"/>
          </p:nvPr>
        </p:nvSpPr>
        <p:spPr/>
        <p:txBody>
          <a:bodyPr>
            <a:normAutofit fontScale="90000"/>
          </a:bodyPr>
          <a:lstStyle/>
          <a:p>
            <a:r>
              <a:rPr lang="en-GB" dirty="0" err="1"/>
              <a:t>Convolutie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F2DE0A2-EC36-2787-3A08-AD4224BDA8E2}"/>
                  </a:ext>
                </a:extLst>
              </p:cNvPr>
              <p:cNvSpPr>
                <a:spLocks noGrp="1"/>
              </p:cNvSpPr>
              <p:nvPr>
                <p:ph type="body" idx="1"/>
              </p:nvPr>
            </p:nvSpPr>
            <p:spPr/>
            <p:txBody>
              <a:bodyPr>
                <a:normAutofit fontScale="85000" lnSpcReduction="20000"/>
              </a:bodyPr>
              <a:lstStyle/>
              <a:p>
                <a:r>
                  <a:rPr lang="en-US" dirty="0"/>
                  <a:t>Beeld </a:t>
                </a:r>
                <a14:m>
                  <m:oMath xmlns:m="http://schemas.openxmlformats.org/officeDocument/2006/math">
                    <m:r>
                      <a:rPr lang="en-US" i="1" dirty="0" smtClean="0">
                        <a:latin typeface="Cambria Math" panose="02040503050406030204" pitchFamily="18" charset="0"/>
                      </a:rPr>
                      <m:t>𝐼</m:t>
                    </m:r>
                  </m:oMath>
                </a14:m>
                <a:r>
                  <a:rPr lang="en-US" dirty="0"/>
                  <a:t>: </a:t>
                </a:r>
                <a:endParaRPr lang="en-GB"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m:t>
                      </m:r>
                      <m:d>
                        <m:dPr>
                          <m:begChr m:val="["/>
                          <m:endChr m:val="]"/>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m:rPr>
                                        <m:brk m:alnAt="7"/>
                                      </m:rPr>
                                      <a:rPr lang="en-GB" b="0" i="1" smtClean="0">
                                        <a:latin typeface="Cambria Math" panose="02040503050406030204" pitchFamily="18" charset="0"/>
                                      </a:rPr>
                                      <m:t>1</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1</m:t>
                                    </m:r>
                                    <m:r>
                                      <a:rPr lang="en-GB" b="0" i="1" smtClean="0">
                                        <a:latin typeface="Cambria Math" panose="02040503050406030204" pitchFamily="18" charset="0"/>
                                      </a:rPr>
                                      <m:t>𝑛</m:t>
                                    </m:r>
                                  </m:sub>
                                </m:sSub>
                              </m:e>
                            </m:mr>
                            <m:mr>
                              <m:e>
                                <m:r>
                                  <a:rPr lang="en-GB" i="1" smtClean="0">
                                    <a:latin typeface="Cambria Math" panose="02040503050406030204" pitchFamily="18" charset="0"/>
                                  </a:rPr>
                                  <m:t>⋮</m:t>
                                </m:r>
                              </m:e>
                              <m:e>
                                <m:r>
                                  <a:rPr lang="en-GB" i="1" smtClean="0">
                                    <a:latin typeface="Cambria Math" panose="02040503050406030204" pitchFamily="18" charset="0"/>
                                  </a:rPr>
                                  <m:t>⋱</m:t>
                                </m:r>
                              </m:e>
                              <m:e>
                                <m:r>
                                  <a:rPr lang="en-GB" i="1" smtClean="0">
                                    <a:latin typeface="Cambria Math" panose="02040503050406030204" pitchFamily="18" charset="0"/>
                                  </a:rPr>
                                  <m:t>⋮</m:t>
                                </m:r>
                              </m:e>
                            </m:m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𝑛</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rPr>
                                      <m:t>𝑛𝑛</m:t>
                                    </m:r>
                                  </m:sub>
                                </m:sSub>
                              </m:e>
                            </m:mr>
                          </m:m>
                        </m:e>
                      </m:d>
                    </m:oMath>
                  </m:oMathPara>
                </a14:m>
                <a:endParaRPr lang="en-US" dirty="0"/>
              </a:p>
              <a:p>
                <a:pPr marL="114300" indent="0">
                  <a:buNone/>
                </a:pPr>
                <a:endParaRPr lang="en-GB" dirty="0"/>
              </a:p>
              <a:p>
                <a:r>
                  <a:rPr lang="en-GB" dirty="0"/>
                  <a:t>Kernel: </a:t>
                </a:r>
                <a:r>
                  <a:rPr lang="en-GB" dirty="0" err="1"/>
                  <a:t>een</a:t>
                </a:r>
                <a:r>
                  <a:rPr lang="en-GB" dirty="0"/>
                  <a:t> </a:t>
                </a:r>
                <a:r>
                  <a:rPr lang="en-GB" dirty="0" err="1"/>
                  <a:t>kleine</a:t>
                </a:r>
                <a:r>
                  <a:rPr lang="en-GB" dirty="0"/>
                  <a:t> matrix</a:t>
                </a:r>
              </a:p>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begChr m:val="["/>
                          <m:endChr m:val="]"/>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b>
                                  <m:sSubPr>
                                    <m:ctrlPr>
                                      <a:rPr lang="en-GB" b="0" i="1" smtClean="0">
                                        <a:latin typeface="Cambria Math" panose="02040503050406030204" pitchFamily="18" charset="0"/>
                                      </a:rPr>
                                    </m:ctrlPr>
                                  </m:sSubPr>
                                  <m:e>
                                    <m:r>
                                      <m:rPr>
                                        <m:brk m:alnAt="7"/>
                                      </m:rPr>
                                      <a:rPr lang="en-GB" b="0" i="1" smtClean="0">
                                        <a:latin typeface="Cambria Math" panose="02040503050406030204" pitchFamily="18" charset="0"/>
                                      </a:rPr>
                                      <m:t>𝑤</m:t>
                                    </m:r>
                                  </m:e>
                                  <m:sub>
                                    <m:r>
                                      <m:rPr>
                                        <m:brk m:alnAt="7"/>
                                      </m:rPr>
                                      <a:rPr lang="en-GB" b="0" i="1" smtClean="0">
                                        <a:latin typeface="Cambria Math" panose="02040503050406030204" pitchFamily="18" charset="0"/>
                                      </a:rPr>
                                      <m:t>1</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1</m:t>
                                    </m:r>
                                    <m:r>
                                      <a:rPr lang="en-GB" b="0" i="1" smtClean="0">
                                        <a:latin typeface="Cambria Math" panose="02040503050406030204" pitchFamily="18" charset="0"/>
                                      </a:rPr>
                                      <m:t>𝑘</m:t>
                                    </m:r>
                                  </m:sub>
                                </m:sSub>
                              </m:e>
                            </m:mr>
                            <m:mr>
                              <m:e>
                                <m:r>
                                  <a:rPr lang="en-GB" i="1" smtClean="0">
                                    <a:latin typeface="Cambria Math" panose="02040503050406030204" pitchFamily="18" charset="0"/>
                                  </a:rPr>
                                  <m:t>⋮</m:t>
                                </m:r>
                              </m:e>
                              <m:e>
                                <m:r>
                                  <a:rPr lang="en-GB" i="1" smtClean="0">
                                    <a:latin typeface="Cambria Math" panose="02040503050406030204" pitchFamily="18" charset="0"/>
                                  </a:rPr>
                                  <m:t>⋱</m:t>
                                </m:r>
                              </m:e>
                              <m:e>
                                <m:r>
                                  <a:rPr lang="en-GB" i="1" smtClean="0">
                                    <a:latin typeface="Cambria Math" panose="02040503050406030204" pitchFamily="18" charset="0"/>
                                  </a:rPr>
                                  <m:t>⋮</m:t>
                                </m:r>
                              </m:e>
                            </m:m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𝑘𝑘</m:t>
                                    </m:r>
                                  </m:sub>
                                </m:sSub>
                              </m:e>
                            </m:mr>
                          </m:m>
                        </m:e>
                      </m:d>
                    </m:oMath>
                  </m:oMathPara>
                </a14:m>
                <a:endParaRPr lang="en-GB" dirty="0"/>
              </a:p>
              <a:p>
                <a:pPr marL="114300" indent="0">
                  <a:buNone/>
                </a:pPr>
                <a:endParaRPr lang="en-US" dirty="0"/>
              </a:p>
              <a:p>
                <a:r>
                  <a:rPr lang="en-US" dirty="0"/>
                  <a:t>Feature map</a:t>
                </a:r>
              </a:p>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e>
                      </m:d>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𝑥</m:t>
                          </m:r>
                          <m:r>
                            <a:rPr lang="en-GB" b="0" i="1" smtClean="0">
                              <a:latin typeface="Cambria Math" panose="02040503050406030204" pitchFamily="18" charset="0"/>
                            </a:rPr>
                            <m:t>=1</m:t>
                          </m:r>
                        </m:sub>
                        <m:sup>
                          <m:r>
                            <a:rPr lang="en-GB" b="0" i="1" smtClean="0">
                              <a:latin typeface="Cambria Math" panose="02040503050406030204" pitchFamily="18" charset="0"/>
                            </a:rPr>
                            <m:t>𝑘</m:t>
                          </m:r>
                        </m:sup>
                        <m:e>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𝑦</m:t>
                              </m:r>
                              <m:r>
                                <a:rPr lang="en-GB" b="0" i="1" smtClean="0">
                                  <a:latin typeface="Cambria Math" panose="02040503050406030204" pitchFamily="18" charset="0"/>
                                </a:rPr>
                                <m:t>=1</m:t>
                              </m:r>
                            </m:sub>
                            <m:sup>
                              <m:r>
                                <a:rPr lang="en-GB" b="0" i="1" smtClean="0">
                                  <a:latin typeface="Cambria Math" panose="02040503050406030204" pitchFamily="18" charset="0"/>
                                </a:rPr>
                                <m:t>𝑘</m:t>
                              </m:r>
                            </m:sup>
                            <m:e>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𝑥</m:t>
                                  </m:r>
                                  <m:r>
                                    <a:rPr lang="en-GB" b="0" i="1" smtClean="0">
                                      <a:latin typeface="Cambria Math" panose="02040503050406030204" pitchFamily="18" charset="0"/>
                                    </a:rPr>
                                    <m:t>,</m:t>
                                  </m:r>
                                  <m:r>
                                    <a:rPr lang="en-GB" i="1">
                                      <a:latin typeface="Cambria Math" panose="02040503050406030204" pitchFamily="18" charset="0"/>
                                    </a:rPr>
                                    <m:t>𝑦</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𝑥</m:t>
                                  </m:r>
                                  <m:r>
                                    <a:rPr lang="en-GB" b="0" i="1" smtClean="0">
                                      <a:latin typeface="Cambria Math" panose="02040503050406030204" pitchFamily="18" charset="0"/>
                                    </a:rPr>
                                    <m:t>−1</m:t>
                                  </m:r>
                                  <m:r>
                                    <a:rPr lang="en-GB" i="1">
                                      <a:latin typeface="Cambria Math" panose="02040503050406030204" pitchFamily="18" charset="0"/>
                                    </a:rPr>
                                    <m:t>,</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𝑦</m:t>
                                  </m:r>
                                  <m:r>
                                    <a:rPr lang="en-GB" b="0" i="1" smtClean="0">
                                      <a:latin typeface="Cambria Math" panose="02040503050406030204" pitchFamily="18" charset="0"/>
                                    </a:rPr>
                                    <m:t>−1</m:t>
                                  </m:r>
                                </m:sub>
                              </m:sSub>
                            </m:e>
                          </m:nary>
                        </m:e>
                      </m:nary>
                    </m:oMath>
                  </m:oMathPara>
                </a14:m>
                <a:endParaRPr lang="en-US" dirty="0"/>
              </a:p>
            </p:txBody>
          </p:sp>
        </mc:Choice>
        <mc:Fallback xmlns="">
          <p:sp>
            <p:nvSpPr>
              <p:cNvPr id="3" name="Text Placeholder 2">
                <a:extLst>
                  <a:ext uri="{FF2B5EF4-FFF2-40B4-BE49-F238E27FC236}">
                    <a16:creationId xmlns:a16="http://schemas.microsoft.com/office/drawing/2014/main" id="{0F2DE0A2-EC36-2787-3A08-AD4224BDA8E2}"/>
                  </a:ext>
                </a:extLst>
              </p:cNvPr>
              <p:cNvSpPr>
                <a:spLocks noGrp="1" noRot="1" noChangeAspect="1" noMove="1" noResize="1" noEditPoints="1" noAdjustHandles="1" noChangeArrowheads="1" noChangeShapeType="1" noTextEdit="1"/>
              </p:cNvSpPr>
              <p:nvPr>
                <p:ph type="body" idx="1"/>
              </p:nvPr>
            </p:nvSpPr>
            <p:spPr>
              <a:blipFill>
                <a:blip r:embed="rId2"/>
                <a:stretch>
                  <a:fillRect t="-1964"/>
                </a:stretch>
              </a:blipFill>
            </p:spPr>
            <p:txBody>
              <a:bodyPr/>
              <a:lstStyle/>
              <a:p>
                <a:r>
                  <a:rPr lang="en-US">
                    <a:noFill/>
                  </a:rPr>
                  <a:t> </a:t>
                </a:r>
              </a:p>
            </p:txBody>
          </p:sp>
        </mc:Fallback>
      </mc:AlternateContent>
    </p:spTree>
    <p:extLst>
      <p:ext uri="{BB962C8B-B14F-4D97-AF65-F5344CB8AC3E}">
        <p14:creationId xmlns:p14="http://schemas.microsoft.com/office/powerpoint/2010/main" val="3208753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EDBD-A47E-0AB9-5A16-99AA91C9392C}"/>
              </a:ext>
            </a:extLst>
          </p:cNvPr>
          <p:cNvSpPr>
            <a:spLocks noGrp="1"/>
          </p:cNvSpPr>
          <p:nvPr>
            <p:ph type="title"/>
          </p:nvPr>
        </p:nvSpPr>
        <p:spPr/>
        <p:txBody>
          <a:bodyPr>
            <a:normAutofit fontScale="90000"/>
          </a:bodyPr>
          <a:lstStyle/>
          <a:p>
            <a:r>
              <a:rPr lang="en-GB" dirty="0" err="1"/>
              <a:t>Convolutie</a:t>
            </a:r>
            <a:endParaRPr lang="en-US" dirty="0"/>
          </a:p>
        </p:txBody>
      </p:sp>
      <p:pic>
        <p:nvPicPr>
          <p:cNvPr id="5122" name="Picture 2">
            <a:extLst>
              <a:ext uri="{FF2B5EF4-FFF2-40B4-BE49-F238E27FC236}">
                <a16:creationId xmlns:a16="http://schemas.microsoft.com/office/drawing/2014/main" id="{2863619C-AD01-5397-B256-71F55E7195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4024" y="181472"/>
            <a:ext cx="6099925" cy="4962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890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199D8-F8AE-237B-CED4-715244DF3B8E}"/>
              </a:ext>
            </a:extLst>
          </p:cNvPr>
          <p:cNvSpPr>
            <a:spLocks noGrp="1"/>
          </p:cNvSpPr>
          <p:nvPr>
            <p:ph type="title"/>
          </p:nvPr>
        </p:nvSpPr>
        <p:spPr/>
        <p:txBody>
          <a:bodyPr>
            <a:normAutofit fontScale="90000"/>
          </a:bodyPr>
          <a:lstStyle/>
          <a:p>
            <a:r>
              <a:rPr lang="en-GB" dirty="0" err="1"/>
              <a:t>Grootte</a:t>
            </a:r>
            <a:r>
              <a:rPr lang="en-GB" dirty="0"/>
              <a:t> output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A4B844E-FA33-A021-F26E-9C1B39E1413E}"/>
                  </a:ext>
                </a:extLst>
              </p:cNvPr>
              <p:cNvSpPr>
                <a:spLocks noGrp="1"/>
              </p:cNvSpPr>
              <p:nvPr>
                <p:ph type="body" idx="1"/>
              </p:nvPr>
            </p:nvSpPr>
            <p:spPr/>
            <p:txBody>
              <a:bodyPr/>
              <a:lstStyle/>
              <a:p>
                <a:pPr marL="114300" indent="0">
                  <a:buNone/>
                </a:pPr>
                <a:r>
                  <a:rPr lang="en-GB" dirty="0"/>
                  <a:t>Als je </a:t>
                </a:r>
                <a:r>
                  <a:rPr lang="en-GB" dirty="0" err="1"/>
                  <a:t>beeld</a:t>
                </a:r>
                <a:r>
                  <a:rPr lang="en-GB" dirty="0"/>
                  <a:t> </a:t>
                </a:r>
                <a14:m>
                  <m:oMath xmlns:m="http://schemas.openxmlformats.org/officeDocument/2006/math">
                    <m:r>
                      <a:rPr lang="en-GB" i="1" dirty="0" smtClean="0">
                        <a:latin typeface="Cambria Math" panose="02040503050406030204" pitchFamily="18" charset="0"/>
                      </a:rPr>
                      <m:t>𝑛</m:t>
                    </m:r>
                    <m:r>
                      <a:rPr lang="en-GB" i="1" dirty="0" smtClean="0">
                        <a:latin typeface="Cambria Math" panose="02040503050406030204" pitchFamily="18" charset="0"/>
                        <a:ea typeface="Cambria Math" panose="02040503050406030204" pitchFamily="18" charset="0"/>
                      </a:rPr>
                      <m:t>×</m:t>
                    </m:r>
                    <m:r>
                      <a:rPr lang="en-GB" i="1" dirty="0" smtClean="0">
                        <a:latin typeface="Cambria Math" panose="02040503050406030204" pitchFamily="18" charset="0"/>
                      </a:rPr>
                      <m:t>𝑛</m:t>
                    </m:r>
                    <m:r>
                      <a:rPr lang="en-GB" i="1" dirty="0" smtClean="0">
                        <a:latin typeface="Cambria Math" panose="02040503050406030204" pitchFamily="18" charset="0"/>
                      </a:rPr>
                      <m:t> </m:t>
                    </m:r>
                  </m:oMath>
                </a14:m>
                <a:r>
                  <a:rPr lang="en-GB" dirty="0"/>
                  <a:t>is </a:t>
                </a:r>
                <a:r>
                  <a:rPr lang="en-GB" dirty="0" err="1"/>
                  <a:t>en</a:t>
                </a:r>
                <a:r>
                  <a:rPr lang="en-GB" dirty="0"/>
                  <a:t> je kernel </a:t>
                </a:r>
                <a14:m>
                  <m:oMath xmlns:m="http://schemas.openxmlformats.org/officeDocument/2006/math">
                    <m:r>
                      <a:rPr lang="en-GB" i="1" dirty="0" smtClean="0">
                        <a:latin typeface="Cambria Math" panose="02040503050406030204" pitchFamily="18" charset="0"/>
                      </a:rPr>
                      <m:t> </m:t>
                    </m:r>
                    <m:r>
                      <a:rPr lang="en-GB" b="0" i="1" dirty="0" smtClean="0">
                        <a:latin typeface="Cambria Math" panose="02040503050406030204" pitchFamily="18" charset="0"/>
                      </a:rPr>
                      <m:t>𝑘</m:t>
                    </m:r>
                    <m:r>
                      <a:rPr lang="en-GB" i="1" dirty="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rPr>
                      <m:t>𝑘</m:t>
                    </m:r>
                    <m:r>
                      <a:rPr lang="en-GB" i="1" dirty="0" smtClean="0">
                        <a:latin typeface="Cambria Math" panose="02040503050406030204" pitchFamily="18" charset="0"/>
                      </a:rPr>
                      <m:t> </m:t>
                    </m:r>
                  </m:oMath>
                </a14:m>
                <a:r>
                  <a:rPr lang="en-GB" dirty="0"/>
                  <a:t>pixels, hoe </a:t>
                </a:r>
                <a:r>
                  <a:rPr lang="en-GB" dirty="0" err="1"/>
                  <a:t>groot</a:t>
                </a:r>
                <a:r>
                  <a:rPr lang="en-GB" dirty="0"/>
                  <a:t> is dan de output </a:t>
                </a:r>
                <a:r>
                  <a:rPr lang="en-GB" dirty="0" err="1"/>
                  <a:t>na</a:t>
                </a:r>
                <a:r>
                  <a:rPr lang="en-GB" dirty="0"/>
                  <a:t> </a:t>
                </a:r>
                <a:r>
                  <a:rPr lang="en-GB" dirty="0" err="1"/>
                  <a:t>convolutie</a:t>
                </a:r>
                <a:r>
                  <a:rPr lang="en-GB" dirty="0"/>
                  <a:t>?</a:t>
                </a:r>
              </a:p>
              <a:p>
                <a:pPr marL="114300" indent="0">
                  <a:buNone/>
                </a:pPr>
                <a:endParaRPr lang="en-GB" dirty="0"/>
              </a:p>
              <a:p>
                <a:pPr marL="571500" indent="-457200">
                  <a:buAutoNum type="alphaLcParenR"/>
                </a:pPr>
                <a14:m>
                  <m:oMath xmlns:m="http://schemas.openxmlformats.org/officeDocument/2006/math">
                    <m:r>
                      <a:rPr lang="en-GB" i="1" dirty="0" smtClean="0">
                        <a:latin typeface="Cambria Math" panose="02040503050406030204" pitchFamily="18" charset="0"/>
                      </a:rPr>
                      <m:t>𝑛</m:t>
                    </m:r>
                    <m:r>
                      <a:rPr lang="en-GB" i="1" dirty="0" smtClean="0">
                        <a:latin typeface="Cambria Math" panose="02040503050406030204" pitchFamily="18" charset="0"/>
                        <a:ea typeface="Cambria Math" panose="02040503050406030204" pitchFamily="18" charset="0"/>
                      </a:rPr>
                      <m:t>×</m:t>
                    </m:r>
                    <m:r>
                      <a:rPr lang="en-GB" i="1" dirty="0" smtClean="0">
                        <a:latin typeface="Cambria Math" panose="02040503050406030204" pitchFamily="18" charset="0"/>
                      </a:rPr>
                      <m:t>𝑛</m:t>
                    </m:r>
                    <m:r>
                      <a:rPr lang="en-GB" i="1" dirty="0" smtClean="0">
                        <a:latin typeface="Cambria Math" panose="02040503050406030204" pitchFamily="18" charset="0"/>
                      </a:rPr>
                      <m:t> </m:t>
                    </m:r>
                  </m:oMath>
                </a14:m>
                <a:endParaRPr lang="en-US" dirty="0"/>
              </a:p>
              <a:p>
                <a:pPr marL="571500" indent="-457200">
                  <a:buAutoNum type="alphaLcParenR"/>
                </a:pPr>
                <a14:m>
                  <m:oMath xmlns:m="http://schemas.openxmlformats.org/officeDocument/2006/math">
                    <m:r>
                      <a:rPr lang="en-GB" b="0" i="1" dirty="0" smtClean="0">
                        <a:latin typeface="Cambria Math" panose="02040503050406030204" pitchFamily="18" charset="0"/>
                      </a:rPr>
                      <m:t>𝑘</m:t>
                    </m:r>
                    <m:r>
                      <a:rPr lang="en-GB"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𝑘</m:t>
                    </m:r>
                  </m:oMath>
                </a14:m>
                <a:endParaRPr lang="en-US" dirty="0"/>
              </a:p>
              <a:p>
                <a:pPr marL="571500" indent="-457200">
                  <a:buAutoNum type="alphaLcParenR"/>
                </a:pPr>
                <a14:m>
                  <m:oMath xmlns:m="http://schemas.openxmlformats.org/officeDocument/2006/math">
                    <m:r>
                      <a:rPr lang="en-GB" i="1" dirty="0" smtClean="0">
                        <a:latin typeface="Cambria Math" panose="02040503050406030204" pitchFamily="18" charset="0"/>
                      </a:rPr>
                      <m:t>𝑛</m:t>
                    </m:r>
                    <m:r>
                      <a:rPr lang="en-GB" b="0" i="1" dirty="0" smtClean="0">
                        <a:latin typeface="Cambria Math" panose="02040503050406030204" pitchFamily="18" charset="0"/>
                      </a:rPr>
                      <m:t>−</m:t>
                    </m:r>
                    <m:r>
                      <a:rPr lang="en-GB" b="0" i="1" dirty="0" smtClean="0">
                        <a:latin typeface="Cambria Math" panose="02040503050406030204" pitchFamily="18" charset="0"/>
                      </a:rPr>
                      <m:t>𝑘</m:t>
                    </m:r>
                    <m:r>
                      <a:rPr lang="en-GB" i="1" dirty="0" smtClean="0">
                        <a:latin typeface="Cambria Math" panose="02040503050406030204" pitchFamily="18" charset="0"/>
                        <a:ea typeface="Cambria Math" panose="02040503050406030204" pitchFamily="18" charset="0"/>
                      </a:rPr>
                      <m:t>×</m:t>
                    </m:r>
                    <m:r>
                      <a:rPr lang="en-GB" i="1" dirty="0" smtClean="0">
                        <a:latin typeface="Cambria Math" panose="02040503050406030204" pitchFamily="18" charset="0"/>
                      </a:rPr>
                      <m:t>𝑛</m:t>
                    </m:r>
                    <m:r>
                      <a:rPr lang="en-GB" b="0" i="1" dirty="0" smtClean="0">
                        <a:latin typeface="Cambria Math" panose="02040503050406030204" pitchFamily="18" charset="0"/>
                      </a:rPr>
                      <m:t>−</m:t>
                    </m:r>
                    <m:r>
                      <a:rPr lang="en-GB" b="0" i="1" dirty="0" smtClean="0">
                        <a:latin typeface="Cambria Math" panose="02040503050406030204" pitchFamily="18" charset="0"/>
                      </a:rPr>
                      <m:t>𝑘</m:t>
                    </m:r>
                  </m:oMath>
                </a14:m>
                <a:endParaRPr lang="en-US" dirty="0"/>
              </a:p>
            </p:txBody>
          </p:sp>
        </mc:Choice>
        <mc:Fallback xmlns="">
          <p:sp>
            <p:nvSpPr>
              <p:cNvPr id="3" name="Text Placeholder 2">
                <a:extLst>
                  <a:ext uri="{FF2B5EF4-FFF2-40B4-BE49-F238E27FC236}">
                    <a16:creationId xmlns:a16="http://schemas.microsoft.com/office/drawing/2014/main" id="{6A4B844E-FA33-A021-F26E-9C1B39E1413E}"/>
                  </a:ext>
                </a:extLst>
              </p:cNvPr>
              <p:cNvSpPr>
                <a:spLocks noGrp="1" noRot="1" noChangeAspect="1" noMove="1" noResize="1" noEditPoints="1" noAdjustHandles="1" noChangeArrowheads="1" noChangeShapeType="1" noTextEdit="1"/>
              </p:cNvSpPr>
              <p:nvPr>
                <p:ph type="body" idx="1"/>
              </p:nvPr>
            </p:nvSpPr>
            <p:spPr>
              <a:blipFill>
                <a:blip r:embed="rId2"/>
                <a:stretch>
                  <a:fillRect t="-893"/>
                </a:stretch>
              </a:blipFill>
            </p:spPr>
            <p:txBody>
              <a:bodyPr/>
              <a:lstStyle/>
              <a:p>
                <a:r>
                  <a:rPr lang="en-US">
                    <a:noFill/>
                  </a:rPr>
                  <a:t> </a:t>
                </a:r>
              </a:p>
            </p:txBody>
          </p:sp>
        </mc:Fallback>
      </mc:AlternateContent>
    </p:spTree>
    <p:extLst>
      <p:ext uri="{BB962C8B-B14F-4D97-AF65-F5344CB8AC3E}">
        <p14:creationId xmlns:p14="http://schemas.microsoft.com/office/powerpoint/2010/main" val="369113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CD42-9827-709F-2549-045F6CAA3BAC}"/>
              </a:ext>
            </a:extLst>
          </p:cNvPr>
          <p:cNvSpPr>
            <a:spLocks noGrp="1"/>
          </p:cNvSpPr>
          <p:nvPr>
            <p:ph type="title"/>
          </p:nvPr>
        </p:nvSpPr>
        <p:spPr/>
        <p:txBody>
          <a:bodyPr>
            <a:normAutofit fontScale="90000"/>
          </a:bodyPr>
          <a:lstStyle/>
          <a:p>
            <a:r>
              <a:rPr lang="en-GB" dirty="0" err="1"/>
              <a:t>Voorbeeld</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E161672-A693-0640-9995-8B29785DD200}"/>
                  </a:ext>
                </a:extLst>
              </p:cNvPr>
              <p:cNvSpPr>
                <a:spLocks noGrp="1"/>
              </p:cNvSpPr>
              <p:nvPr>
                <p:ph type="body" idx="1"/>
              </p:nvPr>
            </p:nvSpPr>
            <p:spPr/>
            <p:txBody>
              <a:bodyPr/>
              <a:lstStyle/>
              <a:p>
                <a:pPr marL="114300" indent="0">
                  <a:buNone/>
                </a:pPr>
                <a14:m>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m>
                          <m:mPr>
                            <m:mcs>
                              <m:mc>
                                <m:mcPr>
                                  <m:count m:val="3"/>
                                  <m:mcJc m:val="center"/>
                                </m:mcPr>
                              </m:mc>
                            </m:mcs>
                            <m:ctrlPr>
                              <a:rPr lang="en-GB" i="1">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
                      </m:e>
                    </m:d>
                  </m:oMath>
                </a14:m>
                <a:r>
                  <a:rPr lang="en-US" dirty="0"/>
                  <a:t>, </a:t>
                </a: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1   1</m:t>
                              </m:r>
                            </m:e>
                            <m:e>
                              <m:r>
                                <a:rPr lang="en-GB" b="0" i="1" smtClean="0">
                                  <a:latin typeface="Cambria Math" panose="02040503050406030204" pitchFamily="18" charset="0"/>
                                </a:rPr>
                                <m:t>0   0   </m:t>
                              </m:r>
                              <m:r>
                                <a:rPr lang="en-GB" i="1">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1   1</m:t>
                              </m:r>
                            </m:e>
                            <m:e>
                              <m:r>
                                <a:rPr lang="en-GB" b="0" i="1" smtClean="0">
                                  <a:latin typeface="Cambria Math" panose="02040503050406030204" pitchFamily="18" charset="0"/>
                                </a:rPr>
                                <m:t>0   0   </m:t>
                              </m:r>
                              <m:r>
                                <a:rPr lang="en-GB" i="1">
                                  <a:latin typeface="Cambria Math" panose="02040503050406030204" pitchFamily="18" charset="0"/>
                                </a:rPr>
                                <m:t>0</m:t>
                              </m:r>
                            </m:e>
                          </m:mr>
                          <m:mr>
                            <m:e>
                              <m:eqArr>
                                <m:eqArrPr>
                                  <m:ctrlPr>
                                    <a:rPr lang="en-GB" b="0" i="1" smtClean="0">
                                      <a:latin typeface="Cambria Math" panose="02040503050406030204" pitchFamily="18" charset="0"/>
                                    </a:rPr>
                                  </m:ctrlPr>
                                </m:eqArrPr>
                                <m:e>
                                  <m:eqArr>
                                    <m:eqArrPr>
                                      <m:ctrlPr>
                                        <a:rPr lang="en-GB" b="0" i="1" smtClean="0">
                                          <a:latin typeface="Cambria Math" panose="02040503050406030204" pitchFamily="18" charset="0"/>
                                        </a:rPr>
                                      </m:ctrlPr>
                                    </m:eqArrPr>
                                    <m:e>
                                      <m:r>
                                        <a:rPr lang="en-GB" b="0" i="1" smtClean="0">
                                          <a:latin typeface="Cambria Math" panose="02040503050406030204" pitchFamily="18" charset="0"/>
                                        </a:rPr>
                                        <m:t>1</m:t>
                                      </m:r>
                                    </m:e>
                                    <m:e>
                                      <m:r>
                                        <a:rPr lang="en-GB" b="0" i="1" smtClean="0">
                                          <a:latin typeface="Cambria Math" panose="02040503050406030204" pitchFamily="18" charset="0"/>
                                        </a:rPr>
                                        <m:t>1</m:t>
                                      </m:r>
                                    </m:e>
                                  </m:eqArr>
                                </m:e>
                                <m:e>
                                  <m:r>
                                    <a:rPr lang="en-GB" b="0" i="1" smtClean="0">
                                      <a:latin typeface="Cambria Math" panose="02040503050406030204" pitchFamily="18" charset="0"/>
                                    </a:rPr>
                                    <m:t>1</m:t>
                                  </m:r>
                                </m:e>
                                <m:e>
                                  <m:r>
                                    <a:rPr lang="en-GB" b="0" i="1" smtClean="0">
                                      <a:latin typeface="Cambria Math" panose="02040503050406030204" pitchFamily="18" charset="0"/>
                                    </a:rPr>
                                    <m:t>1</m:t>
                                  </m:r>
                                </m:e>
                              </m:eqArr>
                            </m:e>
                            <m:e>
                              <m:eqArr>
                                <m:eqArrPr>
                                  <m:ctrlPr>
                                    <a:rPr lang="en-GB" b="0" i="1" smtClean="0">
                                      <a:latin typeface="Cambria Math" panose="02040503050406030204" pitchFamily="18" charset="0"/>
                                    </a:rPr>
                                  </m:ctrlPr>
                                </m:eqArrPr>
                                <m:e>
                                  <m:r>
                                    <a:rPr lang="en-GB" b="0" i="1" smtClean="0">
                                      <a:latin typeface="Cambria Math" panose="02040503050406030204" pitchFamily="18" charset="0"/>
                                    </a:rPr>
                                    <m:t>1   1</m:t>
                                  </m:r>
                                </m:e>
                                <m:e>
                                  <m:r>
                                    <a:rPr lang="en-GB" b="0" i="1" smtClean="0">
                                      <a:latin typeface="Cambria Math" panose="02040503050406030204" pitchFamily="18" charset="0"/>
                                    </a:rPr>
                                    <m:t>1   1</m:t>
                                  </m:r>
                                </m:e>
                                <m:e>
                                  <m:r>
                                    <a:rPr lang="en-GB" b="0" i="1" smtClean="0">
                                      <a:latin typeface="Cambria Math" panose="02040503050406030204" pitchFamily="18" charset="0"/>
                                    </a:rPr>
                                    <m:t>1   1</m:t>
                                  </m:r>
                                </m:e>
                                <m:e>
                                  <m:r>
                                    <a:rPr lang="en-GB" b="0" i="1" smtClean="0">
                                      <a:latin typeface="Cambria Math" panose="02040503050406030204" pitchFamily="18" charset="0"/>
                                    </a:rPr>
                                    <m:t>1   1</m:t>
                                  </m:r>
                                </m:e>
                              </m:eqArr>
                            </m:e>
                            <m:e>
                              <m:eqArr>
                                <m:eqArrPr>
                                  <m:ctrlPr>
                                    <a:rPr lang="en-GB" b="0" i="1" smtClean="0">
                                      <a:latin typeface="Cambria Math" panose="02040503050406030204" pitchFamily="18" charset="0"/>
                                    </a:rPr>
                                  </m:ctrlPr>
                                </m:eqArrPr>
                                <m:e>
                                  <m:r>
                                    <a:rPr lang="en-GB" b="0" i="1" smtClean="0">
                                      <a:latin typeface="Cambria Math" panose="02040503050406030204" pitchFamily="18" charset="0"/>
                                    </a:rPr>
                                    <m:t>0   0   </m:t>
                                  </m:r>
                                  <m:r>
                                    <a:rPr lang="en-GB" i="1">
                                      <a:latin typeface="Cambria Math" panose="02040503050406030204" pitchFamily="18" charset="0"/>
                                    </a:rPr>
                                    <m:t>0</m:t>
                                  </m:r>
                                </m:e>
                                <m:e>
                                  <m:r>
                                    <a:rPr lang="en-GB" b="0" i="1" smtClean="0">
                                      <a:latin typeface="Cambria Math" panose="02040503050406030204" pitchFamily="18" charset="0"/>
                                    </a:rPr>
                                    <m:t>0   0   </m:t>
                                  </m:r>
                                  <m:r>
                                    <a:rPr lang="en-GB" i="1">
                                      <a:latin typeface="Cambria Math" panose="02040503050406030204" pitchFamily="18" charset="0"/>
                                    </a:rPr>
                                    <m:t>0</m:t>
                                  </m:r>
                                </m:e>
                                <m:e>
                                  <m:r>
                                    <a:rPr lang="en-GB" b="0" i="1" smtClean="0">
                                      <a:latin typeface="Cambria Math" panose="02040503050406030204" pitchFamily="18" charset="0"/>
                                    </a:rPr>
                                    <m:t>0   0   0</m:t>
                                  </m:r>
                                </m:e>
                                <m:e>
                                  <m:r>
                                    <a:rPr lang="en-GB" b="0" i="1" smtClean="0">
                                      <a:latin typeface="Cambria Math" panose="02040503050406030204" pitchFamily="18" charset="0"/>
                                    </a:rPr>
                                    <m:t>0   0   0</m:t>
                                  </m:r>
                                </m:e>
                              </m:eqArr>
                            </m:e>
                          </m:mr>
                        </m:m>
                      </m:e>
                    </m:d>
                  </m:oMath>
                </a14:m>
                <a:endParaRPr lang="en-US" dirty="0"/>
              </a:p>
            </p:txBody>
          </p:sp>
        </mc:Choice>
        <mc:Fallback xmlns="">
          <p:sp>
            <p:nvSpPr>
              <p:cNvPr id="3" name="Text Placeholder 2">
                <a:extLst>
                  <a:ext uri="{FF2B5EF4-FFF2-40B4-BE49-F238E27FC236}">
                    <a16:creationId xmlns:a16="http://schemas.microsoft.com/office/drawing/2014/main" id="{9E161672-A693-0640-9995-8B29785DD200}"/>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nl-NL">
                    <a:noFill/>
                  </a:rPr>
                  <a:t> </a:t>
                </a:r>
              </a:p>
            </p:txBody>
          </p:sp>
        </mc:Fallback>
      </mc:AlternateContent>
      <p:sp>
        <p:nvSpPr>
          <p:cNvPr id="4" name="Rectangle 3">
            <a:extLst>
              <a:ext uri="{FF2B5EF4-FFF2-40B4-BE49-F238E27FC236}">
                <a16:creationId xmlns:a16="http://schemas.microsoft.com/office/drawing/2014/main" id="{0F53724F-6453-0DCE-06A5-08F0CCBE8A14}"/>
              </a:ext>
            </a:extLst>
          </p:cNvPr>
          <p:cNvSpPr/>
          <p:nvPr/>
        </p:nvSpPr>
        <p:spPr>
          <a:xfrm>
            <a:off x="4173239" y="1145600"/>
            <a:ext cx="1045029" cy="174197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5DF336-DCE8-BA31-D675-AB33F0757207}"/>
              </a:ext>
            </a:extLst>
          </p:cNvPr>
          <p:cNvSpPr/>
          <p:nvPr/>
        </p:nvSpPr>
        <p:spPr>
          <a:xfrm>
            <a:off x="3086960" y="1145600"/>
            <a:ext cx="1086280" cy="17419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46831D-5619-3C15-8B8D-4BFE8F9E42FC}"/>
                  </a:ext>
                </a:extLst>
              </p:cNvPr>
              <p:cNvSpPr txBox="1"/>
              <p:nvPr/>
            </p:nvSpPr>
            <p:spPr>
              <a:xfrm>
                <a:off x="662152" y="4398579"/>
                <a:ext cx="4963731" cy="369332"/>
              </a:xfrm>
              <a:prstGeom prst="rect">
                <a:avLst/>
              </a:prstGeom>
              <a:noFill/>
            </p:spPr>
            <p:txBody>
              <a:bodyPr wrap="none" rtlCol="0">
                <a:spAutoFit/>
              </a:bodyPr>
              <a:lstStyle/>
              <a:p>
                <a:r>
                  <a:rPr lang="en-GB" dirty="0"/>
                  <a:t>Wat is de </a:t>
                </a:r>
                <a:r>
                  <a:rPr lang="en-GB" dirty="0" err="1"/>
                  <a:t>uitkomst</a:t>
                </a:r>
                <a:r>
                  <a:rPr lang="en-GB" dirty="0"/>
                  <a:t> van de </a:t>
                </a:r>
                <a:r>
                  <a:rPr lang="en-GB" dirty="0" err="1"/>
                  <a:t>convolutie</a:t>
                </a:r>
                <a:r>
                  <a:rPr lang="en-GB" dirty="0"/>
                  <a:t> van </a:t>
                </a:r>
                <a14:m>
                  <m:oMath xmlns:m="http://schemas.openxmlformats.org/officeDocument/2006/math">
                    <m:r>
                      <a:rPr lang="en-GB" i="1" dirty="0" smtClean="0">
                        <a:latin typeface="Cambria Math" panose="02040503050406030204" pitchFamily="18" charset="0"/>
                      </a:rPr>
                      <m:t>𝐾</m:t>
                    </m:r>
                  </m:oMath>
                </a14:m>
                <a:r>
                  <a:rPr lang="en-GB" dirty="0"/>
                  <a:t> </a:t>
                </a:r>
                <a:r>
                  <a:rPr lang="en-GB" dirty="0" err="1"/>
                  <a:t>en</a:t>
                </a:r>
                <a:r>
                  <a:rPr lang="en-GB" dirty="0"/>
                  <a:t> </a:t>
                </a:r>
                <a14:m>
                  <m:oMath xmlns:m="http://schemas.openxmlformats.org/officeDocument/2006/math">
                    <m:r>
                      <a:rPr lang="en-GB" i="1" dirty="0" smtClean="0">
                        <a:latin typeface="Cambria Math" panose="02040503050406030204" pitchFamily="18" charset="0"/>
                      </a:rPr>
                      <m:t>𝐼</m:t>
                    </m:r>
                  </m:oMath>
                </a14:m>
                <a:r>
                  <a:rPr lang="en-GB" dirty="0"/>
                  <a:t>?</a:t>
                </a:r>
                <a:endParaRPr lang="en-US" dirty="0"/>
              </a:p>
            </p:txBody>
          </p:sp>
        </mc:Choice>
        <mc:Fallback xmlns="">
          <p:sp>
            <p:nvSpPr>
              <p:cNvPr id="6" name="TextBox 5">
                <a:extLst>
                  <a:ext uri="{FF2B5EF4-FFF2-40B4-BE49-F238E27FC236}">
                    <a16:creationId xmlns:a16="http://schemas.microsoft.com/office/drawing/2014/main" id="{F646831D-5619-3C15-8B8D-4BFE8F9E42FC}"/>
                  </a:ext>
                </a:extLst>
              </p:cNvPr>
              <p:cNvSpPr txBox="1">
                <a:spLocks noRot="1" noChangeAspect="1" noMove="1" noResize="1" noEditPoints="1" noAdjustHandles="1" noChangeArrowheads="1" noChangeShapeType="1" noTextEdit="1"/>
              </p:cNvSpPr>
              <p:nvPr/>
            </p:nvSpPr>
            <p:spPr>
              <a:xfrm>
                <a:off x="662152" y="4398579"/>
                <a:ext cx="4963731" cy="369332"/>
              </a:xfrm>
              <a:prstGeom prst="rect">
                <a:avLst/>
              </a:prstGeom>
              <a:blipFill>
                <a:blip r:embed="rId3"/>
                <a:stretch>
                  <a:fillRect l="-1106" t="-8333" r="-123" b="-28333"/>
                </a:stretch>
              </a:blipFill>
            </p:spPr>
            <p:txBody>
              <a:bodyPr/>
              <a:lstStyle/>
              <a:p>
                <a:r>
                  <a:rPr lang="nl-NL">
                    <a:noFill/>
                  </a:rPr>
                  <a:t> </a:t>
                </a:r>
              </a:p>
            </p:txBody>
          </p:sp>
        </mc:Fallback>
      </mc:AlternateContent>
    </p:spTree>
    <p:extLst>
      <p:ext uri="{BB962C8B-B14F-4D97-AF65-F5344CB8AC3E}">
        <p14:creationId xmlns:p14="http://schemas.microsoft.com/office/powerpoint/2010/main" val="51866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7CD1-69B7-A0EA-1EE1-AA10CF96D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1894D-7B77-9272-388E-8006AF0AC6AA}"/>
              </a:ext>
            </a:extLst>
          </p:cNvPr>
          <p:cNvSpPr>
            <a:spLocks noGrp="1"/>
          </p:cNvSpPr>
          <p:nvPr>
            <p:ph type="title"/>
          </p:nvPr>
        </p:nvSpPr>
        <p:spPr/>
        <p:txBody>
          <a:bodyPr>
            <a:normAutofit fontScale="90000"/>
          </a:bodyPr>
          <a:lstStyle/>
          <a:p>
            <a:r>
              <a:rPr lang="en-GB" dirty="0" err="1"/>
              <a:t>Voorbeeld</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2D44C09-EEDB-FE8D-68C8-CB727F70AABE}"/>
                  </a:ext>
                </a:extLst>
              </p:cNvPr>
              <p:cNvSpPr>
                <a:spLocks noGrp="1"/>
              </p:cNvSpPr>
              <p:nvPr>
                <p:ph type="body" idx="1"/>
              </p:nvPr>
            </p:nvSpPr>
            <p:spPr/>
            <p:txBody>
              <a:bodyPr/>
              <a:lstStyle/>
              <a:p>
                <a:pPr marL="114300" indent="0">
                  <a:buNone/>
                </a:pPr>
                <a14:m>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m>
                          <m:mPr>
                            <m:mcs>
                              <m:mc>
                                <m:mcPr>
                                  <m:count m:val="3"/>
                                  <m:mcJc m:val="center"/>
                                </m:mcPr>
                              </m:mc>
                            </m:mcs>
                            <m:ctrlPr>
                              <a:rPr lang="en-GB" i="1">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r>
                            <m:e>
                              <m:r>
                                <a:rPr lang="en-GB" b="0" i="1" smtClean="0">
                                  <a:latin typeface="Cambria Math" panose="02040503050406030204" pitchFamily="18" charset="0"/>
                                </a:rPr>
                                <m:t>1</m:t>
                              </m:r>
                            </m:e>
                            <m:e>
                              <m:r>
                                <a:rPr lang="en-GB" b="0" i="1" smtClean="0">
                                  <a:latin typeface="Cambria Math" panose="02040503050406030204" pitchFamily="18" charset="0"/>
                                </a:rPr>
                                <m:t>0</m:t>
                              </m:r>
                            </m:e>
                            <m:e>
                              <m:r>
                                <a:rPr lang="en-GB" b="0" i="1" smtClean="0">
                                  <a:latin typeface="Cambria Math" panose="02040503050406030204" pitchFamily="18" charset="0"/>
                                </a:rPr>
                                <m:t>−1</m:t>
                              </m:r>
                            </m:e>
                          </m:mr>
                        </m:m>
                      </m:e>
                    </m:d>
                  </m:oMath>
                </a14:m>
                <a:r>
                  <a:rPr lang="en-US" dirty="0"/>
                  <a:t>, </a:t>
                </a:r>
                <a14:m>
                  <m:oMath xmlns:m="http://schemas.openxmlformats.org/officeDocument/2006/math">
                    <m:r>
                      <a:rPr lang="en-GB" b="0" i="1" smtClean="0">
                        <a:latin typeface="Cambria Math" panose="02040503050406030204" pitchFamily="18" charset="0"/>
                      </a:rPr>
                      <m:t>𝐼</m:t>
                    </m:r>
                    <m:r>
                      <a:rPr lang="en-GB" b="0" i="1" smtClean="0">
                        <a:latin typeface="Cambria Math" panose="02040503050406030204" pitchFamily="18" charset="0"/>
                      </a:rPr>
                      <m:t>= </m:t>
                    </m:r>
                    <m:d>
                      <m:dPr>
                        <m:begChr m:val="["/>
                        <m:endChr m:val="]"/>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panose="02040503050406030204" pitchFamily="18" charset="0"/>
                                </a:rPr>
                                <m:t>1</m:t>
                              </m:r>
                            </m:e>
                            <m:e>
                              <m:r>
                                <a:rPr lang="en-GB" b="0" i="1" smtClean="0">
                                  <a:latin typeface="Cambria Math" panose="02040503050406030204" pitchFamily="18" charset="0"/>
                                </a:rPr>
                                <m:t>1   1</m:t>
                              </m:r>
                            </m:e>
                            <m:e>
                              <m:r>
                                <a:rPr lang="en-GB" b="0" i="1" smtClean="0">
                                  <a:latin typeface="Cambria Math" panose="02040503050406030204" pitchFamily="18" charset="0"/>
                                </a:rPr>
                                <m:t>0   0   </m:t>
                              </m:r>
                              <m:r>
                                <a:rPr lang="en-GB" i="1">
                                  <a:latin typeface="Cambria Math" panose="02040503050406030204" pitchFamily="18" charset="0"/>
                                </a:rPr>
                                <m:t>0</m:t>
                              </m:r>
                            </m:e>
                          </m:mr>
                          <m:mr>
                            <m:e>
                              <m:r>
                                <a:rPr lang="en-GB" b="0" i="1" smtClean="0">
                                  <a:latin typeface="Cambria Math" panose="02040503050406030204" pitchFamily="18" charset="0"/>
                                </a:rPr>
                                <m:t>1</m:t>
                              </m:r>
                            </m:e>
                            <m:e>
                              <m:r>
                                <a:rPr lang="en-GB" b="0" i="1" smtClean="0">
                                  <a:latin typeface="Cambria Math" panose="02040503050406030204" pitchFamily="18" charset="0"/>
                                </a:rPr>
                                <m:t>1   1</m:t>
                              </m:r>
                            </m:e>
                            <m:e>
                              <m:r>
                                <a:rPr lang="en-GB" b="0" i="1" smtClean="0">
                                  <a:latin typeface="Cambria Math" panose="02040503050406030204" pitchFamily="18" charset="0"/>
                                </a:rPr>
                                <m:t>0   0   </m:t>
                              </m:r>
                              <m:r>
                                <a:rPr lang="en-GB" i="1">
                                  <a:latin typeface="Cambria Math" panose="02040503050406030204" pitchFamily="18" charset="0"/>
                                </a:rPr>
                                <m:t>0</m:t>
                              </m:r>
                            </m:e>
                          </m:mr>
                          <m:mr>
                            <m:e>
                              <m:eqArr>
                                <m:eqArrPr>
                                  <m:ctrlPr>
                                    <a:rPr lang="en-GB" b="0" i="1" smtClean="0">
                                      <a:latin typeface="Cambria Math" panose="02040503050406030204" pitchFamily="18" charset="0"/>
                                    </a:rPr>
                                  </m:ctrlPr>
                                </m:eqArrPr>
                                <m:e>
                                  <m:eqArr>
                                    <m:eqArrPr>
                                      <m:ctrlPr>
                                        <a:rPr lang="en-GB" b="0" i="1" smtClean="0">
                                          <a:latin typeface="Cambria Math" panose="02040503050406030204" pitchFamily="18" charset="0"/>
                                        </a:rPr>
                                      </m:ctrlPr>
                                    </m:eqArrPr>
                                    <m:e>
                                      <m:r>
                                        <a:rPr lang="en-GB" b="0" i="1" smtClean="0">
                                          <a:latin typeface="Cambria Math" panose="02040503050406030204" pitchFamily="18" charset="0"/>
                                        </a:rPr>
                                        <m:t>1</m:t>
                                      </m:r>
                                    </m:e>
                                    <m:e>
                                      <m:r>
                                        <a:rPr lang="en-GB" b="0" i="1" smtClean="0">
                                          <a:latin typeface="Cambria Math" panose="02040503050406030204" pitchFamily="18" charset="0"/>
                                        </a:rPr>
                                        <m:t>1</m:t>
                                      </m:r>
                                    </m:e>
                                  </m:eqArr>
                                </m:e>
                                <m:e>
                                  <m:r>
                                    <a:rPr lang="en-GB" b="0" i="1" smtClean="0">
                                      <a:latin typeface="Cambria Math" panose="02040503050406030204" pitchFamily="18" charset="0"/>
                                    </a:rPr>
                                    <m:t>1</m:t>
                                  </m:r>
                                </m:e>
                                <m:e>
                                  <m:r>
                                    <a:rPr lang="en-GB" b="0" i="1" smtClean="0">
                                      <a:latin typeface="Cambria Math" panose="02040503050406030204" pitchFamily="18" charset="0"/>
                                    </a:rPr>
                                    <m:t>1</m:t>
                                  </m:r>
                                </m:e>
                              </m:eqArr>
                            </m:e>
                            <m:e>
                              <m:eqArr>
                                <m:eqArrPr>
                                  <m:ctrlPr>
                                    <a:rPr lang="en-GB" b="0" i="1" smtClean="0">
                                      <a:latin typeface="Cambria Math" panose="02040503050406030204" pitchFamily="18" charset="0"/>
                                    </a:rPr>
                                  </m:ctrlPr>
                                </m:eqArrPr>
                                <m:e>
                                  <m:r>
                                    <a:rPr lang="en-GB" b="0" i="1" smtClean="0">
                                      <a:latin typeface="Cambria Math" panose="02040503050406030204" pitchFamily="18" charset="0"/>
                                    </a:rPr>
                                    <m:t>1   1</m:t>
                                  </m:r>
                                </m:e>
                                <m:e>
                                  <m:r>
                                    <a:rPr lang="en-GB" b="0" i="1" smtClean="0">
                                      <a:latin typeface="Cambria Math" panose="02040503050406030204" pitchFamily="18" charset="0"/>
                                    </a:rPr>
                                    <m:t>1   1</m:t>
                                  </m:r>
                                </m:e>
                                <m:e>
                                  <m:r>
                                    <a:rPr lang="en-GB" b="0" i="1" smtClean="0">
                                      <a:latin typeface="Cambria Math" panose="02040503050406030204" pitchFamily="18" charset="0"/>
                                    </a:rPr>
                                    <m:t>1   1</m:t>
                                  </m:r>
                                </m:e>
                                <m:e>
                                  <m:r>
                                    <a:rPr lang="en-GB" b="0" i="1" smtClean="0">
                                      <a:latin typeface="Cambria Math" panose="02040503050406030204" pitchFamily="18" charset="0"/>
                                    </a:rPr>
                                    <m:t>1   1</m:t>
                                  </m:r>
                                </m:e>
                              </m:eqArr>
                            </m:e>
                            <m:e>
                              <m:eqArr>
                                <m:eqArrPr>
                                  <m:ctrlPr>
                                    <a:rPr lang="en-GB" b="0" i="1" smtClean="0">
                                      <a:latin typeface="Cambria Math" panose="02040503050406030204" pitchFamily="18" charset="0"/>
                                    </a:rPr>
                                  </m:ctrlPr>
                                </m:eqArrPr>
                                <m:e>
                                  <m:r>
                                    <a:rPr lang="en-GB" b="0" i="1" smtClean="0">
                                      <a:latin typeface="Cambria Math" panose="02040503050406030204" pitchFamily="18" charset="0"/>
                                    </a:rPr>
                                    <m:t>0   0   </m:t>
                                  </m:r>
                                  <m:r>
                                    <a:rPr lang="en-GB" i="1">
                                      <a:latin typeface="Cambria Math" panose="02040503050406030204" pitchFamily="18" charset="0"/>
                                    </a:rPr>
                                    <m:t>0</m:t>
                                  </m:r>
                                </m:e>
                                <m:e>
                                  <m:r>
                                    <a:rPr lang="en-GB" b="0" i="1" smtClean="0">
                                      <a:latin typeface="Cambria Math" panose="02040503050406030204" pitchFamily="18" charset="0"/>
                                    </a:rPr>
                                    <m:t>0   0   </m:t>
                                  </m:r>
                                  <m:r>
                                    <a:rPr lang="en-GB" i="1">
                                      <a:latin typeface="Cambria Math" panose="02040503050406030204" pitchFamily="18" charset="0"/>
                                    </a:rPr>
                                    <m:t>0</m:t>
                                  </m:r>
                                </m:e>
                                <m:e>
                                  <m:r>
                                    <a:rPr lang="en-GB" b="0" i="1" smtClean="0">
                                      <a:latin typeface="Cambria Math" panose="02040503050406030204" pitchFamily="18" charset="0"/>
                                    </a:rPr>
                                    <m:t>0   0   0</m:t>
                                  </m:r>
                                </m:e>
                                <m:e>
                                  <m:r>
                                    <a:rPr lang="en-GB" b="0" i="1" smtClean="0">
                                      <a:latin typeface="Cambria Math" panose="02040503050406030204" pitchFamily="18" charset="0"/>
                                    </a:rPr>
                                    <m:t>0   0   0</m:t>
                                  </m:r>
                                </m:e>
                              </m:eqArr>
                            </m:e>
                          </m:mr>
                        </m:m>
                      </m:e>
                    </m:d>
                  </m:oMath>
                </a14:m>
                <a:endParaRPr lang="en-US" dirty="0"/>
              </a:p>
              <a:p>
                <a:pPr marL="114300" indent="0">
                  <a:buNone/>
                </a:pPr>
                <a:endParaRPr lang="en-GB" b="0" i="1" dirty="0">
                  <a:latin typeface="Cambria Math" panose="02040503050406030204" pitchFamily="18" charset="0"/>
                </a:endParaRPr>
              </a:p>
              <a:p>
                <a:pPr marL="114300" indent="0">
                  <a:buNone/>
                </a:pPr>
                <a:endParaRPr lang="en-GB"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m>
                            <m:mPr>
                              <m:mcs>
                                <m:mc>
                                  <m:mcPr>
                                    <m:count m:val="3"/>
                                    <m:mcJc m:val="center"/>
                                  </m:mcPr>
                                </m:mc>
                              </m:mcs>
                              <m:ctrlPr>
                                <a:rPr lang="en-GB" i="1">
                                  <a:latin typeface="Cambria Math" panose="02040503050406030204" pitchFamily="18" charset="0"/>
                                </a:rPr>
                              </m:ctrlPr>
                            </m:mPr>
                            <m:mr>
                              <m:e>
                                <m:r>
                                  <m:rPr>
                                    <m:brk m:alnAt="7"/>
                                  </m:rPr>
                                  <a:rPr lang="en-GB" i="1">
                                    <a:latin typeface="Cambria Math" panose="02040503050406030204" pitchFamily="18" charset="0"/>
                                  </a:rPr>
                                  <m:t>0</m:t>
                                </m:r>
                              </m:e>
                              <m:e>
                                <m:r>
                                  <a:rPr lang="en-GB" i="1">
                                    <a:latin typeface="Cambria Math" panose="02040503050406030204" pitchFamily="18" charset="0"/>
                                  </a:rPr>
                                  <m:t>3</m:t>
                                </m:r>
                              </m:e>
                              <m:e>
                                <m:r>
                                  <a:rPr lang="en-GB" i="1">
                                    <a:latin typeface="Cambria Math" panose="02040503050406030204" pitchFamily="18" charset="0"/>
                                  </a:rPr>
                                  <m:t>3   0</m:t>
                                </m:r>
                              </m:e>
                            </m:mr>
                            <m:mr>
                              <m:e>
                                <m:r>
                                  <a:rPr lang="en-GB" i="1">
                                    <a:latin typeface="Cambria Math" panose="02040503050406030204" pitchFamily="18" charset="0"/>
                                  </a:rPr>
                                  <m:t>0</m:t>
                                </m:r>
                              </m:e>
                              <m:e>
                                <m:r>
                                  <a:rPr lang="en-GB" i="1">
                                    <a:latin typeface="Cambria Math" panose="02040503050406030204" pitchFamily="18" charset="0"/>
                                  </a:rPr>
                                  <m:t>3</m:t>
                                </m:r>
                              </m:e>
                              <m:e>
                                <m:r>
                                  <a:rPr lang="en-GB" i="1">
                                    <a:latin typeface="Cambria Math" panose="02040503050406030204" pitchFamily="18" charset="0"/>
                                  </a:rPr>
                                  <m:t>3   0</m:t>
                                </m:r>
                              </m:e>
                            </m:mr>
                            <m:mr>
                              <m:e>
                                <m:eqArr>
                                  <m:eqArrPr>
                                    <m:ctrlPr>
                                      <a:rPr lang="en-GB" i="1">
                                        <a:latin typeface="Cambria Math" panose="02040503050406030204" pitchFamily="18" charset="0"/>
                                      </a:rPr>
                                    </m:ctrlPr>
                                  </m:eqArrPr>
                                  <m:e>
                                    <m:r>
                                      <a:rPr lang="en-GB" i="1">
                                        <a:latin typeface="Cambria Math" panose="02040503050406030204" pitchFamily="18" charset="0"/>
                                      </a:rPr>
                                      <m:t>0</m:t>
                                    </m:r>
                                  </m:e>
                                  <m:e>
                                    <m:r>
                                      <a:rPr lang="en-GB" i="1">
                                        <a:latin typeface="Cambria Math" panose="02040503050406030204" pitchFamily="18" charset="0"/>
                                      </a:rPr>
                                      <m:t>0</m:t>
                                    </m:r>
                                  </m:e>
                                </m:eqArr>
                              </m:e>
                              <m:e>
                                <m:eqArr>
                                  <m:eqArrPr>
                                    <m:ctrlPr>
                                      <a:rPr lang="en-GB" i="1">
                                        <a:latin typeface="Cambria Math" panose="02040503050406030204" pitchFamily="18" charset="0"/>
                                      </a:rPr>
                                    </m:ctrlPr>
                                  </m:eqArrPr>
                                  <m:e>
                                    <m:r>
                                      <a:rPr lang="en-GB" i="1">
                                        <a:latin typeface="Cambria Math" panose="02040503050406030204" pitchFamily="18" charset="0"/>
                                      </a:rPr>
                                      <m:t>3</m:t>
                                    </m:r>
                                  </m:e>
                                  <m:e>
                                    <m:r>
                                      <a:rPr lang="en-GB" i="1">
                                        <a:latin typeface="Cambria Math" panose="02040503050406030204" pitchFamily="18" charset="0"/>
                                      </a:rPr>
                                      <m:t>3</m:t>
                                    </m:r>
                                  </m:e>
                                </m:eqArr>
                              </m:e>
                              <m:e>
                                <m:eqArr>
                                  <m:eqArrPr>
                                    <m:ctrlPr>
                                      <a:rPr lang="en-GB" i="1">
                                        <a:latin typeface="Cambria Math" panose="02040503050406030204" pitchFamily="18" charset="0"/>
                                      </a:rPr>
                                    </m:ctrlPr>
                                  </m:eqArrPr>
                                  <m:e>
                                    <m:r>
                                      <a:rPr lang="en-GB" i="1">
                                        <a:latin typeface="Cambria Math" panose="02040503050406030204" pitchFamily="18" charset="0"/>
                                      </a:rPr>
                                      <m:t>3   0</m:t>
                                    </m:r>
                                  </m:e>
                                  <m:e>
                                    <m:r>
                                      <a:rPr lang="en-GB" i="1">
                                        <a:latin typeface="Cambria Math" panose="02040503050406030204" pitchFamily="18" charset="0"/>
                                      </a:rPr>
                                      <m:t>3   0</m:t>
                                    </m:r>
                                  </m:e>
                                </m:eqArr>
                              </m:e>
                            </m:mr>
                          </m:m>
                        </m:e>
                      </m:d>
                    </m:oMath>
                  </m:oMathPara>
                </a14:m>
                <a:endParaRPr lang="en-US" dirty="0"/>
              </a:p>
            </p:txBody>
          </p:sp>
        </mc:Choice>
        <mc:Fallback xmlns="">
          <p:sp>
            <p:nvSpPr>
              <p:cNvPr id="3" name="Text Placeholder 2">
                <a:extLst>
                  <a:ext uri="{FF2B5EF4-FFF2-40B4-BE49-F238E27FC236}">
                    <a16:creationId xmlns:a16="http://schemas.microsoft.com/office/drawing/2014/main" id="{C2D44C09-EEDB-FE8D-68C8-CB727F70AAB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nl-NL">
                    <a:noFill/>
                  </a:rPr>
                  <a:t> </a:t>
                </a:r>
              </a:p>
            </p:txBody>
          </p:sp>
        </mc:Fallback>
      </mc:AlternateContent>
      <p:sp>
        <p:nvSpPr>
          <p:cNvPr id="4" name="Rectangle 3">
            <a:extLst>
              <a:ext uri="{FF2B5EF4-FFF2-40B4-BE49-F238E27FC236}">
                <a16:creationId xmlns:a16="http://schemas.microsoft.com/office/drawing/2014/main" id="{D14F96E8-C65D-CD1A-E30D-418A805C5B40}"/>
              </a:ext>
            </a:extLst>
          </p:cNvPr>
          <p:cNvSpPr/>
          <p:nvPr/>
        </p:nvSpPr>
        <p:spPr>
          <a:xfrm>
            <a:off x="4001360" y="3242532"/>
            <a:ext cx="446885" cy="132634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F70F113-F81C-8E99-CC76-0407A3F8320D}"/>
              </a:ext>
            </a:extLst>
          </p:cNvPr>
          <p:cNvSpPr/>
          <p:nvPr/>
        </p:nvSpPr>
        <p:spPr>
          <a:xfrm>
            <a:off x="5122015" y="3242531"/>
            <a:ext cx="454909" cy="1326343"/>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4F1AFA4-120D-1EBB-C1E8-634F2259DB82}"/>
              </a:ext>
            </a:extLst>
          </p:cNvPr>
          <p:cNvSpPr/>
          <p:nvPr/>
        </p:nvSpPr>
        <p:spPr>
          <a:xfrm>
            <a:off x="4448246" y="3242531"/>
            <a:ext cx="673769" cy="132634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0928375-BFDD-C7E7-68D4-B648CBE2C474}"/>
              </a:ext>
            </a:extLst>
          </p:cNvPr>
          <p:cNvSpPr/>
          <p:nvPr/>
        </p:nvSpPr>
        <p:spPr>
          <a:xfrm>
            <a:off x="4173239" y="1145600"/>
            <a:ext cx="1045029" cy="174197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49D3862-E9C1-82B1-B7D8-C4F667F38D11}"/>
              </a:ext>
            </a:extLst>
          </p:cNvPr>
          <p:cNvSpPr/>
          <p:nvPr/>
        </p:nvSpPr>
        <p:spPr>
          <a:xfrm>
            <a:off x="3086960" y="1145600"/>
            <a:ext cx="1086280" cy="174197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892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055A0-9AAF-F2E6-084A-406074BAA98A}"/>
              </a:ext>
            </a:extLst>
          </p:cNvPr>
          <p:cNvSpPr>
            <a:spLocks noGrp="1"/>
          </p:cNvSpPr>
          <p:nvPr>
            <p:ph type="title"/>
          </p:nvPr>
        </p:nvSpPr>
        <p:spPr/>
        <p:txBody>
          <a:bodyPr>
            <a:normAutofit fontScale="90000"/>
          </a:bodyPr>
          <a:lstStyle/>
          <a:p>
            <a:r>
              <a:rPr lang="en-GB" dirty="0" err="1"/>
              <a:t>Vraag</a:t>
            </a:r>
            <a:endParaRPr lang="en-US" dirty="0"/>
          </a:p>
        </p:txBody>
      </p:sp>
      <p:sp>
        <p:nvSpPr>
          <p:cNvPr id="3" name="Text Placeholder 2">
            <a:extLst>
              <a:ext uri="{FF2B5EF4-FFF2-40B4-BE49-F238E27FC236}">
                <a16:creationId xmlns:a16="http://schemas.microsoft.com/office/drawing/2014/main" id="{2D3ED96D-B7AE-6071-6D56-5F1491600311}"/>
              </a:ext>
            </a:extLst>
          </p:cNvPr>
          <p:cNvSpPr>
            <a:spLocks noGrp="1"/>
          </p:cNvSpPr>
          <p:nvPr>
            <p:ph type="body" idx="1"/>
          </p:nvPr>
        </p:nvSpPr>
        <p:spPr/>
        <p:txBody>
          <a:bodyPr/>
          <a:lstStyle/>
          <a:p>
            <a:pPr marL="114300" indent="0">
              <a:buNone/>
            </a:pPr>
            <a:r>
              <a:rPr lang="en-GB" dirty="0"/>
              <a:t>Wat </a:t>
            </a:r>
            <a:r>
              <a:rPr lang="en-GB" dirty="0" err="1"/>
              <a:t>doet</a:t>
            </a:r>
            <a:r>
              <a:rPr lang="en-GB" dirty="0"/>
              <a:t> </a:t>
            </a:r>
            <a:r>
              <a:rPr lang="en-GB" dirty="0" err="1"/>
              <a:t>deze</a:t>
            </a:r>
            <a:r>
              <a:rPr lang="en-GB" dirty="0"/>
              <a:t> kernel?</a:t>
            </a:r>
            <a:endParaRPr lang="en-US" dirty="0"/>
          </a:p>
        </p:txBody>
      </p:sp>
    </p:spTree>
    <p:extLst>
      <p:ext uri="{BB962C8B-B14F-4D97-AF65-F5344CB8AC3E}">
        <p14:creationId xmlns:p14="http://schemas.microsoft.com/office/powerpoint/2010/main" val="2417396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9A508A-48C8-D41F-F2C0-D04EC8179993}"/>
              </a:ext>
            </a:extLst>
          </p:cNvPr>
          <p:cNvPicPr>
            <a:picLocks noChangeAspect="1"/>
          </p:cNvPicPr>
          <p:nvPr/>
        </p:nvPicPr>
        <p:blipFill>
          <a:blip r:embed="rId2"/>
          <a:stretch>
            <a:fillRect/>
          </a:stretch>
        </p:blipFill>
        <p:spPr>
          <a:xfrm>
            <a:off x="2508976" y="137503"/>
            <a:ext cx="4126048" cy="4868493"/>
          </a:xfrm>
          <a:prstGeom prst="rect">
            <a:avLst/>
          </a:prstGeom>
        </p:spPr>
      </p:pic>
    </p:spTree>
    <p:extLst>
      <p:ext uri="{BB962C8B-B14F-4D97-AF65-F5344CB8AC3E}">
        <p14:creationId xmlns:p14="http://schemas.microsoft.com/office/powerpoint/2010/main" val="159579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06EA4-E185-780E-8BC4-563B4EDC04F0}"/>
              </a:ext>
            </a:extLst>
          </p:cNvPr>
          <p:cNvSpPr>
            <a:spLocks noGrp="1"/>
          </p:cNvSpPr>
          <p:nvPr>
            <p:ph type="title"/>
          </p:nvPr>
        </p:nvSpPr>
        <p:spPr/>
        <p:txBody>
          <a:bodyPr>
            <a:normAutofit fontScale="90000"/>
          </a:bodyPr>
          <a:lstStyle/>
          <a:p>
            <a:r>
              <a:rPr lang="en-GB" dirty="0" err="1"/>
              <a:t>Convolutie</a:t>
            </a:r>
            <a:r>
              <a:rPr lang="en-GB" dirty="0"/>
              <a:t> </a:t>
            </a:r>
            <a:r>
              <a:rPr lang="en-GB" dirty="0" err="1"/>
              <a:t>zoekt</a:t>
            </a:r>
            <a:r>
              <a:rPr lang="en-GB" dirty="0"/>
              <a:t> </a:t>
            </a:r>
            <a:r>
              <a:rPr lang="en-GB" dirty="0" err="1"/>
              <a:t>naar</a:t>
            </a:r>
            <a:r>
              <a:rPr lang="en-GB" dirty="0"/>
              <a:t> patroon in kernel</a:t>
            </a:r>
            <a:endParaRPr lang="en-US" dirty="0"/>
          </a:p>
        </p:txBody>
      </p:sp>
      <p:sp>
        <p:nvSpPr>
          <p:cNvPr id="3" name="Text Placeholder 2">
            <a:extLst>
              <a:ext uri="{FF2B5EF4-FFF2-40B4-BE49-F238E27FC236}">
                <a16:creationId xmlns:a16="http://schemas.microsoft.com/office/drawing/2014/main" id="{0CAD97D9-2C44-8F39-A2D4-AFE5F5544D5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53FEE68C-175C-A09F-AAEC-10D99B0A547B}"/>
              </a:ext>
            </a:extLst>
          </p:cNvPr>
          <p:cNvPicPr>
            <a:picLocks noChangeAspect="1"/>
          </p:cNvPicPr>
          <p:nvPr/>
        </p:nvPicPr>
        <p:blipFill>
          <a:blip r:embed="rId2"/>
          <a:srcRect l="14286"/>
          <a:stretch/>
        </p:blipFill>
        <p:spPr>
          <a:xfrm>
            <a:off x="1715937" y="1360654"/>
            <a:ext cx="7837714" cy="3000042"/>
          </a:xfrm>
          <a:prstGeom prst="rect">
            <a:avLst/>
          </a:prstGeom>
        </p:spPr>
      </p:pic>
      <p:sp>
        <p:nvSpPr>
          <p:cNvPr id="6" name="TextBox 5">
            <a:extLst>
              <a:ext uri="{FF2B5EF4-FFF2-40B4-BE49-F238E27FC236}">
                <a16:creationId xmlns:a16="http://schemas.microsoft.com/office/drawing/2014/main" id="{0F2CCE68-2B5F-A0D1-6D30-E8E2950CDEDB}"/>
              </a:ext>
            </a:extLst>
          </p:cNvPr>
          <p:cNvSpPr txBox="1"/>
          <p:nvPr/>
        </p:nvSpPr>
        <p:spPr>
          <a:xfrm>
            <a:off x="3898232" y="1711922"/>
            <a:ext cx="1127530" cy="369332"/>
          </a:xfrm>
          <a:prstGeom prst="rect">
            <a:avLst/>
          </a:prstGeom>
          <a:solidFill>
            <a:schemeClr val="bg1"/>
          </a:solidFill>
        </p:spPr>
        <p:txBody>
          <a:bodyPr wrap="square" rtlCol="0">
            <a:spAutoFit/>
          </a:bodyPr>
          <a:lstStyle/>
          <a:p>
            <a:r>
              <a:rPr lang="en-GB" dirty="0">
                <a:solidFill>
                  <a:schemeClr val="tx1">
                    <a:lumMod val="75000"/>
                    <a:lumOff val="25000"/>
                  </a:schemeClr>
                </a:solidFill>
              </a:rPr>
              <a:t>Kernel</a:t>
            </a:r>
            <a:endParaRPr lang="en-US" dirty="0">
              <a:solidFill>
                <a:schemeClr val="tx1">
                  <a:lumMod val="75000"/>
                  <a:lumOff val="25000"/>
                </a:schemeClr>
              </a:solidFill>
            </a:endParaRPr>
          </a:p>
        </p:txBody>
      </p:sp>
      <p:sp>
        <p:nvSpPr>
          <p:cNvPr id="7" name="TextBox 6">
            <a:extLst>
              <a:ext uri="{FF2B5EF4-FFF2-40B4-BE49-F238E27FC236}">
                <a16:creationId xmlns:a16="http://schemas.microsoft.com/office/drawing/2014/main" id="{A31AD7F0-C51B-BD80-4773-AA35397E1C9B}"/>
              </a:ext>
            </a:extLst>
          </p:cNvPr>
          <p:cNvSpPr txBox="1"/>
          <p:nvPr/>
        </p:nvSpPr>
        <p:spPr>
          <a:xfrm>
            <a:off x="274464" y="1989276"/>
            <a:ext cx="1478709" cy="369332"/>
          </a:xfrm>
          <a:prstGeom prst="rect">
            <a:avLst/>
          </a:prstGeom>
          <a:solidFill>
            <a:schemeClr val="bg1"/>
          </a:solidFill>
        </p:spPr>
        <p:txBody>
          <a:bodyPr wrap="square" rtlCol="0">
            <a:spAutoFit/>
          </a:bodyPr>
          <a:lstStyle/>
          <a:p>
            <a:r>
              <a:rPr lang="en-GB" dirty="0" err="1">
                <a:solidFill>
                  <a:schemeClr val="tx1">
                    <a:lumMod val="75000"/>
                    <a:lumOff val="25000"/>
                  </a:schemeClr>
                </a:solidFill>
              </a:rPr>
              <a:t>Afbeelding</a:t>
            </a:r>
            <a:r>
              <a:rPr lang="en-GB" dirty="0">
                <a:solidFill>
                  <a:schemeClr val="tx1">
                    <a:lumMod val="75000"/>
                    <a:lumOff val="25000"/>
                  </a:schemeClr>
                </a:solidFill>
              </a:rPr>
              <a:t> 1</a:t>
            </a:r>
            <a:endParaRPr lang="en-US" dirty="0">
              <a:solidFill>
                <a:schemeClr val="tx1">
                  <a:lumMod val="75000"/>
                  <a:lumOff val="25000"/>
                </a:schemeClr>
              </a:solidFill>
            </a:endParaRPr>
          </a:p>
        </p:txBody>
      </p:sp>
      <p:sp>
        <p:nvSpPr>
          <p:cNvPr id="8" name="TextBox 7">
            <a:extLst>
              <a:ext uri="{FF2B5EF4-FFF2-40B4-BE49-F238E27FC236}">
                <a16:creationId xmlns:a16="http://schemas.microsoft.com/office/drawing/2014/main" id="{C2388D33-C2E4-05B8-3709-29BE0F193F3F}"/>
              </a:ext>
            </a:extLst>
          </p:cNvPr>
          <p:cNvSpPr txBox="1"/>
          <p:nvPr/>
        </p:nvSpPr>
        <p:spPr>
          <a:xfrm>
            <a:off x="274463" y="3279075"/>
            <a:ext cx="1478709" cy="369332"/>
          </a:xfrm>
          <a:prstGeom prst="rect">
            <a:avLst/>
          </a:prstGeom>
          <a:solidFill>
            <a:schemeClr val="bg1"/>
          </a:solidFill>
        </p:spPr>
        <p:txBody>
          <a:bodyPr wrap="square" rtlCol="0">
            <a:spAutoFit/>
          </a:bodyPr>
          <a:lstStyle/>
          <a:p>
            <a:r>
              <a:rPr lang="en-GB" dirty="0" err="1">
                <a:solidFill>
                  <a:schemeClr val="tx1">
                    <a:lumMod val="75000"/>
                    <a:lumOff val="25000"/>
                  </a:schemeClr>
                </a:solidFill>
              </a:rPr>
              <a:t>Afbeelding</a:t>
            </a:r>
            <a:r>
              <a:rPr lang="en-GB" dirty="0">
                <a:solidFill>
                  <a:schemeClr val="tx1">
                    <a:lumMod val="75000"/>
                    <a:lumOff val="25000"/>
                  </a:schemeClr>
                </a:solidFill>
              </a:rPr>
              <a:t> 2</a:t>
            </a:r>
            <a:endParaRPr lang="en-US" dirty="0">
              <a:solidFill>
                <a:schemeClr val="tx1">
                  <a:lumMod val="75000"/>
                  <a:lumOff val="25000"/>
                </a:schemeClr>
              </a:solidFill>
            </a:endParaRPr>
          </a:p>
        </p:txBody>
      </p:sp>
      <p:sp>
        <p:nvSpPr>
          <p:cNvPr id="9" name="TextBox 8">
            <a:extLst>
              <a:ext uri="{FF2B5EF4-FFF2-40B4-BE49-F238E27FC236}">
                <a16:creationId xmlns:a16="http://schemas.microsoft.com/office/drawing/2014/main" id="{B422ECD2-6A6B-9977-F94A-F62A49923AA9}"/>
              </a:ext>
            </a:extLst>
          </p:cNvPr>
          <p:cNvSpPr txBox="1"/>
          <p:nvPr/>
        </p:nvSpPr>
        <p:spPr>
          <a:xfrm rot="20138965">
            <a:off x="5143218" y="1956340"/>
            <a:ext cx="1273309" cy="369332"/>
          </a:xfrm>
          <a:prstGeom prst="rect">
            <a:avLst/>
          </a:prstGeom>
          <a:solidFill>
            <a:schemeClr val="bg1"/>
          </a:solidFill>
        </p:spPr>
        <p:txBody>
          <a:bodyPr wrap="square" rtlCol="0">
            <a:spAutoFit/>
          </a:bodyPr>
          <a:lstStyle/>
          <a:p>
            <a:r>
              <a:rPr lang="en-GB" dirty="0" err="1">
                <a:solidFill>
                  <a:schemeClr val="tx1">
                    <a:lumMod val="75000"/>
                    <a:lumOff val="25000"/>
                  </a:schemeClr>
                </a:solidFill>
              </a:rPr>
              <a:t>Convolutie</a:t>
            </a:r>
            <a:endParaRPr lang="en-US" dirty="0">
              <a:solidFill>
                <a:schemeClr val="tx1">
                  <a:lumMod val="75000"/>
                  <a:lumOff val="25000"/>
                </a:schemeClr>
              </a:solidFill>
            </a:endParaRPr>
          </a:p>
        </p:txBody>
      </p:sp>
    </p:spTree>
    <p:extLst>
      <p:ext uri="{BB962C8B-B14F-4D97-AF65-F5344CB8AC3E}">
        <p14:creationId xmlns:p14="http://schemas.microsoft.com/office/powerpoint/2010/main" val="3942857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collage of a yellow airplane&#10;&#10;AI-generated content may be incorrect.">
            <a:extLst>
              <a:ext uri="{FF2B5EF4-FFF2-40B4-BE49-F238E27FC236}">
                <a16:creationId xmlns:a16="http://schemas.microsoft.com/office/drawing/2014/main" id="{A06839B1-2F10-12EB-7A2E-25D30E3DA134}"/>
              </a:ext>
            </a:extLst>
          </p:cNvPr>
          <p:cNvPicPr>
            <a:picLocks noChangeAspect="1"/>
          </p:cNvPicPr>
          <p:nvPr/>
        </p:nvPicPr>
        <p:blipFill>
          <a:blip r:embed="rId2"/>
          <a:srcRect t="69389"/>
          <a:stretch/>
        </p:blipFill>
        <p:spPr>
          <a:xfrm>
            <a:off x="342901" y="372363"/>
            <a:ext cx="4070073" cy="1916753"/>
          </a:xfrm>
          <a:prstGeom prst="rect">
            <a:avLst/>
          </a:prstGeom>
        </p:spPr>
      </p:pic>
      <p:pic>
        <p:nvPicPr>
          <p:cNvPr id="3" name="Picture 2" descr="A collage of a yellow airplane&#10;&#10;AI-generated content may be incorrect.">
            <a:extLst>
              <a:ext uri="{FF2B5EF4-FFF2-40B4-BE49-F238E27FC236}">
                <a16:creationId xmlns:a16="http://schemas.microsoft.com/office/drawing/2014/main" id="{5F426B66-4772-952A-EC98-CF5AA40BA918}"/>
              </a:ext>
            </a:extLst>
          </p:cNvPr>
          <p:cNvPicPr>
            <a:picLocks noChangeAspect="1"/>
          </p:cNvPicPr>
          <p:nvPr/>
        </p:nvPicPr>
        <p:blipFill>
          <a:blip r:embed="rId2"/>
          <a:srcRect t="34278" b="35125"/>
          <a:stretch/>
        </p:blipFill>
        <p:spPr>
          <a:xfrm>
            <a:off x="342900" y="2800594"/>
            <a:ext cx="4070073" cy="1915876"/>
          </a:xfrm>
          <a:prstGeom prst="rect">
            <a:avLst/>
          </a:prstGeom>
        </p:spPr>
      </p:pic>
      <p:sp>
        <p:nvSpPr>
          <p:cNvPr id="7" name="Rectangle 6">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7710" y="0"/>
            <a:ext cx="68580" cy="51435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37460"/>
            <a:ext cx="4594860" cy="685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llage of a yellow airplane&#10;&#10;AI-generated content may be incorrect.">
            <a:extLst>
              <a:ext uri="{FF2B5EF4-FFF2-40B4-BE49-F238E27FC236}">
                <a16:creationId xmlns:a16="http://schemas.microsoft.com/office/drawing/2014/main" id="{3B8F0B7B-802E-503A-85AC-43595C24DB59}"/>
              </a:ext>
            </a:extLst>
          </p:cNvPr>
          <p:cNvPicPr>
            <a:picLocks noChangeAspect="1"/>
          </p:cNvPicPr>
          <p:nvPr/>
        </p:nvPicPr>
        <p:blipFill>
          <a:blip r:embed="rId2"/>
          <a:srcRect b="68093"/>
          <a:stretch/>
        </p:blipFill>
        <p:spPr>
          <a:xfrm>
            <a:off x="4731025" y="1518569"/>
            <a:ext cx="4070073" cy="1997904"/>
          </a:xfrm>
          <a:prstGeom prst="rect">
            <a:avLst/>
          </a:prstGeom>
        </p:spPr>
      </p:pic>
    </p:spTree>
    <p:extLst>
      <p:ext uri="{BB962C8B-B14F-4D97-AF65-F5344CB8AC3E}">
        <p14:creationId xmlns:p14="http://schemas.microsoft.com/office/powerpoint/2010/main" val="660007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124D-CBCA-7814-12BC-C59C1DB53A09}"/>
              </a:ext>
            </a:extLst>
          </p:cNvPr>
          <p:cNvSpPr>
            <a:spLocks noGrp="1"/>
          </p:cNvSpPr>
          <p:nvPr>
            <p:ph type="title"/>
          </p:nvPr>
        </p:nvSpPr>
        <p:spPr/>
        <p:txBody>
          <a:bodyPr>
            <a:normAutofit fontScale="90000"/>
          </a:bodyPr>
          <a:lstStyle/>
          <a:p>
            <a:r>
              <a:rPr lang="en-GB" dirty="0" err="1"/>
              <a:t>Neuraal</a:t>
            </a:r>
            <a:r>
              <a:rPr lang="en-GB" dirty="0"/>
              <a:t> </a:t>
            </a:r>
            <a:r>
              <a:rPr lang="en-GB" dirty="0" err="1"/>
              <a:t>netwerk</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F132CC4-8F4C-83C7-CBE9-DF162193A08D}"/>
                  </a:ext>
                </a:extLst>
              </p:cNvPr>
              <p:cNvSpPr>
                <a:spLocks noGrp="1"/>
              </p:cNvSpPr>
              <p:nvPr>
                <p:ph type="body" idx="1"/>
              </p:nvPr>
            </p:nvSpPr>
            <p:spPr/>
            <p:txBody>
              <a:bodyPr/>
              <a:lstStyle/>
              <a:p>
                <a:r>
                  <a:rPr lang="en-GB" dirty="0"/>
                  <a:t>Leert de ‘</a:t>
                </a:r>
                <a:r>
                  <a:rPr lang="en-GB" dirty="0" err="1"/>
                  <a:t>beste</a:t>
                </a:r>
                <a:r>
                  <a:rPr lang="en-GB" dirty="0"/>
                  <a:t>’ </a:t>
                </a:r>
                <a:r>
                  <a:rPr lang="en-GB" dirty="0" err="1"/>
                  <a:t>gewichten</a:t>
                </a:r>
                <a:r>
                  <a:rPr lang="en-GB" dirty="0"/>
                  <a:t> </a:t>
                </a:r>
                <a14:m>
                  <m:oMath xmlns:m="http://schemas.openxmlformats.org/officeDocument/2006/math">
                    <m:sSub>
                      <m:sSubPr>
                        <m:ctrlPr>
                          <a:rPr lang="en-GB" b="0" i="1" smtClean="0">
                            <a:latin typeface="Cambria Math" panose="02040503050406030204" pitchFamily="18" charset="0"/>
                          </a:rPr>
                        </m:ctrlPr>
                      </m:sSubPr>
                      <m:e>
                        <m:r>
                          <m:rPr>
                            <m:brk m:alnAt="7"/>
                          </m:rPr>
                          <a:rPr lang="en-GB" b="0" i="1" smtClean="0">
                            <a:latin typeface="Cambria Math" panose="02040503050406030204" pitchFamily="18" charset="0"/>
                          </a:rPr>
                          <m:t>𝑤</m:t>
                        </m:r>
                      </m:e>
                      <m:sub>
                        <m:r>
                          <m:rPr>
                            <m:brk m:alnAt="7"/>
                          </m:rPr>
                          <a:rPr lang="en-GB" b="0" i="1" smtClean="0">
                            <a:latin typeface="Cambria Math" panose="02040503050406030204" pitchFamily="18" charset="0"/>
                          </a:rPr>
                          <m:t>𝑖</m:t>
                        </m:r>
                        <m:r>
                          <a:rPr lang="en-GB" b="0" i="1" smtClean="0">
                            <a:latin typeface="Cambria Math" panose="02040503050406030204" pitchFamily="18" charset="0"/>
                          </a:rPr>
                          <m:t>𝑖</m:t>
                        </m:r>
                      </m:sub>
                    </m:sSub>
                    <m:r>
                      <a:rPr lang="en-GB" b="0" i="1" smtClean="0">
                        <a:latin typeface="Cambria Math" panose="02040503050406030204" pitchFamily="18" charset="0"/>
                      </a:rPr>
                      <m:t> </m:t>
                    </m:r>
                  </m:oMath>
                </a14:m>
                <a:r>
                  <a:rPr lang="en-GB" dirty="0"/>
                  <a:t>van de kernels op de </a:t>
                </a:r>
                <a:r>
                  <a:rPr lang="en-GB" dirty="0" err="1"/>
                  <a:t>trainingsdata</a:t>
                </a:r>
                <a:endParaRPr lang="en-GB" dirty="0"/>
              </a:p>
              <a:p>
                <a:endParaRPr lang="en-GB" dirty="0"/>
              </a:p>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𝐾</m:t>
                      </m:r>
                      <m:r>
                        <a:rPr lang="en-GB" b="0" i="1" smtClean="0">
                          <a:latin typeface="Cambria Math" panose="02040503050406030204" pitchFamily="18" charset="0"/>
                        </a:rPr>
                        <m:t>=</m:t>
                      </m:r>
                      <m:d>
                        <m:dPr>
                          <m:begChr m:val="["/>
                          <m:endChr m:val="]"/>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b>
                                  <m:sSubPr>
                                    <m:ctrlPr>
                                      <a:rPr lang="en-GB" b="0" i="1" smtClean="0">
                                        <a:latin typeface="Cambria Math" panose="02040503050406030204" pitchFamily="18" charset="0"/>
                                      </a:rPr>
                                    </m:ctrlPr>
                                  </m:sSubPr>
                                  <m:e>
                                    <m:r>
                                      <m:rPr>
                                        <m:brk m:alnAt="7"/>
                                      </m:rPr>
                                      <a:rPr lang="en-GB" b="0" i="1" smtClean="0">
                                        <a:latin typeface="Cambria Math" panose="02040503050406030204" pitchFamily="18" charset="0"/>
                                      </a:rPr>
                                      <m:t>𝑤</m:t>
                                    </m:r>
                                  </m:e>
                                  <m:sub>
                                    <m:r>
                                      <m:rPr>
                                        <m:brk m:alnAt="7"/>
                                      </m:rPr>
                                      <a:rPr lang="en-GB" b="0" i="1" smtClean="0">
                                        <a:latin typeface="Cambria Math" panose="02040503050406030204" pitchFamily="18" charset="0"/>
                                      </a:rPr>
                                      <m:t>1</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1</m:t>
                                    </m:r>
                                    <m:r>
                                      <a:rPr lang="en-GB" b="0" i="1" smtClean="0">
                                        <a:latin typeface="Cambria Math" panose="02040503050406030204" pitchFamily="18" charset="0"/>
                                      </a:rPr>
                                      <m:t>𝑘</m:t>
                                    </m:r>
                                  </m:sub>
                                </m:sSub>
                              </m:e>
                            </m:mr>
                            <m:mr>
                              <m:e>
                                <m:r>
                                  <a:rPr lang="en-GB" i="1" smtClean="0">
                                    <a:latin typeface="Cambria Math" panose="02040503050406030204" pitchFamily="18" charset="0"/>
                                  </a:rPr>
                                  <m:t>⋮</m:t>
                                </m:r>
                              </m:e>
                              <m:e>
                                <m:r>
                                  <a:rPr lang="en-GB" i="1" smtClean="0">
                                    <a:latin typeface="Cambria Math" panose="02040503050406030204" pitchFamily="18" charset="0"/>
                                  </a:rPr>
                                  <m:t>⋱</m:t>
                                </m:r>
                              </m:e>
                              <m:e>
                                <m:r>
                                  <a:rPr lang="en-GB" i="1" smtClean="0">
                                    <a:latin typeface="Cambria Math" panose="02040503050406030204" pitchFamily="18" charset="0"/>
                                  </a:rPr>
                                  <m:t>⋮</m:t>
                                </m:r>
                              </m:e>
                            </m:mr>
                            <m:m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m:t>
                                    </m:r>
                                    <m:r>
                                      <a:rPr lang="en-GB" b="0" i="1" smtClean="0">
                                        <a:latin typeface="Cambria Math" panose="02040503050406030204" pitchFamily="18" charset="0"/>
                                      </a:rPr>
                                      <m:t>1</m:t>
                                    </m:r>
                                  </m:sub>
                                </m:sSub>
                              </m:e>
                              <m:e>
                                <m:r>
                                  <a:rPr lang="en-GB"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𝑤</m:t>
                                    </m:r>
                                  </m:e>
                                  <m:sub>
                                    <m:r>
                                      <a:rPr lang="en-GB" b="0" i="1" smtClean="0">
                                        <a:latin typeface="Cambria Math" panose="02040503050406030204" pitchFamily="18" charset="0"/>
                                      </a:rPr>
                                      <m:t>𝑘𝑘</m:t>
                                    </m:r>
                                  </m:sub>
                                </m:sSub>
                              </m:e>
                            </m:mr>
                          </m:m>
                        </m:e>
                      </m:d>
                    </m:oMath>
                  </m:oMathPara>
                </a14:m>
                <a:endParaRPr lang="en-US" dirty="0"/>
              </a:p>
            </p:txBody>
          </p:sp>
        </mc:Choice>
        <mc:Fallback xmlns="">
          <p:sp>
            <p:nvSpPr>
              <p:cNvPr id="3" name="Text Placeholder 2">
                <a:extLst>
                  <a:ext uri="{FF2B5EF4-FFF2-40B4-BE49-F238E27FC236}">
                    <a16:creationId xmlns:a16="http://schemas.microsoft.com/office/drawing/2014/main" id="{CF132CC4-8F4C-83C7-CBE9-DF162193A08D}"/>
                  </a:ext>
                </a:extLst>
              </p:cNvPr>
              <p:cNvSpPr>
                <a:spLocks noGrp="1" noRot="1" noChangeAspect="1" noMove="1" noResize="1" noEditPoints="1" noAdjustHandles="1" noChangeArrowheads="1" noChangeShapeType="1" noTextEdit="1"/>
              </p:cNvSpPr>
              <p:nvPr>
                <p:ph type="body" idx="1"/>
              </p:nvPr>
            </p:nvSpPr>
            <p:spPr>
              <a:blipFill>
                <a:blip r:embed="rId3"/>
                <a:stretch>
                  <a:fillRect t="-893"/>
                </a:stretch>
              </a:blipFill>
            </p:spPr>
            <p:txBody>
              <a:bodyPr/>
              <a:lstStyle/>
              <a:p>
                <a:r>
                  <a:rPr lang="en-US">
                    <a:noFill/>
                  </a:rPr>
                  <a:t> </a:t>
                </a:r>
              </a:p>
            </p:txBody>
          </p:sp>
        </mc:Fallback>
      </mc:AlternateContent>
    </p:spTree>
    <p:extLst>
      <p:ext uri="{BB962C8B-B14F-4D97-AF65-F5344CB8AC3E}">
        <p14:creationId xmlns:p14="http://schemas.microsoft.com/office/powerpoint/2010/main" val="1103730445"/>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90FE-CF6A-F29E-FDD3-F87787C28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D18F3-576D-2AAF-2883-A148C036F416}"/>
              </a:ext>
            </a:extLst>
          </p:cNvPr>
          <p:cNvSpPr>
            <a:spLocks noGrp="1"/>
          </p:cNvSpPr>
          <p:nvPr>
            <p:ph type="title"/>
          </p:nvPr>
        </p:nvSpPr>
        <p:spPr/>
        <p:txBody>
          <a:bodyPr>
            <a:normAutofit fontScale="90000"/>
          </a:bodyPr>
          <a:lstStyle/>
          <a:p>
            <a:endParaRPr lang="en-US" dirty="0"/>
          </a:p>
        </p:txBody>
      </p:sp>
      <p:sp>
        <p:nvSpPr>
          <p:cNvPr id="3" name="Text Placeholder 2">
            <a:extLst>
              <a:ext uri="{FF2B5EF4-FFF2-40B4-BE49-F238E27FC236}">
                <a16:creationId xmlns:a16="http://schemas.microsoft.com/office/drawing/2014/main" id="{9B7B383C-8AB9-AA8B-A85E-31EF818B567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5D6D5CD0-0D55-7A11-B358-34EB4DC32811}"/>
              </a:ext>
            </a:extLst>
          </p:cNvPr>
          <p:cNvPicPr>
            <a:picLocks noChangeAspect="1"/>
          </p:cNvPicPr>
          <p:nvPr/>
        </p:nvPicPr>
        <p:blipFill>
          <a:blip r:embed="rId2"/>
          <a:srcRect t="18946" r="70906" b="36289"/>
          <a:stretch/>
        </p:blipFill>
        <p:spPr>
          <a:xfrm>
            <a:off x="545023" y="1798342"/>
            <a:ext cx="2328176" cy="1820917"/>
          </a:xfrm>
          <a:prstGeom prst="rect">
            <a:avLst/>
          </a:prstGeom>
        </p:spPr>
      </p:pic>
      <p:sp>
        <p:nvSpPr>
          <p:cNvPr id="6" name="TextBox 5">
            <a:extLst>
              <a:ext uri="{FF2B5EF4-FFF2-40B4-BE49-F238E27FC236}">
                <a16:creationId xmlns:a16="http://schemas.microsoft.com/office/drawing/2014/main" id="{8C5B4949-A237-FF5E-E7F0-3FC81217C9FF}"/>
              </a:ext>
            </a:extLst>
          </p:cNvPr>
          <p:cNvSpPr txBox="1"/>
          <p:nvPr/>
        </p:nvSpPr>
        <p:spPr>
          <a:xfrm>
            <a:off x="1393407" y="1459788"/>
            <a:ext cx="1747466" cy="338554"/>
          </a:xfrm>
          <a:prstGeom prst="rect">
            <a:avLst/>
          </a:prstGeom>
          <a:noFill/>
        </p:spPr>
        <p:txBody>
          <a:bodyPr wrap="none" rtlCol="0">
            <a:spAutoFit/>
          </a:bodyPr>
          <a:lstStyle/>
          <a:p>
            <a:r>
              <a:rPr lang="en-GB" sz="1600" dirty="0">
                <a:solidFill>
                  <a:schemeClr val="tx1">
                    <a:lumMod val="75000"/>
                    <a:lumOff val="25000"/>
                  </a:schemeClr>
                </a:solidFill>
              </a:rPr>
              <a:t>3 kernels in </a:t>
            </a:r>
            <a:r>
              <a:rPr lang="en-GB" sz="1600" dirty="0" err="1">
                <a:solidFill>
                  <a:schemeClr val="tx1">
                    <a:lumMod val="75000"/>
                    <a:lumOff val="25000"/>
                  </a:schemeClr>
                </a:solidFill>
              </a:rPr>
              <a:t>laag</a:t>
            </a:r>
            <a:r>
              <a:rPr lang="en-GB" sz="1600" dirty="0">
                <a:solidFill>
                  <a:schemeClr val="tx1">
                    <a:lumMod val="75000"/>
                    <a:lumOff val="25000"/>
                  </a:schemeClr>
                </a:solidFill>
              </a:rPr>
              <a:t> 1</a:t>
            </a:r>
            <a:endParaRPr lang="en-US" sz="1600" dirty="0">
              <a:solidFill>
                <a:schemeClr val="tx1">
                  <a:lumMod val="75000"/>
                  <a:lumOff val="25000"/>
                </a:schemeClr>
              </a:solidFill>
            </a:endParaRPr>
          </a:p>
        </p:txBody>
      </p:sp>
      <p:sp>
        <p:nvSpPr>
          <p:cNvPr id="7" name="TextBox 6">
            <a:extLst>
              <a:ext uri="{FF2B5EF4-FFF2-40B4-BE49-F238E27FC236}">
                <a16:creationId xmlns:a16="http://schemas.microsoft.com/office/drawing/2014/main" id="{86FC5A59-0B32-B811-A962-4068B2B5A92A}"/>
              </a:ext>
            </a:extLst>
          </p:cNvPr>
          <p:cNvSpPr txBox="1"/>
          <p:nvPr/>
        </p:nvSpPr>
        <p:spPr>
          <a:xfrm>
            <a:off x="3272183" y="1459788"/>
            <a:ext cx="1747466" cy="338554"/>
          </a:xfrm>
          <a:prstGeom prst="rect">
            <a:avLst/>
          </a:prstGeom>
          <a:noFill/>
        </p:spPr>
        <p:txBody>
          <a:bodyPr wrap="none" rtlCol="0">
            <a:spAutoFit/>
          </a:bodyPr>
          <a:lstStyle/>
          <a:p>
            <a:r>
              <a:rPr lang="en-GB" sz="1600" dirty="0">
                <a:solidFill>
                  <a:schemeClr val="tx1">
                    <a:lumMod val="75000"/>
                    <a:lumOff val="25000"/>
                  </a:schemeClr>
                </a:solidFill>
              </a:rPr>
              <a:t>6 kernels in </a:t>
            </a:r>
            <a:r>
              <a:rPr lang="en-GB" sz="1600" dirty="0" err="1">
                <a:solidFill>
                  <a:schemeClr val="tx1">
                    <a:lumMod val="75000"/>
                    <a:lumOff val="25000"/>
                  </a:schemeClr>
                </a:solidFill>
              </a:rPr>
              <a:t>laag</a:t>
            </a:r>
            <a:r>
              <a:rPr lang="en-GB" sz="1600" dirty="0">
                <a:solidFill>
                  <a:schemeClr val="tx1">
                    <a:lumMod val="75000"/>
                    <a:lumOff val="25000"/>
                  </a:schemeClr>
                </a:solidFill>
              </a:rPr>
              <a:t> 2</a:t>
            </a:r>
            <a:endParaRPr lang="en-US" sz="1600" dirty="0">
              <a:solidFill>
                <a:schemeClr val="tx1">
                  <a:lumMod val="75000"/>
                  <a:lumOff val="25000"/>
                </a:schemeClr>
              </a:solidFill>
            </a:endParaRPr>
          </a:p>
        </p:txBody>
      </p:sp>
      <p:sp>
        <p:nvSpPr>
          <p:cNvPr id="9" name="Rectangle 8">
            <a:extLst>
              <a:ext uri="{FF2B5EF4-FFF2-40B4-BE49-F238E27FC236}">
                <a16:creationId xmlns:a16="http://schemas.microsoft.com/office/drawing/2014/main" id="{F497D3BD-CD6B-C735-68C6-2DA2FF28C523}"/>
              </a:ext>
            </a:extLst>
          </p:cNvPr>
          <p:cNvSpPr/>
          <p:nvPr/>
        </p:nvSpPr>
        <p:spPr>
          <a:xfrm>
            <a:off x="1358758" y="3991025"/>
            <a:ext cx="7360605" cy="577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E73398F-5730-3395-D3A2-F8BCDE6A329A}"/>
              </a:ext>
            </a:extLst>
          </p:cNvPr>
          <p:cNvSpPr txBox="1"/>
          <p:nvPr/>
        </p:nvSpPr>
        <p:spPr>
          <a:xfrm>
            <a:off x="4782143" y="3821748"/>
            <a:ext cx="1635319" cy="338554"/>
          </a:xfrm>
          <a:prstGeom prst="rect">
            <a:avLst/>
          </a:prstGeom>
          <a:noFill/>
        </p:spPr>
        <p:txBody>
          <a:bodyPr wrap="none" rtlCol="0">
            <a:spAutoFit/>
          </a:bodyPr>
          <a:lstStyle/>
          <a:p>
            <a:r>
              <a:rPr lang="en-GB" sz="1600" dirty="0" err="1">
                <a:solidFill>
                  <a:schemeClr val="tx1">
                    <a:lumMod val="75000"/>
                    <a:lumOff val="25000"/>
                  </a:schemeClr>
                </a:solidFill>
              </a:rPr>
              <a:t>Neuraal</a:t>
            </a:r>
            <a:r>
              <a:rPr lang="en-GB" sz="1600" dirty="0">
                <a:solidFill>
                  <a:schemeClr val="tx1">
                    <a:lumMod val="75000"/>
                    <a:lumOff val="25000"/>
                  </a:schemeClr>
                </a:solidFill>
              </a:rPr>
              <a:t> </a:t>
            </a:r>
            <a:r>
              <a:rPr lang="en-GB" sz="1600" dirty="0" err="1">
                <a:solidFill>
                  <a:schemeClr val="tx1">
                    <a:lumMod val="75000"/>
                    <a:lumOff val="25000"/>
                  </a:schemeClr>
                </a:solidFill>
              </a:rPr>
              <a:t>netwerk</a:t>
            </a:r>
            <a:endParaRPr lang="en-US" sz="1600" dirty="0">
              <a:solidFill>
                <a:schemeClr val="tx1">
                  <a:lumMod val="75000"/>
                  <a:lumOff val="25000"/>
                </a:schemeClr>
              </a:solidFill>
            </a:endParaRPr>
          </a:p>
        </p:txBody>
      </p:sp>
      <p:sp>
        <p:nvSpPr>
          <p:cNvPr id="10" name="TextBox 9">
            <a:extLst>
              <a:ext uri="{FF2B5EF4-FFF2-40B4-BE49-F238E27FC236}">
                <a16:creationId xmlns:a16="http://schemas.microsoft.com/office/drawing/2014/main" id="{157DF829-EAAB-760C-E93B-D81A2A03CC27}"/>
              </a:ext>
            </a:extLst>
          </p:cNvPr>
          <p:cNvSpPr txBox="1"/>
          <p:nvPr/>
        </p:nvSpPr>
        <p:spPr>
          <a:xfrm>
            <a:off x="6622419" y="2017521"/>
            <a:ext cx="1562479" cy="584775"/>
          </a:xfrm>
          <a:prstGeom prst="rect">
            <a:avLst/>
          </a:prstGeom>
          <a:noFill/>
        </p:spPr>
        <p:txBody>
          <a:bodyPr wrap="none" rtlCol="0">
            <a:spAutoFit/>
          </a:bodyPr>
          <a:lstStyle/>
          <a:p>
            <a:r>
              <a:rPr lang="en-GB" sz="1600" dirty="0">
                <a:solidFill>
                  <a:schemeClr val="tx1">
                    <a:lumMod val="75000"/>
                    <a:lumOff val="25000"/>
                  </a:schemeClr>
                </a:solidFill>
              </a:rPr>
              <a:t>5 </a:t>
            </a:r>
            <a:r>
              <a:rPr lang="en-GB" sz="1600" dirty="0" err="1">
                <a:solidFill>
                  <a:schemeClr val="tx1">
                    <a:lumMod val="75000"/>
                    <a:lumOff val="25000"/>
                  </a:schemeClr>
                </a:solidFill>
              </a:rPr>
              <a:t>verschillende</a:t>
            </a:r>
            <a:r>
              <a:rPr lang="en-GB" sz="1600" dirty="0">
                <a:solidFill>
                  <a:schemeClr val="tx1">
                    <a:lumMod val="75000"/>
                    <a:lumOff val="25000"/>
                  </a:schemeClr>
                </a:solidFill>
              </a:rPr>
              <a:t> </a:t>
            </a:r>
          </a:p>
          <a:p>
            <a:r>
              <a:rPr lang="en-GB" sz="1600" dirty="0" err="1">
                <a:solidFill>
                  <a:schemeClr val="tx1">
                    <a:lumMod val="75000"/>
                    <a:lumOff val="25000"/>
                  </a:schemeClr>
                </a:solidFill>
              </a:rPr>
              <a:t>classificaties</a:t>
            </a:r>
            <a:endParaRPr lang="en-US" sz="1600" dirty="0">
              <a:solidFill>
                <a:schemeClr val="tx1">
                  <a:lumMod val="75000"/>
                  <a:lumOff val="25000"/>
                </a:schemeClr>
              </a:solidFill>
            </a:endParaRPr>
          </a:p>
        </p:txBody>
      </p:sp>
      <p:pic>
        <p:nvPicPr>
          <p:cNvPr id="12" name="Picture 11">
            <a:extLst>
              <a:ext uri="{FF2B5EF4-FFF2-40B4-BE49-F238E27FC236}">
                <a16:creationId xmlns:a16="http://schemas.microsoft.com/office/drawing/2014/main" id="{B4A59405-8A60-3E18-9C19-916B15391631}"/>
              </a:ext>
            </a:extLst>
          </p:cNvPr>
          <p:cNvPicPr>
            <a:picLocks noChangeAspect="1"/>
          </p:cNvPicPr>
          <p:nvPr/>
        </p:nvPicPr>
        <p:blipFill>
          <a:blip r:embed="rId2"/>
          <a:srcRect l="42174" t="16620" r="44239" b="50500"/>
          <a:stretch/>
        </p:blipFill>
        <p:spPr>
          <a:xfrm>
            <a:off x="3408547" y="1798342"/>
            <a:ext cx="1087220" cy="1337441"/>
          </a:xfrm>
          <a:prstGeom prst="rect">
            <a:avLst/>
          </a:prstGeom>
        </p:spPr>
      </p:pic>
      <p:pic>
        <p:nvPicPr>
          <p:cNvPr id="13" name="Picture 12">
            <a:extLst>
              <a:ext uri="{FF2B5EF4-FFF2-40B4-BE49-F238E27FC236}">
                <a16:creationId xmlns:a16="http://schemas.microsoft.com/office/drawing/2014/main" id="{C644962F-0CCF-145A-B00C-752BD5E8FB5E}"/>
              </a:ext>
            </a:extLst>
          </p:cNvPr>
          <p:cNvPicPr>
            <a:picLocks noChangeAspect="1"/>
          </p:cNvPicPr>
          <p:nvPr/>
        </p:nvPicPr>
        <p:blipFill>
          <a:blip r:embed="rId2"/>
          <a:srcRect l="80474" b="33706"/>
          <a:stretch/>
        </p:blipFill>
        <p:spPr>
          <a:xfrm>
            <a:off x="5101554" y="1055048"/>
            <a:ext cx="1562479" cy="2696681"/>
          </a:xfrm>
          <a:prstGeom prst="rect">
            <a:avLst/>
          </a:prstGeom>
        </p:spPr>
      </p:pic>
      <p:cxnSp>
        <p:nvCxnSpPr>
          <p:cNvPr id="15" name="Straight Connector 14">
            <a:extLst>
              <a:ext uri="{FF2B5EF4-FFF2-40B4-BE49-F238E27FC236}">
                <a16:creationId xmlns:a16="http://schemas.microsoft.com/office/drawing/2014/main" id="{CDBA6686-A876-3E86-C012-7B4CBEE43FEB}"/>
              </a:ext>
            </a:extLst>
          </p:cNvPr>
          <p:cNvCxnSpPr/>
          <p:nvPr/>
        </p:nvCxnSpPr>
        <p:spPr>
          <a:xfrm>
            <a:off x="2806262" y="2364828"/>
            <a:ext cx="602285" cy="29954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FA4C2EB-44F3-3662-9705-E2CE70F38706}"/>
              </a:ext>
            </a:extLst>
          </p:cNvPr>
          <p:cNvCxnSpPr>
            <a:cxnSpLocks/>
          </p:cNvCxnSpPr>
          <p:nvPr/>
        </p:nvCxnSpPr>
        <p:spPr>
          <a:xfrm>
            <a:off x="2806262" y="2498834"/>
            <a:ext cx="670035" cy="3389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55F4F3E-0AD4-2F3E-911C-E217DBFB134C}"/>
              </a:ext>
            </a:extLst>
          </p:cNvPr>
          <p:cNvCxnSpPr>
            <a:cxnSpLocks/>
          </p:cNvCxnSpPr>
          <p:nvPr/>
        </p:nvCxnSpPr>
        <p:spPr>
          <a:xfrm flipV="1">
            <a:off x="4390697" y="1213945"/>
            <a:ext cx="898634" cy="803576"/>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8DEE6BA-303B-2DB0-7456-60E90620C6A4}"/>
              </a:ext>
            </a:extLst>
          </p:cNvPr>
          <p:cNvCxnSpPr>
            <a:cxnSpLocks/>
          </p:cNvCxnSpPr>
          <p:nvPr/>
        </p:nvCxnSpPr>
        <p:spPr>
          <a:xfrm>
            <a:off x="3807372" y="3011214"/>
            <a:ext cx="1481959" cy="608045"/>
          </a:xfrm>
          <a:prstGeom prst="line">
            <a:avLst/>
          </a:prstGeom>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DBB7DEC4-DB15-2977-33EB-64C972A7C675}"/>
              </a:ext>
            </a:extLst>
          </p:cNvPr>
          <p:cNvSpPr/>
          <p:nvPr/>
        </p:nvSpPr>
        <p:spPr>
          <a:xfrm>
            <a:off x="5786921" y="1507239"/>
            <a:ext cx="2451916" cy="485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427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571E-991E-0E93-69C1-5FF3F1C0AAED}"/>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AC327DA6-7400-B23B-0235-F93D8CEB545D}"/>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104238F6-EC84-C751-33D9-70DC54DB6327}"/>
              </a:ext>
            </a:extLst>
          </p:cNvPr>
          <p:cNvPicPr>
            <a:picLocks noChangeAspect="1"/>
          </p:cNvPicPr>
          <p:nvPr/>
        </p:nvPicPr>
        <p:blipFill>
          <a:blip r:embed="rId2"/>
          <a:stretch>
            <a:fillRect/>
          </a:stretch>
        </p:blipFill>
        <p:spPr>
          <a:xfrm>
            <a:off x="424637" y="537878"/>
            <a:ext cx="8002117" cy="4067743"/>
          </a:xfrm>
          <a:prstGeom prst="rect">
            <a:avLst/>
          </a:prstGeom>
        </p:spPr>
      </p:pic>
      <p:sp>
        <p:nvSpPr>
          <p:cNvPr id="6" name="TextBox 5">
            <a:extLst>
              <a:ext uri="{FF2B5EF4-FFF2-40B4-BE49-F238E27FC236}">
                <a16:creationId xmlns:a16="http://schemas.microsoft.com/office/drawing/2014/main" id="{65A35039-C894-4065-8DCB-026AEC8AB2CB}"/>
              </a:ext>
            </a:extLst>
          </p:cNvPr>
          <p:cNvSpPr txBox="1"/>
          <p:nvPr/>
        </p:nvSpPr>
        <p:spPr>
          <a:xfrm>
            <a:off x="1358758" y="598218"/>
            <a:ext cx="1747466" cy="338554"/>
          </a:xfrm>
          <a:prstGeom prst="rect">
            <a:avLst/>
          </a:prstGeom>
          <a:noFill/>
        </p:spPr>
        <p:txBody>
          <a:bodyPr wrap="none" rtlCol="0">
            <a:spAutoFit/>
          </a:bodyPr>
          <a:lstStyle/>
          <a:p>
            <a:r>
              <a:rPr lang="en-GB" sz="1600" dirty="0">
                <a:solidFill>
                  <a:schemeClr val="tx1">
                    <a:lumMod val="75000"/>
                    <a:lumOff val="25000"/>
                  </a:schemeClr>
                </a:solidFill>
              </a:rPr>
              <a:t>3 kernels in </a:t>
            </a:r>
            <a:r>
              <a:rPr lang="en-GB" sz="1600" dirty="0" err="1">
                <a:solidFill>
                  <a:schemeClr val="tx1">
                    <a:lumMod val="75000"/>
                    <a:lumOff val="25000"/>
                  </a:schemeClr>
                </a:solidFill>
              </a:rPr>
              <a:t>laag</a:t>
            </a:r>
            <a:r>
              <a:rPr lang="en-GB" sz="1600" dirty="0">
                <a:solidFill>
                  <a:schemeClr val="tx1">
                    <a:lumMod val="75000"/>
                    <a:lumOff val="25000"/>
                  </a:schemeClr>
                </a:solidFill>
              </a:rPr>
              <a:t> 1</a:t>
            </a:r>
            <a:endParaRPr lang="en-US" sz="1600" dirty="0">
              <a:solidFill>
                <a:schemeClr val="tx1">
                  <a:lumMod val="75000"/>
                  <a:lumOff val="25000"/>
                </a:schemeClr>
              </a:solidFill>
            </a:endParaRPr>
          </a:p>
        </p:txBody>
      </p:sp>
      <p:sp>
        <p:nvSpPr>
          <p:cNvPr id="7" name="TextBox 6">
            <a:extLst>
              <a:ext uri="{FF2B5EF4-FFF2-40B4-BE49-F238E27FC236}">
                <a16:creationId xmlns:a16="http://schemas.microsoft.com/office/drawing/2014/main" id="{38A8B1D8-FCEE-719E-EA5E-7F6122A03117}"/>
              </a:ext>
            </a:extLst>
          </p:cNvPr>
          <p:cNvSpPr txBox="1"/>
          <p:nvPr/>
        </p:nvSpPr>
        <p:spPr>
          <a:xfrm>
            <a:off x="3698267" y="598218"/>
            <a:ext cx="1747466" cy="338554"/>
          </a:xfrm>
          <a:prstGeom prst="rect">
            <a:avLst/>
          </a:prstGeom>
          <a:noFill/>
        </p:spPr>
        <p:txBody>
          <a:bodyPr wrap="none" rtlCol="0">
            <a:spAutoFit/>
          </a:bodyPr>
          <a:lstStyle/>
          <a:p>
            <a:r>
              <a:rPr lang="en-GB" sz="1600" dirty="0">
                <a:solidFill>
                  <a:schemeClr val="tx1">
                    <a:lumMod val="75000"/>
                    <a:lumOff val="25000"/>
                  </a:schemeClr>
                </a:solidFill>
              </a:rPr>
              <a:t>6 kernels in </a:t>
            </a:r>
            <a:r>
              <a:rPr lang="en-GB" sz="1600" dirty="0" err="1">
                <a:solidFill>
                  <a:schemeClr val="tx1">
                    <a:lumMod val="75000"/>
                    <a:lumOff val="25000"/>
                  </a:schemeClr>
                </a:solidFill>
              </a:rPr>
              <a:t>laag</a:t>
            </a:r>
            <a:r>
              <a:rPr lang="en-GB" sz="1600" dirty="0">
                <a:solidFill>
                  <a:schemeClr val="tx1">
                    <a:lumMod val="75000"/>
                    <a:lumOff val="25000"/>
                  </a:schemeClr>
                </a:solidFill>
              </a:rPr>
              <a:t> 2</a:t>
            </a:r>
            <a:endParaRPr lang="en-US" sz="1600" dirty="0">
              <a:solidFill>
                <a:schemeClr val="tx1">
                  <a:lumMod val="75000"/>
                  <a:lumOff val="25000"/>
                </a:schemeClr>
              </a:solidFill>
            </a:endParaRPr>
          </a:p>
        </p:txBody>
      </p:sp>
      <p:sp>
        <p:nvSpPr>
          <p:cNvPr id="10" name="TextBox 9">
            <a:extLst>
              <a:ext uri="{FF2B5EF4-FFF2-40B4-BE49-F238E27FC236}">
                <a16:creationId xmlns:a16="http://schemas.microsoft.com/office/drawing/2014/main" id="{A4A89C7C-2E3B-ABBC-2DAA-B801242E36E3}"/>
              </a:ext>
            </a:extLst>
          </p:cNvPr>
          <p:cNvSpPr txBox="1"/>
          <p:nvPr/>
        </p:nvSpPr>
        <p:spPr>
          <a:xfrm>
            <a:off x="7565842" y="453967"/>
            <a:ext cx="1562479" cy="584775"/>
          </a:xfrm>
          <a:prstGeom prst="rect">
            <a:avLst/>
          </a:prstGeom>
          <a:noFill/>
        </p:spPr>
        <p:txBody>
          <a:bodyPr wrap="none" rtlCol="0">
            <a:spAutoFit/>
          </a:bodyPr>
          <a:lstStyle/>
          <a:p>
            <a:r>
              <a:rPr lang="en-GB" sz="1600" dirty="0">
                <a:solidFill>
                  <a:schemeClr val="tx1">
                    <a:lumMod val="75000"/>
                    <a:lumOff val="25000"/>
                  </a:schemeClr>
                </a:solidFill>
              </a:rPr>
              <a:t>5 </a:t>
            </a:r>
            <a:r>
              <a:rPr lang="en-GB" sz="1600" dirty="0" err="1">
                <a:solidFill>
                  <a:schemeClr val="tx1">
                    <a:lumMod val="75000"/>
                    <a:lumOff val="25000"/>
                  </a:schemeClr>
                </a:solidFill>
              </a:rPr>
              <a:t>verschillende</a:t>
            </a:r>
            <a:r>
              <a:rPr lang="en-GB" sz="1600" dirty="0">
                <a:solidFill>
                  <a:schemeClr val="tx1">
                    <a:lumMod val="75000"/>
                    <a:lumOff val="25000"/>
                  </a:schemeClr>
                </a:solidFill>
              </a:rPr>
              <a:t> </a:t>
            </a:r>
          </a:p>
          <a:p>
            <a:r>
              <a:rPr lang="en-GB" sz="1600" dirty="0" err="1">
                <a:solidFill>
                  <a:schemeClr val="tx1">
                    <a:lumMod val="75000"/>
                    <a:lumOff val="25000"/>
                  </a:schemeClr>
                </a:solidFill>
              </a:rPr>
              <a:t>classificaties</a:t>
            </a:r>
            <a:endParaRPr lang="en-US" sz="1600" dirty="0">
              <a:solidFill>
                <a:schemeClr val="tx1">
                  <a:lumMod val="75000"/>
                  <a:lumOff val="25000"/>
                </a:schemeClr>
              </a:solidFill>
            </a:endParaRPr>
          </a:p>
        </p:txBody>
      </p:sp>
    </p:spTree>
    <p:extLst>
      <p:ext uri="{BB962C8B-B14F-4D97-AF65-F5344CB8AC3E}">
        <p14:creationId xmlns:p14="http://schemas.microsoft.com/office/powerpoint/2010/main" val="3737117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EDBE3-92FB-EE76-2CDF-F89187D68E31}"/>
              </a:ext>
            </a:extLst>
          </p:cNvPr>
          <p:cNvSpPr>
            <a:spLocks noGrp="1"/>
          </p:cNvSpPr>
          <p:nvPr>
            <p:ph type="title"/>
          </p:nvPr>
        </p:nvSpPr>
        <p:spPr/>
        <p:txBody>
          <a:bodyPr>
            <a:normAutofit fontScale="90000"/>
          </a:bodyPr>
          <a:lstStyle/>
          <a:p>
            <a:r>
              <a:rPr lang="en-US" dirty="0"/>
              <a:t>Receptive field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B90E4B5-0A28-809D-F1B8-67A502691422}"/>
                  </a:ext>
                </a:extLst>
              </p:cNvPr>
              <p:cNvSpPr>
                <a:spLocks noGrp="1"/>
              </p:cNvSpPr>
              <p:nvPr>
                <p:ph type="body" idx="1"/>
              </p:nvPr>
            </p:nvSpPr>
            <p:spPr>
              <a:xfrm>
                <a:off x="4228239" y="1631068"/>
                <a:ext cx="4741563" cy="3180087"/>
              </a:xfrm>
            </p:spPr>
            <p:txBody>
              <a:bodyPr/>
              <a:lstStyle/>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=1+</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𝐿</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m:oMathPara>
                </a14:m>
                <a:endParaRPr lang="en-US" dirty="0"/>
              </a:p>
            </p:txBody>
          </p:sp>
        </mc:Choice>
        <mc:Fallback xmlns="">
          <p:sp>
            <p:nvSpPr>
              <p:cNvPr id="3" name="Text Placeholder 2">
                <a:extLst>
                  <a:ext uri="{FF2B5EF4-FFF2-40B4-BE49-F238E27FC236}">
                    <a16:creationId xmlns:a16="http://schemas.microsoft.com/office/drawing/2014/main" id="{6B90E4B5-0A28-809D-F1B8-67A502691422}"/>
                  </a:ext>
                </a:extLst>
              </p:cNvPr>
              <p:cNvSpPr>
                <a:spLocks noGrp="1" noRot="1" noChangeAspect="1" noMove="1" noResize="1" noEditPoints="1" noAdjustHandles="1" noChangeArrowheads="1" noChangeShapeType="1" noTextEdit="1"/>
              </p:cNvSpPr>
              <p:nvPr>
                <p:ph type="body" idx="1"/>
              </p:nvPr>
            </p:nvSpPr>
            <p:spPr>
              <a:xfrm>
                <a:off x="4228239" y="1631068"/>
                <a:ext cx="4741563" cy="3180087"/>
              </a:xfrm>
              <a:blipFill>
                <a:blip r:embed="rId2"/>
                <a:stretch>
                  <a:fillRect/>
                </a:stretch>
              </a:blipFill>
            </p:spPr>
            <p:txBody>
              <a:bodyPr/>
              <a:lstStyle/>
              <a:p>
                <a:r>
                  <a:rPr lang="nl-NL">
                    <a:noFill/>
                  </a:rPr>
                  <a:t> </a:t>
                </a:r>
              </a:p>
            </p:txBody>
          </p:sp>
        </mc:Fallback>
      </mc:AlternateContent>
      <p:pic>
        <p:nvPicPr>
          <p:cNvPr id="1026" name="Picture 2">
            <a:extLst>
              <a:ext uri="{FF2B5EF4-FFF2-40B4-BE49-F238E27FC236}">
                <a16:creationId xmlns:a16="http://schemas.microsoft.com/office/drawing/2014/main" id="{7A3686E3-140F-CD20-8952-EEE243270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640" y="966845"/>
            <a:ext cx="4494098" cy="352393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2">
                <a:extLst>
                  <a:ext uri="{FF2B5EF4-FFF2-40B4-BE49-F238E27FC236}">
                    <a16:creationId xmlns:a16="http://schemas.microsoft.com/office/drawing/2014/main" id="{98B8BEEB-DBA7-7D69-2E16-BEB26D8D0C44}"/>
                  </a:ext>
                </a:extLst>
              </p:cNvPr>
              <p:cNvSpPr txBox="1">
                <a:spLocks/>
              </p:cNvSpPr>
              <p:nvPr/>
            </p:nvSpPr>
            <p:spPr>
              <a:xfrm>
                <a:off x="83647" y="4490775"/>
                <a:ext cx="4741563" cy="3180087"/>
              </a:xfrm>
              <a:prstGeom prst="rect">
                <a:avLst/>
              </a:prstGeom>
            </p:spPr>
            <p:txBody>
              <a:bodyPr spcFirstLastPara="1" vert="horz" wrap="square" lIns="91425" tIns="91425" rIns="91425" bIns="91425" rtlCol="0" anchor="t" anchorCtr="0">
                <a:normAutofit/>
              </a:bodyPr>
              <a:lstStyle>
                <a:lvl1pPr marL="457200" lvl="0" indent="-342900" algn="l" defTabSz="685800" rtl="0" eaLnBrk="1" latinLnBrk="0" hangingPunct="1">
                  <a:lnSpc>
                    <a:spcPct val="90000"/>
                  </a:lnSpc>
                  <a:spcBef>
                    <a:spcPts val="0"/>
                  </a:spcBef>
                  <a:spcAft>
                    <a:spcPts val="0"/>
                  </a:spcAft>
                  <a:buSzPts val="1800"/>
                  <a:buFont typeface="Arial" panose="020B0604020202020204" pitchFamily="34" charset="0"/>
                  <a:buChar char="●"/>
                  <a:defRPr sz="21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1pPr>
                <a:lvl2pPr marL="914400" lvl="1" indent="-317500" algn="l" defTabSz="685800" rtl="0" eaLnBrk="1" latinLnBrk="0" hangingPunct="1">
                  <a:lnSpc>
                    <a:spcPct val="90000"/>
                  </a:lnSpc>
                  <a:spcBef>
                    <a:spcPts val="0"/>
                  </a:spcBef>
                  <a:spcAft>
                    <a:spcPts val="0"/>
                  </a:spcAft>
                  <a:buSzPts val="1400"/>
                  <a:buFont typeface="Arial" panose="020B0604020202020204" pitchFamily="34" charset="0"/>
                  <a:buChar char="○"/>
                  <a:defRPr sz="18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2pPr>
                <a:lvl3pPr marL="1371600" lvl="2" indent="-317500" algn="l" defTabSz="685800" rtl="0" eaLnBrk="1" latinLnBrk="0" hangingPunct="1">
                  <a:lnSpc>
                    <a:spcPct val="90000"/>
                  </a:lnSpc>
                  <a:spcBef>
                    <a:spcPts val="0"/>
                  </a:spcBef>
                  <a:spcAft>
                    <a:spcPts val="0"/>
                  </a:spcAft>
                  <a:buSzPts val="1400"/>
                  <a:buFont typeface="Arial" panose="020B0604020202020204" pitchFamily="34" charset="0"/>
                  <a:buChar char="■"/>
                  <a:defRPr sz="150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3pPr>
                <a:lvl4pPr marL="1828800" lvl="3"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4pPr>
                <a:lvl5pPr marL="2286000" lvl="4"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defRPr>
                </a:lvl5pPr>
                <a:lvl6pPr marL="2743200" lvl="5"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6pPr>
                <a:lvl7pPr marL="3200400" lvl="6"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7pPr>
                <a:lvl8pPr marL="3657600" lvl="7"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8pPr>
                <a:lvl9pPr marL="4114800" lvl="8" indent="-317500" algn="l" defTabSz="685800" rtl="0" eaLnBrk="1" latinLnBrk="0" hangingPunct="1">
                  <a:lnSpc>
                    <a:spcPct val="90000"/>
                  </a:lnSpc>
                  <a:spcBef>
                    <a:spcPts val="0"/>
                  </a:spcBef>
                  <a:spcAft>
                    <a:spcPts val="0"/>
                  </a:spcAft>
                  <a:buSzPts val="1400"/>
                  <a:buFont typeface="Arial" panose="020B0604020202020204" pitchFamily="34" charset="0"/>
                  <a:buChar char="■"/>
                  <a:defRPr sz="1350" kern="1200">
                    <a:solidFill>
                      <a:schemeClr val="tx1"/>
                    </a:solidFill>
                    <a:latin typeface="+mn-lt"/>
                    <a:ea typeface="+mn-ea"/>
                    <a:cs typeface="+mn-cs"/>
                  </a:defRPr>
                </a:lvl9pPr>
              </a:lstStyle>
              <a:p>
                <a:pPr marL="11430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r>
                        <a:rPr lang="en-US" i="1" smtClean="0">
                          <a:latin typeface="Cambria Math" panose="02040503050406030204" pitchFamily="18" charset="0"/>
                        </a:rPr>
                        <m:t>=1+</m:t>
                      </m:r>
                      <m:d>
                        <m:dPr>
                          <m:ctrlPr>
                            <a:rPr lang="en-US" b="0" i="1" smtClean="0">
                              <a:latin typeface="Cambria Math" panose="02040503050406030204" pitchFamily="18" charset="0"/>
                            </a:rPr>
                          </m:ctrlPr>
                        </m:dPr>
                        <m:e>
                          <m:r>
                            <a:rPr lang="en-US" b="0" i="1" smtClean="0">
                              <a:latin typeface="Cambria Math" panose="02040503050406030204" pitchFamily="18" charset="0"/>
                            </a:rPr>
                            <m:t>3−1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3−1</m:t>
                          </m:r>
                        </m:e>
                      </m:d>
                      <m:r>
                        <a:rPr lang="en-US" b="0" i="1" smtClean="0">
                          <a:latin typeface="Cambria Math" panose="02040503050406030204" pitchFamily="18" charset="0"/>
                        </a:rPr>
                        <m:t>=5</m:t>
                      </m:r>
                    </m:oMath>
                  </m:oMathPara>
                </a14:m>
                <a:endParaRPr lang="en-US" dirty="0"/>
              </a:p>
            </p:txBody>
          </p:sp>
        </mc:Choice>
        <mc:Fallback xmlns="">
          <p:sp>
            <p:nvSpPr>
              <p:cNvPr id="4" name="Text Placeholder 2">
                <a:extLst>
                  <a:ext uri="{FF2B5EF4-FFF2-40B4-BE49-F238E27FC236}">
                    <a16:creationId xmlns:a16="http://schemas.microsoft.com/office/drawing/2014/main" id="{98B8BEEB-DBA7-7D69-2E16-BEB26D8D0C44}"/>
                  </a:ext>
                </a:extLst>
              </p:cNvPr>
              <p:cNvSpPr txBox="1">
                <a:spLocks noRot="1" noChangeAspect="1" noMove="1" noResize="1" noEditPoints="1" noAdjustHandles="1" noChangeArrowheads="1" noChangeShapeType="1" noTextEdit="1"/>
              </p:cNvSpPr>
              <p:nvPr/>
            </p:nvSpPr>
            <p:spPr>
              <a:xfrm>
                <a:off x="83647" y="4490775"/>
                <a:ext cx="4741563" cy="3180087"/>
              </a:xfrm>
              <a:prstGeom prst="rect">
                <a:avLst/>
              </a:prstGeom>
              <a:blipFill>
                <a:blip r:embed="rId4"/>
                <a:stretch>
                  <a:fillRect/>
                </a:stretch>
              </a:blipFill>
            </p:spPr>
            <p:txBody>
              <a:bodyPr/>
              <a:lstStyle/>
              <a:p>
                <a:r>
                  <a:rPr lang="nl-NL">
                    <a:noFill/>
                  </a:rPr>
                  <a:t> </a:t>
                </a:r>
              </a:p>
            </p:txBody>
          </p:sp>
        </mc:Fallback>
      </mc:AlternateContent>
    </p:spTree>
    <p:extLst>
      <p:ext uri="{BB962C8B-B14F-4D97-AF65-F5344CB8AC3E}">
        <p14:creationId xmlns:p14="http://schemas.microsoft.com/office/powerpoint/2010/main" val="4192334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E67C0D-A52D-2DD2-2963-F5BF61A872C3}"/>
              </a:ext>
            </a:extLst>
          </p:cNvPr>
          <p:cNvPicPr>
            <a:picLocks noChangeAspect="1"/>
          </p:cNvPicPr>
          <p:nvPr/>
        </p:nvPicPr>
        <p:blipFill>
          <a:blip r:embed="rId2"/>
          <a:stretch>
            <a:fillRect/>
          </a:stretch>
        </p:blipFill>
        <p:spPr>
          <a:xfrm>
            <a:off x="482600" y="1058671"/>
            <a:ext cx="8178799" cy="3026155"/>
          </a:xfrm>
          <a:prstGeom prst="rect">
            <a:avLst/>
          </a:prstGeom>
        </p:spPr>
      </p:pic>
    </p:spTree>
    <p:extLst>
      <p:ext uri="{BB962C8B-B14F-4D97-AF65-F5344CB8AC3E}">
        <p14:creationId xmlns:p14="http://schemas.microsoft.com/office/powerpoint/2010/main" val="1839977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08C6-ED20-7554-A262-081CF1F5B58E}"/>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3CFF33CE-35BE-D2FC-8A57-63EA08221704}"/>
              </a:ext>
            </a:extLst>
          </p:cNvPr>
          <p:cNvSpPr>
            <a:spLocks noGrp="1"/>
          </p:cNvSpPr>
          <p:nvPr>
            <p:ph type="body" idx="1"/>
          </p:nvPr>
        </p:nvSpPr>
        <p:spPr/>
        <p:txBody>
          <a:bodyPr/>
          <a:lstStyle/>
          <a:p>
            <a:endParaRPr lang="en-US"/>
          </a:p>
        </p:txBody>
      </p:sp>
      <p:pic>
        <p:nvPicPr>
          <p:cNvPr id="2050" name="Picture 2">
            <a:extLst>
              <a:ext uri="{FF2B5EF4-FFF2-40B4-BE49-F238E27FC236}">
                <a16:creationId xmlns:a16="http://schemas.microsoft.com/office/drawing/2014/main" id="{B8DEEA90-9C42-B7C0-0F87-1FF677B3A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592810"/>
            <a:ext cx="6667500"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272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36621-75D9-7FDA-BDE0-9D39A1F18525}"/>
              </a:ext>
            </a:extLst>
          </p:cNvPr>
          <p:cNvSpPr>
            <a:spLocks noGrp="1"/>
          </p:cNvSpPr>
          <p:nvPr>
            <p:ph type="title"/>
          </p:nvPr>
        </p:nvSpPr>
        <p:spPr/>
        <p:txBody>
          <a:bodyPr>
            <a:normAutofit fontScale="90000"/>
          </a:bodyPr>
          <a:lstStyle/>
          <a:p>
            <a:r>
              <a:rPr lang="en-GB" dirty="0"/>
              <a:t>Welke kernel</a:t>
            </a:r>
            <a:endParaRPr lang="en-US" dirty="0"/>
          </a:p>
        </p:txBody>
      </p:sp>
      <p:sp>
        <p:nvSpPr>
          <p:cNvPr id="3" name="Text Placeholder 2">
            <a:extLst>
              <a:ext uri="{FF2B5EF4-FFF2-40B4-BE49-F238E27FC236}">
                <a16:creationId xmlns:a16="http://schemas.microsoft.com/office/drawing/2014/main" id="{11A22D88-124E-716D-50C5-3C721BE52DF3}"/>
              </a:ext>
            </a:extLst>
          </p:cNvPr>
          <p:cNvSpPr>
            <a:spLocks noGrp="1"/>
          </p:cNvSpPr>
          <p:nvPr>
            <p:ph type="body" idx="1"/>
          </p:nvPr>
        </p:nvSpPr>
        <p:spPr/>
        <p:txBody>
          <a:bodyPr/>
          <a:lstStyle/>
          <a:p>
            <a:pPr marL="114300" indent="0">
              <a:buNone/>
            </a:pPr>
            <a:r>
              <a:rPr lang="en-GB" dirty="0" err="1"/>
              <a:t>Algoritme</a:t>
            </a:r>
            <a:r>
              <a:rPr lang="en-GB" dirty="0"/>
              <a:t> </a:t>
            </a:r>
            <a:r>
              <a:rPr lang="en-GB" dirty="0" err="1"/>
              <a:t>leert</a:t>
            </a:r>
            <a:r>
              <a:rPr lang="en-GB" dirty="0"/>
              <a:t> </a:t>
            </a:r>
            <a:r>
              <a:rPr lang="en-GB" dirty="0" err="1"/>
              <a:t>welke</a:t>
            </a:r>
            <a:r>
              <a:rPr lang="en-GB" dirty="0"/>
              <a:t> kernels het </a:t>
            </a:r>
            <a:r>
              <a:rPr lang="en-GB" dirty="0" err="1"/>
              <a:t>beste</a:t>
            </a:r>
            <a:r>
              <a:rPr lang="en-GB" dirty="0"/>
              <a:t> </a:t>
            </a:r>
            <a:r>
              <a:rPr lang="en-GB" dirty="0" err="1"/>
              <a:t>classificeren</a:t>
            </a:r>
            <a:endParaRPr lang="en-US" dirty="0"/>
          </a:p>
        </p:txBody>
      </p:sp>
    </p:spTree>
    <p:extLst>
      <p:ext uri="{BB962C8B-B14F-4D97-AF65-F5344CB8AC3E}">
        <p14:creationId xmlns:p14="http://schemas.microsoft.com/office/powerpoint/2010/main" val="933162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B7AA9-7972-D798-4D59-C3D851123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4B5FE-4DBB-9117-5B19-189904F12FF5}"/>
              </a:ext>
            </a:extLst>
          </p:cNvPr>
          <p:cNvSpPr>
            <a:spLocks noGrp="1"/>
          </p:cNvSpPr>
          <p:nvPr>
            <p:ph type="title"/>
          </p:nvPr>
        </p:nvSpPr>
        <p:spPr/>
        <p:txBody>
          <a:bodyPr>
            <a:normAutofit fontScale="90000"/>
          </a:bodyPr>
          <a:lstStyle/>
          <a:p>
            <a:r>
              <a:rPr lang="en-GB" dirty="0" err="1"/>
              <a:t>Binaire</a:t>
            </a:r>
            <a:r>
              <a:rPr lang="en-GB" dirty="0"/>
              <a:t> output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E5C9522-72E6-946F-49E3-9D0CCD961E16}"/>
                  </a:ext>
                </a:extLst>
              </p:cNvPr>
              <p:cNvSpPr>
                <a:spLocks noGrp="1"/>
              </p:cNvSpPr>
              <p:nvPr>
                <p:ph type="body" idx="1"/>
              </p:nvPr>
            </p:nvSpPr>
            <p:spPr/>
            <p:txBody>
              <a:bodyPr/>
              <a:lstStyle/>
              <a:p>
                <a:pPr marL="114300" indent="0">
                  <a:buNone/>
                </a:pPr>
                <a:endParaRPr lang="en-US" dirty="0"/>
              </a:p>
              <a:p>
                <a:pPr marL="114300" indent="0">
                  <a:buNone/>
                </a:pPr>
                <a:endParaRPr lang="en-US" dirty="0"/>
              </a:p>
              <a:p>
                <a:pPr marL="114300" indent="0">
                  <a:buNone/>
                </a:pPr>
                <a:endParaRPr lang="en-US" dirty="0"/>
              </a:p>
              <a:p>
                <a:pPr marL="114300" indent="0">
                  <a:buNone/>
                </a:pPr>
                <a:r>
                  <a:rPr lang="en-US" dirty="0" err="1"/>
                  <a:t>Echte</a:t>
                </a:r>
                <a:r>
                  <a:rPr lang="en-US" dirty="0"/>
                  <a:t> labels: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solidFill>
                          <a:schemeClr val="accent2">
                            <a:lumMod val="75000"/>
                          </a:schemeClr>
                        </a:solidFill>
                        <a:latin typeface="Cambria Math" panose="02040503050406030204" pitchFamily="18" charset="0"/>
                      </a:rPr>
                      <m:t>∈{0,1}</m:t>
                    </m:r>
                  </m:oMath>
                </a14:m>
                <a:r>
                  <a:rPr lang="en-US" dirty="0">
                    <a:solidFill>
                      <a:schemeClr val="accent2">
                        <a:lumMod val="75000"/>
                      </a:schemeClr>
                    </a:solidFill>
                  </a:rPr>
                  <a:t> 		</a:t>
                </a:r>
                <a:endParaRPr lang="en-US" dirty="0"/>
              </a:p>
              <a:p>
                <a:pPr marL="114300" indent="0">
                  <a:buNone/>
                </a:pPr>
                <a:r>
                  <a:rPr lang="en-US" dirty="0"/>
                  <a:t>Output: </a:t>
                </a:r>
                <a14:m>
                  <m:oMath xmlns:m="http://schemas.openxmlformats.org/officeDocument/2006/math">
                    <m:sSub>
                      <m:sSubPr>
                        <m:ctrlPr>
                          <a:rPr lang="en-GB" b="0" i="1" dirty="0" smtClean="0">
                            <a:solidFill>
                              <a:schemeClr val="accent3">
                                <a:lumMod val="75000"/>
                              </a:schemeClr>
                            </a:solidFill>
                            <a:latin typeface="Cambria Math" panose="02040503050406030204" pitchFamily="18" charset="0"/>
                          </a:rPr>
                        </m:ctrlPr>
                      </m:sSubPr>
                      <m:e>
                        <m:r>
                          <a:rPr lang="en-GB" b="0" i="1" dirty="0" smtClean="0">
                            <a:solidFill>
                              <a:schemeClr val="accent3">
                                <a:lumMod val="75000"/>
                              </a:schemeClr>
                            </a:solidFill>
                            <a:latin typeface="Cambria Math" panose="02040503050406030204" pitchFamily="18" charset="0"/>
                          </a:rPr>
                          <m:t>         </m:t>
                        </m:r>
                        <m:r>
                          <a:rPr lang="en-GB" i="1" dirty="0" smtClean="0">
                            <a:solidFill>
                              <a:schemeClr val="accent3">
                                <a:lumMod val="75000"/>
                              </a:schemeClr>
                            </a:solidFill>
                            <a:latin typeface="Cambria Math" panose="02040503050406030204" pitchFamily="18" charset="0"/>
                          </a:rPr>
                          <m:t>𝑦</m:t>
                        </m:r>
                      </m:e>
                      <m:sub>
                        <m:r>
                          <a:rPr lang="en-GB" b="0" i="1" dirty="0" smtClean="0">
                            <a:solidFill>
                              <a:schemeClr val="accent3">
                                <a:lumMod val="75000"/>
                              </a:schemeClr>
                            </a:solidFill>
                            <a:latin typeface="Cambria Math" panose="02040503050406030204" pitchFamily="18" charset="0"/>
                          </a:rPr>
                          <m:t>𝑖</m:t>
                        </m:r>
                      </m:sub>
                    </m:sSub>
                    <m:r>
                      <a:rPr lang="en-GB" b="0" i="1" dirty="0" smtClean="0">
                        <a:solidFill>
                          <a:schemeClr val="accent3">
                            <a:lumMod val="75000"/>
                          </a:schemeClr>
                        </a:solidFill>
                        <a:latin typeface="Cambria Math" panose="02040503050406030204" pitchFamily="18" charset="0"/>
                      </a:rPr>
                      <m:t>∈ [0,1]</m:t>
                    </m:r>
                  </m:oMath>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7E5C9522-72E6-946F-49E3-9D0CCD961E16}"/>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FAC8874-F2DD-60B7-90F7-EA26B5850A06}"/>
              </a:ext>
            </a:extLst>
          </p:cNvPr>
          <p:cNvPicPr>
            <a:picLocks noChangeAspect="1"/>
          </p:cNvPicPr>
          <p:nvPr/>
        </p:nvPicPr>
        <p:blipFill>
          <a:blip r:embed="rId4"/>
          <a:stretch>
            <a:fillRect/>
          </a:stretch>
        </p:blipFill>
        <p:spPr>
          <a:xfrm>
            <a:off x="4256689" y="445025"/>
            <a:ext cx="1327696" cy="295813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595895-25AE-77BC-285A-DCE8A1331A2C}"/>
                  </a:ext>
                </a:extLst>
              </p:cNvPr>
              <p:cNvSpPr txBox="1"/>
              <p:nvPr/>
            </p:nvSpPr>
            <p:spPr>
              <a:xfrm>
                <a:off x="6053959" y="900434"/>
                <a:ext cx="8565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=0</m:t>
                      </m:r>
                    </m:oMath>
                  </m:oMathPara>
                </a14:m>
                <a:endParaRPr lang="en-US" dirty="0"/>
              </a:p>
            </p:txBody>
          </p:sp>
        </mc:Choice>
        <mc:Fallback xmlns="">
          <p:sp>
            <p:nvSpPr>
              <p:cNvPr id="6" name="TextBox 5">
                <a:extLst>
                  <a:ext uri="{FF2B5EF4-FFF2-40B4-BE49-F238E27FC236}">
                    <a16:creationId xmlns:a16="http://schemas.microsoft.com/office/drawing/2014/main" id="{0C595895-25AE-77BC-285A-DCE8A1331A2C}"/>
                  </a:ext>
                </a:extLst>
              </p:cNvPr>
              <p:cNvSpPr txBox="1">
                <a:spLocks noRot="1" noChangeAspect="1" noMove="1" noResize="1" noEditPoints="1" noAdjustHandles="1" noChangeArrowheads="1" noChangeShapeType="1" noTextEdit="1"/>
              </p:cNvSpPr>
              <p:nvPr/>
            </p:nvSpPr>
            <p:spPr>
              <a:xfrm>
                <a:off x="6053959" y="900434"/>
                <a:ext cx="856581" cy="369332"/>
              </a:xfrm>
              <a:prstGeom prst="rect">
                <a:avLst/>
              </a:prstGeom>
              <a:blipFill>
                <a:blip r:embed="rId5"/>
                <a:stretch>
                  <a:fillRect b="-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311FBED-0994-6520-0821-64E7A0E24A88}"/>
                  </a:ext>
                </a:extLst>
              </p:cNvPr>
              <p:cNvSpPr txBox="1"/>
              <p:nvPr/>
            </p:nvSpPr>
            <p:spPr>
              <a:xfrm>
                <a:off x="6053959" y="2297947"/>
                <a:ext cx="8565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r>
                        <a:rPr lang="en-GB" b="0" i="1" smtClean="0">
                          <a:latin typeface="Cambria Math" panose="02040503050406030204" pitchFamily="18" charset="0"/>
                        </a:rPr>
                        <m:t>=1</m:t>
                      </m:r>
                    </m:oMath>
                  </m:oMathPara>
                </a14:m>
                <a:endParaRPr lang="en-US" dirty="0"/>
              </a:p>
            </p:txBody>
          </p:sp>
        </mc:Choice>
        <mc:Fallback xmlns="">
          <p:sp>
            <p:nvSpPr>
              <p:cNvPr id="7" name="TextBox 6">
                <a:extLst>
                  <a:ext uri="{FF2B5EF4-FFF2-40B4-BE49-F238E27FC236}">
                    <a16:creationId xmlns:a16="http://schemas.microsoft.com/office/drawing/2014/main" id="{8311FBED-0994-6520-0821-64E7A0E24A88}"/>
                  </a:ext>
                </a:extLst>
              </p:cNvPr>
              <p:cNvSpPr txBox="1">
                <a:spLocks noRot="1" noChangeAspect="1" noMove="1" noResize="1" noEditPoints="1" noAdjustHandles="1" noChangeArrowheads="1" noChangeShapeType="1" noTextEdit="1"/>
              </p:cNvSpPr>
              <p:nvPr/>
            </p:nvSpPr>
            <p:spPr>
              <a:xfrm>
                <a:off x="6053959" y="2297947"/>
                <a:ext cx="856581"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55567107"/>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C65E8-2D47-B962-BB27-0BF4206CA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4EE7C-E1A6-5870-F536-5F4B26E3DBCA}"/>
              </a:ext>
            </a:extLst>
          </p:cNvPr>
          <p:cNvSpPr>
            <a:spLocks noGrp="1"/>
          </p:cNvSpPr>
          <p:nvPr>
            <p:ph type="title"/>
          </p:nvPr>
        </p:nvSpPr>
        <p:spPr/>
        <p:txBody>
          <a:bodyPr>
            <a:normAutofit fontScale="90000"/>
          </a:bodyPr>
          <a:lstStyle/>
          <a:p>
            <a:r>
              <a:rPr lang="en-GB" dirty="0" err="1"/>
              <a:t>Binaire</a:t>
            </a:r>
            <a:r>
              <a:rPr lang="en-GB" dirty="0"/>
              <a:t> output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59442B7-BF71-B1ED-DC47-899799FBD5AC}"/>
                  </a:ext>
                </a:extLst>
              </p:cNvPr>
              <p:cNvSpPr>
                <a:spLocks noGrp="1"/>
              </p:cNvSpPr>
              <p:nvPr>
                <p:ph type="body" idx="1"/>
              </p:nvPr>
            </p:nvSpPr>
            <p:spPr/>
            <p:txBody>
              <a:bodyPr/>
              <a:lstStyle/>
              <a:p>
                <a:pPr marL="114300" indent="0">
                  <a:buNone/>
                </a:pPr>
                <a:endParaRPr lang="en-US" dirty="0"/>
              </a:p>
              <a:p>
                <a:pPr marL="114300" indent="0">
                  <a:buNone/>
                </a:pPr>
                <a:endParaRPr lang="en-US" dirty="0"/>
              </a:p>
              <a:p>
                <a:pPr marL="114300" indent="0">
                  <a:buNone/>
                </a:pPr>
                <a:endParaRPr lang="en-US" dirty="0"/>
              </a:p>
              <a:p>
                <a:pPr marL="114300" indent="0">
                  <a:buNone/>
                </a:pPr>
                <a:r>
                  <a:rPr lang="en-US" dirty="0" err="1"/>
                  <a:t>Echte</a:t>
                </a:r>
                <a:r>
                  <a:rPr lang="en-US" dirty="0"/>
                  <a:t> labels: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solidFill>
                          <a:schemeClr val="accent2">
                            <a:lumMod val="75000"/>
                          </a:schemeClr>
                        </a:solidFill>
                        <a:latin typeface="Cambria Math" panose="02040503050406030204" pitchFamily="18" charset="0"/>
                      </a:rPr>
                      <m:t>∈{0,1}</m:t>
                    </m:r>
                  </m:oMath>
                </a14:m>
                <a:r>
                  <a:rPr lang="en-US" dirty="0">
                    <a:solidFill>
                      <a:schemeClr val="accent2">
                        <a:lumMod val="75000"/>
                      </a:schemeClr>
                    </a:solidFill>
                  </a:rPr>
                  <a:t> 		</a:t>
                </a:r>
                <a:endParaRPr lang="en-US" dirty="0"/>
              </a:p>
              <a:p>
                <a:pPr marL="114300" indent="0">
                  <a:buNone/>
                </a:pPr>
                <a:r>
                  <a:rPr lang="en-US" dirty="0"/>
                  <a:t>Output: </a:t>
                </a:r>
                <a14:m>
                  <m:oMath xmlns:m="http://schemas.openxmlformats.org/officeDocument/2006/math">
                    <m:sSub>
                      <m:sSubPr>
                        <m:ctrlPr>
                          <a:rPr lang="en-US" i="1" dirty="0" smtClean="0">
                            <a:solidFill>
                              <a:schemeClr val="accent3">
                                <a:lumMod val="75000"/>
                              </a:schemeClr>
                            </a:solidFill>
                            <a:latin typeface="Cambria Math" panose="02040503050406030204" pitchFamily="18" charset="0"/>
                          </a:rPr>
                        </m:ctrlPr>
                      </m:sSubPr>
                      <m:e>
                        <m:r>
                          <a:rPr lang="en-GB" b="0" i="1" dirty="0" smtClean="0">
                            <a:solidFill>
                              <a:schemeClr val="accent3">
                                <a:lumMod val="75000"/>
                              </a:schemeClr>
                            </a:solidFill>
                            <a:latin typeface="Cambria Math" panose="02040503050406030204" pitchFamily="18" charset="0"/>
                          </a:rPr>
                          <m:t>         </m:t>
                        </m:r>
                        <m:r>
                          <a:rPr lang="en-GB" b="0" i="1" dirty="0" smtClean="0">
                            <a:solidFill>
                              <a:schemeClr val="accent3">
                                <a:lumMod val="75000"/>
                              </a:schemeClr>
                            </a:solidFill>
                            <a:latin typeface="Cambria Math" panose="02040503050406030204" pitchFamily="18" charset="0"/>
                          </a:rPr>
                          <m:t>𝑦</m:t>
                        </m:r>
                      </m:e>
                      <m:sub>
                        <m:r>
                          <a:rPr lang="en-US" i="1" dirty="0" smtClean="0">
                            <a:solidFill>
                              <a:schemeClr val="accent3">
                                <a:lumMod val="75000"/>
                              </a:schemeClr>
                            </a:solidFill>
                            <a:latin typeface="Cambria Math" panose="02040503050406030204" pitchFamily="18" charset="0"/>
                          </a:rPr>
                          <m:t>𝑖</m:t>
                        </m:r>
                      </m:sub>
                    </m:sSub>
                    <m:r>
                      <a:rPr lang="en-GB" b="0" i="1" dirty="0" smtClean="0">
                        <a:solidFill>
                          <a:schemeClr val="accent3">
                            <a:lumMod val="75000"/>
                          </a:schemeClr>
                        </a:solidFill>
                        <a:latin typeface="Cambria Math" panose="02040503050406030204" pitchFamily="18" charset="0"/>
                      </a:rPr>
                      <m:t>∈ [0,1]</m:t>
                    </m:r>
                  </m:oMath>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B59442B7-BF71-B1ED-DC47-899799FBD5A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6B6CBBD-D063-9D50-5D5C-3266BD776C1C}"/>
                  </a:ext>
                </a:extLst>
              </p:cNvPr>
              <p:cNvSpPr txBox="1"/>
              <p:nvPr/>
            </p:nvSpPr>
            <p:spPr>
              <a:xfrm>
                <a:off x="6053959" y="900434"/>
                <a:ext cx="1034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=0.9</m:t>
                      </m:r>
                    </m:oMath>
                  </m:oMathPara>
                </a14:m>
                <a:endParaRPr lang="en-US" dirty="0"/>
              </a:p>
            </p:txBody>
          </p:sp>
        </mc:Choice>
        <mc:Fallback xmlns="">
          <p:sp>
            <p:nvSpPr>
              <p:cNvPr id="6" name="TextBox 5">
                <a:extLst>
                  <a:ext uri="{FF2B5EF4-FFF2-40B4-BE49-F238E27FC236}">
                    <a16:creationId xmlns:a16="http://schemas.microsoft.com/office/drawing/2014/main" id="{26B6CBBD-D063-9D50-5D5C-3266BD776C1C}"/>
                  </a:ext>
                </a:extLst>
              </p:cNvPr>
              <p:cNvSpPr txBox="1">
                <a:spLocks noRot="1" noChangeAspect="1" noMove="1" noResize="1" noEditPoints="1" noAdjustHandles="1" noChangeArrowheads="1" noChangeShapeType="1" noTextEdit="1"/>
              </p:cNvSpPr>
              <p:nvPr/>
            </p:nvSpPr>
            <p:spPr>
              <a:xfrm>
                <a:off x="6053959" y="900434"/>
                <a:ext cx="1034578" cy="369332"/>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B3453A-6CA4-820C-2440-84387950E77D}"/>
                  </a:ext>
                </a:extLst>
              </p:cNvPr>
              <p:cNvSpPr txBox="1"/>
              <p:nvPr/>
            </p:nvSpPr>
            <p:spPr>
              <a:xfrm>
                <a:off x="6053959" y="2297947"/>
                <a:ext cx="1034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=0.1</m:t>
                      </m:r>
                    </m:oMath>
                  </m:oMathPara>
                </a14:m>
                <a:endParaRPr lang="en-US" dirty="0"/>
              </a:p>
            </p:txBody>
          </p:sp>
        </mc:Choice>
        <mc:Fallback xmlns="">
          <p:sp>
            <p:nvSpPr>
              <p:cNvPr id="7" name="TextBox 6">
                <a:extLst>
                  <a:ext uri="{FF2B5EF4-FFF2-40B4-BE49-F238E27FC236}">
                    <a16:creationId xmlns:a16="http://schemas.microsoft.com/office/drawing/2014/main" id="{20B3453A-6CA4-820C-2440-84387950E77D}"/>
                  </a:ext>
                </a:extLst>
              </p:cNvPr>
              <p:cNvSpPr txBox="1">
                <a:spLocks noRot="1" noChangeAspect="1" noMove="1" noResize="1" noEditPoints="1" noAdjustHandles="1" noChangeArrowheads="1" noChangeShapeType="1" noTextEdit="1"/>
              </p:cNvSpPr>
              <p:nvPr/>
            </p:nvSpPr>
            <p:spPr>
              <a:xfrm>
                <a:off x="6053959" y="2297947"/>
                <a:ext cx="1034578" cy="369332"/>
              </a:xfrm>
              <a:prstGeom prst="rect">
                <a:avLst/>
              </a:prstGeom>
              <a:blipFill>
                <a:blip r:embed="rId4"/>
                <a:stretch>
                  <a:fillRect b="-491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C0F47BA-2773-2318-563F-A46D7BFFA770}"/>
              </a:ext>
            </a:extLst>
          </p:cNvPr>
          <p:cNvPicPr>
            <a:picLocks noChangeAspect="1"/>
          </p:cNvPicPr>
          <p:nvPr/>
        </p:nvPicPr>
        <p:blipFill>
          <a:blip r:embed="rId5"/>
          <a:srcRect r="55037"/>
          <a:stretch/>
        </p:blipFill>
        <p:spPr>
          <a:xfrm>
            <a:off x="3510642" y="0"/>
            <a:ext cx="2251655" cy="51435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6E4F10-3DC4-1FAE-B2B9-F789DD2EB0D4}"/>
                  </a:ext>
                </a:extLst>
              </p:cNvPr>
              <p:cNvSpPr txBox="1"/>
              <p:nvPr/>
            </p:nvSpPr>
            <p:spPr>
              <a:xfrm>
                <a:off x="6053958" y="3991025"/>
                <a:ext cx="11628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=0.45</m:t>
                      </m:r>
                    </m:oMath>
                  </m:oMathPara>
                </a14:m>
                <a:endParaRPr lang="en-US" dirty="0"/>
              </a:p>
            </p:txBody>
          </p:sp>
        </mc:Choice>
        <mc:Fallback xmlns="">
          <p:sp>
            <p:nvSpPr>
              <p:cNvPr id="9" name="TextBox 8">
                <a:extLst>
                  <a:ext uri="{FF2B5EF4-FFF2-40B4-BE49-F238E27FC236}">
                    <a16:creationId xmlns:a16="http://schemas.microsoft.com/office/drawing/2014/main" id="{2B6E4F10-3DC4-1FAE-B2B9-F789DD2EB0D4}"/>
                  </a:ext>
                </a:extLst>
              </p:cNvPr>
              <p:cNvSpPr txBox="1">
                <a:spLocks noRot="1" noChangeAspect="1" noMove="1" noResize="1" noEditPoints="1" noAdjustHandles="1" noChangeArrowheads="1" noChangeShapeType="1" noTextEdit="1"/>
              </p:cNvSpPr>
              <p:nvPr/>
            </p:nvSpPr>
            <p:spPr>
              <a:xfrm>
                <a:off x="6053958" y="3991025"/>
                <a:ext cx="1162819" cy="369332"/>
              </a:xfrm>
              <a:prstGeom prst="rect">
                <a:avLst/>
              </a:prstGeom>
              <a:blipFill>
                <a:blip r:embed="rId6"/>
                <a:stretch>
                  <a:fillRect b="-6667"/>
                </a:stretch>
              </a:blipFill>
            </p:spPr>
            <p:txBody>
              <a:bodyPr/>
              <a:lstStyle/>
              <a:p>
                <a:r>
                  <a:rPr lang="en-US">
                    <a:noFill/>
                  </a:rPr>
                  <a:t> </a:t>
                </a:r>
              </a:p>
            </p:txBody>
          </p:sp>
        </mc:Fallback>
      </mc:AlternateContent>
    </p:spTree>
    <p:extLst>
      <p:ext uri="{BB962C8B-B14F-4D97-AF65-F5344CB8AC3E}">
        <p14:creationId xmlns:p14="http://schemas.microsoft.com/office/powerpoint/2010/main" val="2989748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2DA75-85AE-93B7-0018-34B16B2DCC28}"/>
              </a:ext>
            </a:extLst>
          </p:cNvPr>
          <p:cNvSpPr>
            <a:spLocks noGrp="1"/>
          </p:cNvSpPr>
          <p:nvPr>
            <p:ph type="title"/>
          </p:nvPr>
        </p:nvSpPr>
        <p:spPr/>
        <p:txBody>
          <a:bodyPr>
            <a:normAutofit fontScale="90000"/>
          </a:bodyPr>
          <a:lstStyle/>
          <a:p>
            <a:r>
              <a:rPr lang="en-GB" dirty="0"/>
              <a:t>Loss </a:t>
            </a:r>
            <a:r>
              <a:rPr lang="en-GB" dirty="0" err="1"/>
              <a:t>functie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24939F8-66B0-8901-5CBA-09082BB27124}"/>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m:t>
                      </m:r>
                      <m:d>
                        <m:dPr>
                          <m:ctrlPr>
                            <a:rPr lang="en-GB" b="0" i="1" smtClean="0">
                              <a:latin typeface="Cambria Math" panose="02040503050406030204" pitchFamily="18" charset="0"/>
                            </a:rPr>
                          </m:ctrlPr>
                        </m:dPr>
                        <m:e>
                          <m:r>
                            <a:rPr lang="en-GB" b="0" i="1" smtClean="0">
                              <a:latin typeface="Cambria Math" panose="02040503050406030204" pitchFamily="18" charset="0"/>
                            </a:rPr>
                            <m:t>𝑁</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r>
                        <a:rPr lang="en-GB" b="0" i="1" smtClean="0">
                          <a:latin typeface="Cambria Math" panose="02040503050406030204" pitchFamily="18" charset="0"/>
                        </a:rPr>
                        <m:t>∑(</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m:t>
                              </m:r>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e>
                          </m:d>
                          <m:r>
                            <m:rPr>
                              <m:sty m:val="p"/>
                            </m:rPr>
                            <a:rPr lang="en-GB" b="0" i="0" smtClean="0">
                              <a:latin typeface="Cambria Math" panose="02040503050406030204" pitchFamily="18" charset="0"/>
                            </a:rPr>
                            <m:t>log</m:t>
                          </m:r>
                          <m:r>
                            <a:rPr lang="en-GB" b="0" i="1" smtClean="0">
                              <a:latin typeface="Cambria Math" panose="02040503050406030204" pitchFamily="18" charset="0"/>
                            </a:rPr>
                            <m:t>⁡(1−</m:t>
                          </m:r>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e>
                      </m:func>
                    </m:oMath>
                  </m:oMathPara>
                </a14:m>
                <a:endParaRPr lang="en-US" dirty="0"/>
              </a:p>
              <a:p>
                <a:pPr marL="114300" indent="0">
                  <a:buNone/>
                </a:pPr>
                <a:endParaRPr lang="en-US" dirty="0"/>
              </a:p>
              <a:p>
                <a:pPr marL="114300" indent="0">
                  <a:buNone/>
                </a:pPr>
                <a:endParaRPr lang="en-US" dirty="0"/>
              </a:p>
              <a:p>
                <a:pPr marL="114300" indent="0">
                  <a:buNone/>
                </a:pPr>
                <a:r>
                  <a:rPr lang="en-US" dirty="0" err="1"/>
                  <a:t>Echte</a:t>
                </a:r>
                <a:r>
                  <a:rPr lang="en-US" dirty="0"/>
                  <a:t> labels: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solidFill>
                          <a:schemeClr val="accent2">
                            <a:lumMod val="75000"/>
                          </a:schemeClr>
                        </a:solidFill>
                        <a:latin typeface="Cambria Math" panose="02040503050406030204" pitchFamily="18" charset="0"/>
                      </a:rPr>
                      <m:t>∈{0,1}</m:t>
                    </m:r>
                  </m:oMath>
                </a14:m>
                <a:r>
                  <a:rPr lang="en-US" dirty="0">
                    <a:solidFill>
                      <a:schemeClr val="accent2">
                        <a:lumMod val="75000"/>
                      </a:schemeClr>
                    </a:solidFill>
                  </a:rPr>
                  <a:t> </a:t>
                </a:r>
                <a:endParaRPr lang="en-US" dirty="0"/>
              </a:p>
              <a:p>
                <a:pPr marL="114300" indent="0">
                  <a:buNone/>
                </a:pPr>
                <a:r>
                  <a:rPr lang="en-US" dirty="0"/>
                  <a:t>Output: </a:t>
                </a:r>
                <a14:m>
                  <m:oMath xmlns:m="http://schemas.openxmlformats.org/officeDocument/2006/math">
                    <m:sSub>
                      <m:sSubPr>
                        <m:ctrlPr>
                          <a:rPr lang="en-US" i="1" dirty="0" smtClean="0">
                            <a:solidFill>
                              <a:schemeClr val="accent3">
                                <a:lumMod val="75000"/>
                              </a:schemeClr>
                            </a:solidFill>
                            <a:latin typeface="Cambria Math" panose="02040503050406030204" pitchFamily="18" charset="0"/>
                          </a:rPr>
                        </m:ctrlPr>
                      </m:sSubPr>
                      <m:e>
                        <m:r>
                          <a:rPr lang="en-GB" b="0" i="1" dirty="0" smtClean="0">
                            <a:solidFill>
                              <a:schemeClr val="accent3">
                                <a:lumMod val="75000"/>
                              </a:schemeClr>
                            </a:solidFill>
                            <a:latin typeface="Cambria Math" panose="02040503050406030204" pitchFamily="18" charset="0"/>
                          </a:rPr>
                          <m:t>         </m:t>
                        </m:r>
                        <m:r>
                          <a:rPr lang="en-GB" b="0" i="1" dirty="0" smtClean="0">
                            <a:solidFill>
                              <a:schemeClr val="accent3">
                                <a:lumMod val="75000"/>
                              </a:schemeClr>
                            </a:solidFill>
                            <a:latin typeface="Cambria Math" panose="02040503050406030204" pitchFamily="18" charset="0"/>
                          </a:rPr>
                          <m:t>𝑦</m:t>
                        </m:r>
                      </m:e>
                      <m:sub>
                        <m:r>
                          <a:rPr lang="en-US" i="1" dirty="0" smtClean="0">
                            <a:solidFill>
                              <a:schemeClr val="accent3">
                                <a:lumMod val="75000"/>
                              </a:schemeClr>
                            </a:solidFill>
                            <a:latin typeface="Cambria Math" panose="02040503050406030204" pitchFamily="18" charset="0"/>
                          </a:rPr>
                          <m:t>𝑖</m:t>
                        </m:r>
                      </m:sub>
                    </m:sSub>
                    <m:r>
                      <a:rPr lang="en-GB" b="0" i="1" dirty="0" smtClean="0">
                        <a:solidFill>
                          <a:schemeClr val="accent3">
                            <a:lumMod val="75000"/>
                          </a:schemeClr>
                        </a:solidFill>
                        <a:latin typeface="Cambria Math" panose="02040503050406030204" pitchFamily="18" charset="0"/>
                      </a:rPr>
                      <m:t>∈ [0,1]</m:t>
                    </m:r>
                  </m:oMath>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124939F8-66B0-8901-5CBA-09082BB2712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79260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13B08-B355-01DD-47B8-959DD9C80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4F04E-4F67-749D-B06D-75A4383E35E5}"/>
              </a:ext>
            </a:extLst>
          </p:cNvPr>
          <p:cNvSpPr>
            <a:spLocks noGrp="1"/>
          </p:cNvSpPr>
          <p:nvPr>
            <p:ph type="title"/>
          </p:nvPr>
        </p:nvSpPr>
        <p:spPr/>
        <p:txBody>
          <a:bodyPr>
            <a:normAutofit fontScale="90000"/>
          </a:bodyPr>
          <a:lstStyle/>
          <a:p>
            <a:r>
              <a:rPr lang="en-GB" dirty="0"/>
              <a:t>Loss </a:t>
            </a:r>
            <a:r>
              <a:rPr lang="en-GB" dirty="0" err="1"/>
              <a:t>functie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021A1DC-470B-C302-54AC-D685BEA2CCD2}"/>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m:t>
                      </m:r>
                      <m:d>
                        <m:dPr>
                          <m:ctrlPr>
                            <a:rPr lang="en-GB" b="0" i="1" smtClean="0">
                              <a:latin typeface="Cambria Math" panose="02040503050406030204" pitchFamily="18" charset="0"/>
                            </a:rPr>
                          </m:ctrlPr>
                        </m:dPr>
                        <m:e>
                          <m:r>
                            <a:rPr lang="en-GB" b="0" i="1" smtClean="0">
                              <a:latin typeface="Cambria Math" panose="02040503050406030204" pitchFamily="18" charset="0"/>
                            </a:rPr>
                            <m:t>𝑁</m:t>
                          </m:r>
                        </m:e>
                      </m:d>
                      <m:r>
                        <a:rPr lang="en-GB" b="0" i="1" smtClean="0">
                          <a:latin typeface="Cambria Math" panose="02040503050406030204" pitchFamily="18" charset="0"/>
                        </a:rPr>
                        <m:t>=</m:t>
                      </m:r>
                      <m:f>
                        <m:fPr>
                          <m:ctrlPr>
                            <a:rPr lang="en-GB" b="0" i="1" smtClean="0">
                              <a:solidFill>
                                <a:schemeClr val="bg1"/>
                              </a:solidFill>
                              <a:latin typeface="Cambria Math" panose="02040503050406030204" pitchFamily="18" charset="0"/>
                            </a:rPr>
                          </m:ctrlPr>
                        </m:fPr>
                        <m:num>
                          <m:r>
                            <a:rPr lang="en-GB" b="0" i="1" smtClean="0">
                              <a:solidFill>
                                <a:schemeClr val="bg1"/>
                              </a:solidFill>
                              <a:latin typeface="Cambria Math" panose="02040503050406030204" pitchFamily="18" charset="0"/>
                            </a:rPr>
                            <m:t>1</m:t>
                          </m:r>
                        </m:num>
                        <m:den>
                          <m:r>
                            <a:rPr lang="en-GB" b="0" i="1" smtClean="0">
                              <a:solidFill>
                                <a:schemeClr val="bg1"/>
                              </a:solidFill>
                              <a:latin typeface="Cambria Math" panose="02040503050406030204" pitchFamily="18" charset="0"/>
                            </a:rPr>
                            <m:t>𝑁</m:t>
                          </m:r>
                        </m:den>
                      </m:f>
                      <m:r>
                        <a:rPr lang="en-GB" b="0" i="1" smtClean="0">
                          <a:solidFill>
                            <a:schemeClr val="bg1"/>
                          </a:solidFill>
                          <a:latin typeface="Cambria Math" panose="02040503050406030204" pitchFamily="18" charset="0"/>
                        </a:rPr>
                        <m:t>∑</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m:t>
                          </m:r>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m:t>
                              </m:r>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e>
                          </m:d>
                          <m:r>
                            <m:rPr>
                              <m:sty m:val="p"/>
                            </m:rPr>
                            <a:rPr lang="en-GB" b="0" i="0" smtClean="0">
                              <a:latin typeface="Cambria Math" panose="02040503050406030204" pitchFamily="18" charset="0"/>
                            </a:rPr>
                            <m:t>log</m:t>
                          </m:r>
                          <m:r>
                            <a:rPr lang="en-GB" b="0" i="1" smtClean="0">
                              <a:latin typeface="Cambria Math" panose="02040503050406030204" pitchFamily="18" charset="0"/>
                            </a:rPr>
                            <m:t>⁡(1−</m:t>
                          </m:r>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e>
                      </m:func>
                    </m:oMath>
                  </m:oMathPara>
                </a14:m>
                <a:endParaRPr lang="en-US" dirty="0"/>
              </a:p>
              <a:p>
                <a:pPr marL="114300" indent="0">
                  <a:buNone/>
                </a:pPr>
                <a:endParaRPr lang="en-US" dirty="0"/>
              </a:p>
              <a:p>
                <a:pPr marL="114300" indent="0">
                  <a:buNone/>
                </a:pPr>
                <a:endParaRPr lang="en-US" dirty="0"/>
              </a:p>
              <a:p>
                <a:pPr marL="114300" indent="0">
                  <a:buNone/>
                </a:pPr>
                <a:r>
                  <a:rPr lang="en-US" dirty="0" err="1"/>
                  <a:t>Echte</a:t>
                </a:r>
                <a:r>
                  <a:rPr lang="en-US" dirty="0"/>
                  <a:t> labels: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solidFill>
                          <a:schemeClr val="accent2">
                            <a:lumMod val="75000"/>
                          </a:schemeClr>
                        </a:solidFill>
                        <a:latin typeface="Cambria Math" panose="02040503050406030204" pitchFamily="18" charset="0"/>
                      </a:rPr>
                      <m:t>∈{0,1}</m:t>
                    </m:r>
                  </m:oMath>
                </a14:m>
                <a:r>
                  <a:rPr lang="en-US" dirty="0">
                    <a:solidFill>
                      <a:schemeClr val="accent2">
                        <a:lumMod val="75000"/>
                      </a:schemeClr>
                    </a:solidFill>
                  </a:rPr>
                  <a:t> </a:t>
                </a:r>
                <a:endParaRPr lang="en-US" dirty="0"/>
              </a:p>
              <a:p>
                <a:pPr marL="114300" indent="0">
                  <a:buNone/>
                </a:pPr>
                <a:r>
                  <a:rPr lang="en-US" dirty="0"/>
                  <a:t>Output: </a:t>
                </a:r>
                <a14:m>
                  <m:oMath xmlns:m="http://schemas.openxmlformats.org/officeDocument/2006/math">
                    <m:sSub>
                      <m:sSubPr>
                        <m:ctrlPr>
                          <a:rPr lang="en-US" i="1" dirty="0" smtClean="0">
                            <a:solidFill>
                              <a:schemeClr val="accent3">
                                <a:lumMod val="75000"/>
                              </a:schemeClr>
                            </a:solidFill>
                            <a:latin typeface="Cambria Math" panose="02040503050406030204" pitchFamily="18" charset="0"/>
                          </a:rPr>
                        </m:ctrlPr>
                      </m:sSubPr>
                      <m:e>
                        <m:r>
                          <a:rPr lang="en-GB" b="0" i="1" dirty="0" smtClean="0">
                            <a:solidFill>
                              <a:schemeClr val="accent3">
                                <a:lumMod val="75000"/>
                              </a:schemeClr>
                            </a:solidFill>
                            <a:latin typeface="Cambria Math" panose="02040503050406030204" pitchFamily="18" charset="0"/>
                          </a:rPr>
                          <m:t>         </m:t>
                        </m:r>
                        <m:r>
                          <a:rPr lang="en-GB" b="0" i="1" dirty="0" smtClean="0">
                            <a:solidFill>
                              <a:schemeClr val="accent3">
                                <a:lumMod val="75000"/>
                              </a:schemeClr>
                            </a:solidFill>
                            <a:latin typeface="Cambria Math" panose="02040503050406030204" pitchFamily="18" charset="0"/>
                          </a:rPr>
                          <m:t>𝑦</m:t>
                        </m:r>
                      </m:e>
                      <m:sub>
                        <m:r>
                          <a:rPr lang="en-US" i="1" dirty="0" smtClean="0">
                            <a:solidFill>
                              <a:schemeClr val="accent3">
                                <a:lumMod val="75000"/>
                              </a:schemeClr>
                            </a:solidFill>
                            <a:latin typeface="Cambria Math" panose="02040503050406030204" pitchFamily="18" charset="0"/>
                          </a:rPr>
                          <m:t>𝑖</m:t>
                        </m:r>
                      </m:sub>
                    </m:sSub>
                    <m:r>
                      <a:rPr lang="en-GB" b="0" i="1" dirty="0" smtClean="0">
                        <a:solidFill>
                          <a:schemeClr val="accent3">
                            <a:lumMod val="75000"/>
                          </a:schemeClr>
                        </a:solidFill>
                        <a:latin typeface="Cambria Math" panose="02040503050406030204" pitchFamily="18" charset="0"/>
                      </a:rPr>
                      <m:t>∈ [0,1]</m:t>
                    </m:r>
                  </m:oMath>
                </a14:m>
                <a:endParaRPr lang="en-US" dirty="0"/>
              </a:p>
              <a:p>
                <a:pPr marL="114300" indent="0">
                  <a:buNone/>
                </a:pPr>
                <a:endParaRPr lang="en-US" dirty="0"/>
              </a:p>
            </p:txBody>
          </p:sp>
        </mc:Choice>
        <mc:Fallback xmlns="">
          <p:sp>
            <p:nvSpPr>
              <p:cNvPr id="3" name="Text Placeholder 2">
                <a:extLst>
                  <a:ext uri="{FF2B5EF4-FFF2-40B4-BE49-F238E27FC236}">
                    <a16:creationId xmlns:a16="http://schemas.microsoft.com/office/drawing/2014/main" id="{4021A1DC-470B-C302-54AC-D685BEA2CCD2}"/>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32810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A01FB-C2CE-6C54-6905-4CAE3B166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6E800-EBCD-E5D9-72EC-2D88E09E63A7}"/>
              </a:ext>
            </a:extLst>
          </p:cNvPr>
          <p:cNvSpPr>
            <a:spLocks noGrp="1"/>
          </p:cNvSpPr>
          <p:nvPr>
            <p:ph type="title"/>
          </p:nvPr>
        </p:nvSpPr>
        <p:spPr/>
        <p:txBody>
          <a:bodyPr>
            <a:normAutofit fontScale="90000"/>
          </a:bodyPr>
          <a:lstStyle/>
          <a:p>
            <a:r>
              <a:rPr lang="en-GB" dirty="0"/>
              <a:t>Loss </a:t>
            </a:r>
            <a:r>
              <a:rPr lang="en-GB" dirty="0" err="1"/>
              <a:t>functie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3A23055-6BF6-26F6-3BBB-BBC520286574}"/>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m:t>
                      </m:r>
                      <m:d>
                        <m:dPr>
                          <m:ctrlPr>
                            <a:rPr lang="en-GB" b="0" i="1" smtClean="0">
                              <a:latin typeface="Cambria Math" panose="02040503050406030204" pitchFamily="18" charset="0"/>
                            </a:rPr>
                          </m:ctrlPr>
                        </m:dPr>
                        <m:e>
                          <m:r>
                            <a:rPr lang="en-GB" b="0" i="1" smtClean="0">
                              <a:latin typeface="Cambria Math" panose="02040503050406030204" pitchFamily="18" charset="0"/>
                            </a:rPr>
                            <m:t>𝑁</m:t>
                          </m:r>
                        </m:e>
                      </m:d>
                      <m:r>
                        <a:rPr lang="en-GB" b="0" i="1" smtClean="0">
                          <a:latin typeface="Cambria Math" panose="02040503050406030204" pitchFamily="18" charset="0"/>
                        </a:rPr>
                        <m:t>=</m:t>
                      </m:r>
                      <m:f>
                        <m:fPr>
                          <m:ctrlPr>
                            <a:rPr lang="en-GB" b="0" i="1" smtClean="0">
                              <a:solidFill>
                                <a:schemeClr val="bg1"/>
                              </a:solidFill>
                              <a:latin typeface="Cambria Math" panose="02040503050406030204" pitchFamily="18" charset="0"/>
                            </a:rPr>
                          </m:ctrlPr>
                        </m:fPr>
                        <m:num>
                          <m:r>
                            <a:rPr lang="en-GB" b="0" i="1" smtClean="0">
                              <a:solidFill>
                                <a:schemeClr val="bg1"/>
                              </a:solidFill>
                              <a:latin typeface="Cambria Math" panose="02040503050406030204" pitchFamily="18" charset="0"/>
                            </a:rPr>
                            <m:t>1</m:t>
                          </m:r>
                        </m:num>
                        <m:den>
                          <m:r>
                            <a:rPr lang="en-GB" b="0" i="1" smtClean="0">
                              <a:solidFill>
                                <a:schemeClr val="bg1"/>
                              </a:solidFill>
                              <a:latin typeface="Cambria Math" panose="02040503050406030204" pitchFamily="18" charset="0"/>
                            </a:rPr>
                            <m:t>𝑁</m:t>
                          </m:r>
                        </m:den>
                      </m:f>
                      <m:r>
                        <a:rPr lang="en-GB" b="0" i="1" smtClean="0">
                          <a:solidFill>
                            <a:schemeClr val="bg1"/>
                          </a:solidFill>
                          <a:latin typeface="Cambria Math" panose="02040503050406030204" pitchFamily="18" charset="0"/>
                        </a:rPr>
                        <m:t>∑</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m:t>
                          </m:r>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m:t>
                              </m:r>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e>
                          </m:d>
                          <m:r>
                            <m:rPr>
                              <m:sty m:val="p"/>
                            </m:rPr>
                            <a:rPr lang="en-GB" b="0" i="0" smtClean="0">
                              <a:latin typeface="Cambria Math" panose="02040503050406030204" pitchFamily="18" charset="0"/>
                            </a:rPr>
                            <m:t>log</m:t>
                          </m:r>
                          <m:r>
                            <a:rPr lang="en-GB" b="0" i="1" smtClean="0">
                              <a:latin typeface="Cambria Math" panose="02040503050406030204" pitchFamily="18" charset="0"/>
                            </a:rPr>
                            <m:t>⁡(1−</m:t>
                          </m:r>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e>
                      </m:func>
                    </m:oMath>
                  </m:oMathPara>
                </a14:m>
                <a:endParaRPr lang="en-US" dirty="0"/>
              </a:p>
              <a:p>
                <a:pPr marL="114300" indent="0">
                  <a:buNone/>
                </a:pPr>
                <a:endParaRPr lang="en-US" dirty="0"/>
              </a:p>
              <a:p>
                <a:pPr marL="114300" indent="0">
                  <a:buNone/>
                </a:pPr>
                <a:endParaRPr lang="en-US" dirty="0"/>
              </a:p>
              <a:p>
                <a:pPr marL="114300" indent="0">
                  <a:buNone/>
                </a:pPr>
                <a:r>
                  <a:rPr lang="en-US" dirty="0" err="1"/>
                  <a:t>Vraag</a:t>
                </a:r>
                <a:r>
                  <a:rPr lang="en-US" dirty="0"/>
                  <a:t>: Als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US" dirty="0"/>
                  <a:t> </a:t>
                </a:r>
                <a:r>
                  <a:rPr lang="en-US" dirty="0" err="1"/>
                  <a:t>en</a:t>
                </a:r>
                <a:r>
                  <a:rPr lang="en-US"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oMath>
                </a14:m>
                <a:r>
                  <a:rPr lang="en-US" dirty="0"/>
                  <a:t> op </a:t>
                </a:r>
                <a:r>
                  <a:rPr lang="en-US" dirty="0" err="1"/>
                  <a:t>elkaar</a:t>
                </a:r>
                <a:r>
                  <a:rPr lang="en-US" dirty="0"/>
                  <a:t>  </a:t>
                </a:r>
                <a:r>
                  <a:rPr lang="en-US" dirty="0" err="1"/>
                  <a:t>lijken</a:t>
                </a:r>
                <a:r>
                  <a:rPr lang="en-US" dirty="0"/>
                  <a:t> dan:</a:t>
                </a:r>
              </a:p>
              <a:p>
                <a:pPr marL="114300" indent="0">
                  <a:buNone/>
                </a:pPr>
                <a:endParaRPr lang="en-US" dirty="0"/>
              </a:p>
              <a:p>
                <a:pPr marL="571500" indent="-457200">
                  <a:buAutoNum type="alphaUcParenR"/>
                </a:pPr>
                <a:r>
                  <a:rPr lang="en-US" dirty="0"/>
                  <a:t>Is de loss </a:t>
                </a:r>
                <a:r>
                  <a:rPr lang="en-US" dirty="0" err="1"/>
                  <a:t>functie</a:t>
                </a:r>
                <a:r>
                  <a:rPr lang="en-US" dirty="0"/>
                  <a:t> </a:t>
                </a:r>
                <a:r>
                  <a:rPr lang="en-US" dirty="0" err="1"/>
                  <a:t>groot</a:t>
                </a:r>
                <a:endParaRPr lang="en-US" dirty="0"/>
              </a:p>
              <a:p>
                <a:pPr marL="571500" indent="-457200">
                  <a:buAutoNum type="alphaUcParenR"/>
                </a:pPr>
                <a:r>
                  <a:rPr lang="en-US" dirty="0"/>
                  <a:t>Is de loss </a:t>
                </a:r>
                <a:r>
                  <a:rPr lang="en-US" dirty="0" err="1"/>
                  <a:t>functie</a:t>
                </a:r>
                <a:r>
                  <a:rPr lang="en-US" dirty="0"/>
                  <a:t> </a:t>
                </a:r>
                <a:r>
                  <a:rPr lang="en-US" dirty="0" err="1"/>
                  <a:t>klein</a:t>
                </a:r>
                <a:endParaRPr lang="en-US" dirty="0"/>
              </a:p>
            </p:txBody>
          </p:sp>
        </mc:Choice>
        <mc:Fallback xmlns="">
          <p:sp>
            <p:nvSpPr>
              <p:cNvPr id="3" name="Text Placeholder 2">
                <a:extLst>
                  <a:ext uri="{FF2B5EF4-FFF2-40B4-BE49-F238E27FC236}">
                    <a16:creationId xmlns:a16="http://schemas.microsoft.com/office/drawing/2014/main" id="{63A23055-6BF6-26F6-3BBB-BBC520286574}"/>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23302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BAF1B-AA37-A25E-32F8-CFB2C3115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EDFC1-EAEC-FFA6-C562-18C2BC890E59}"/>
              </a:ext>
            </a:extLst>
          </p:cNvPr>
          <p:cNvSpPr>
            <a:spLocks noGrp="1"/>
          </p:cNvSpPr>
          <p:nvPr>
            <p:ph type="title"/>
          </p:nvPr>
        </p:nvSpPr>
        <p:spPr/>
        <p:txBody>
          <a:bodyPr>
            <a:normAutofit fontScale="90000"/>
          </a:bodyPr>
          <a:lstStyle/>
          <a:p>
            <a:r>
              <a:rPr lang="en-GB" dirty="0"/>
              <a:t>Loss </a:t>
            </a:r>
            <a:r>
              <a:rPr lang="en-GB" dirty="0" err="1"/>
              <a:t>functie</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A53F834-9953-0729-3698-E58BF483AF43}"/>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m:t>
                      </m:r>
                      <m:d>
                        <m:dPr>
                          <m:ctrlPr>
                            <a:rPr lang="en-GB" b="0" i="1" smtClean="0">
                              <a:latin typeface="Cambria Math" panose="02040503050406030204" pitchFamily="18" charset="0"/>
                            </a:rPr>
                          </m:ctrlPr>
                        </m:dPr>
                        <m:e>
                          <m:r>
                            <a:rPr lang="en-GB" b="0" i="1" smtClean="0">
                              <a:latin typeface="Cambria Math" panose="02040503050406030204" pitchFamily="18" charset="0"/>
                            </a:rPr>
                            <m:t>𝑁</m:t>
                          </m:r>
                        </m:e>
                      </m:d>
                      <m:r>
                        <a:rPr lang="en-GB" b="0" i="1" smtClean="0">
                          <a:latin typeface="Cambria Math" panose="02040503050406030204" pitchFamily="18" charset="0"/>
                        </a:rPr>
                        <m:t>=</m:t>
                      </m:r>
                      <m:r>
                        <a:rPr lang="en-GB" b="0" i="1" smtClean="0">
                          <a:solidFill>
                            <a:schemeClr val="bg1"/>
                          </a:solidFill>
                          <a:latin typeface="Cambria Math" panose="02040503050406030204" pitchFamily="18" charset="0"/>
                        </a:rPr>
                        <m:t>−</m:t>
                      </m:r>
                      <m:f>
                        <m:fPr>
                          <m:ctrlPr>
                            <a:rPr lang="en-GB" b="0" i="1" smtClean="0">
                              <a:solidFill>
                                <a:schemeClr val="bg1"/>
                              </a:solidFill>
                              <a:latin typeface="Cambria Math" panose="02040503050406030204" pitchFamily="18" charset="0"/>
                            </a:rPr>
                          </m:ctrlPr>
                        </m:fPr>
                        <m:num>
                          <m:r>
                            <a:rPr lang="en-GB" b="0" i="1" smtClean="0">
                              <a:solidFill>
                                <a:schemeClr val="bg1"/>
                              </a:solidFill>
                              <a:latin typeface="Cambria Math" panose="02040503050406030204" pitchFamily="18" charset="0"/>
                            </a:rPr>
                            <m:t>1</m:t>
                          </m:r>
                        </m:num>
                        <m:den>
                          <m:r>
                            <a:rPr lang="en-GB" b="0" i="1" smtClean="0">
                              <a:solidFill>
                                <a:schemeClr val="bg1"/>
                              </a:solidFill>
                              <a:latin typeface="Cambria Math" panose="02040503050406030204" pitchFamily="18" charset="0"/>
                            </a:rPr>
                            <m:t>𝑁</m:t>
                          </m:r>
                        </m:den>
                      </m:f>
                      <m:r>
                        <a:rPr lang="en-GB" b="0" i="1" smtClean="0">
                          <a:solidFill>
                            <a:schemeClr val="bg1"/>
                          </a:solidFill>
                          <a:latin typeface="Cambria Math" panose="02040503050406030204" pitchFamily="18" charset="0"/>
                        </a:rPr>
                        <m:t>∑</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m:t>
                          </m:r>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m:t>
                              </m:r>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sSub>
                                <m:sSubPr>
                                  <m:ctrlPr>
                                    <a:rPr lang="en-GB" b="0" i="1" smtClean="0">
                                      <a:solidFill>
                                        <a:schemeClr val="accent2">
                                          <a:lumMod val="75000"/>
                                        </a:schemeClr>
                                      </a:solidFill>
                                      <a:latin typeface="Cambria Math" panose="02040503050406030204" pitchFamily="18" charset="0"/>
                                    </a:rPr>
                                  </m:ctrlPr>
                                </m:sSubPr>
                                <m:e>
                                  <m:r>
                                    <a:rPr lang="en-GB" b="0" i="1" smtClean="0">
                                      <a:solidFill>
                                        <a:schemeClr val="accent2">
                                          <a:lumMod val="75000"/>
                                        </a:schemeClr>
                                      </a:solidFill>
                                      <a:latin typeface="Cambria Math" panose="02040503050406030204" pitchFamily="18" charset="0"/>
                                    </a:rPr>
                                    <m:t>𝑥</m:t>
                                  </m:r>
                                </m:e>
                                <m:sub>
                                  <m:r>
                                    <a:rPr lang="en-GB" b="0" i="1" smtClean="0">
                                      <a:solidFill>
                                        <a:schemeClr val="accent2">
                                          <a:lumMod val="75000"/>
                                        </a:schemeClr>
                                      </a:solidFill>
                                      <a:latin typeface="Cambria Math" panose="02040503050406030204" pitchFamily="18" charset="0"/>
                                    </a:rPr>
                                    <m:t>𝑖</m:t>
                                  </m:r>
                                </m:sub>
                              </m:sSub>
                            </m:e>
                          </m:d>
                          <m:r>
                            <m:rPr>
                              <m:sty m:val="p"/>
                            </m:rPr>
                            <a:rPr lang="en-GB" b="0" i="0" smtClean="0">
                              <a:latin typeface="Cambria Math" panose="02040503050406030204" pitchFamily="18" charset="0"/>
                            </a:rPr>
                            <m:t>log</m:t>
                          </m:r>
                          <m:r>
                            <a:rPr lang="en-GB" b="0" i="1" smtClean="0">
                              <a:latin typeface="Cambria Math" panose="02040503050406030204" pitchFamily="18" charset="0"/>
                            </a:rPr>
                            <m:t>⁡(1−</m:t>
                          </m:r>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r>
                            <a:rPr lang="en-GB" b="0" i="1" smtClean="0">
                              <a:latin typeface="Cambria Math" panose="02040503050406030204" pitchFamily="18" charset="0"/>
                            </a:rPr>
                            <m:t>)</m:t>
                          </m:r>
                        </m:e>
                      </m:func>
                    </m:oMath>
                  </m:oMathPara>
                </a14:m>
                <a:endParaRPr lang="en-US" dirty="0"/>
              </a:p>
              <a:p>
                <a:pPr marL="114300" indent="0">
                  <a:buNone/>
                </a:pPr>
                <a:endParaRPr lang="en-US" dirty="0"/>
              </a:p>
              <a:p>
                <a:pPr marL="114300" indent="0">
                  <a:buNone/>
                </a:pPr>
                <a:endParaRPr lang="en-US" dirty="0"/>
              </a:p>
              <a:p>
                <a:pPr marL="114300" indent="0">
                  <a:buNone/>
                </a:pPr>
                <a:r>
                  <a:rPr lang="en-US" dirty="0" err="1"/>
                  <a:t>Echte</a:t>
                </a:r>
                <a:r>
                  <a:rPr lang="en-US" dirty="0"/>
                  <a:t> labels: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solidFill>
                          <a:schemeClr val="accent2">
                            <a:lumMod val="75000"/>
                          </a:schemeClr>
                        </a:solidFill>
                        <a:latin typeface="Cambria Math" panose="02040503050406030204" pitchFamily="18" charset="0"/>
                      </a:rPr>
                      <m:t>∈{0,1}</m:t>
                    </m:r>
                  </m:oMath>
                </a14:m>
                <a:r>
                  <a:rPr lang="en-US" dirty="0">
                    <a:solidFill>
                      <a:schemeClr val="accent2">
                        <a:lumMod val="75000"/>
                      </a:schemeClr>
                    </a:solidFill>
                  </a:rPr>
                  <a:t> </a:t>
                </a:r>
                <a:endParaRPr lang="en-US" dirty="0"/>
              </a:p>
              <a:p>
                <a:pPr marL="114300" indent="0">
                  <a:buNone/>
                </a:pPr>
                <a:r>
                  <a:rPr lang="en-US" dirty="0"/>
                  <a:t>Output: </a:t>
                </a:r>
                <a14:m>
                  <m:oMath xmlns:m="http://schemas.openxmlformats.org/officeDocument/2006/math">
                    <m:sSub>
                      <m:sSubPr>
                        <m:ctrlPr>
                          <a:rPr lang="en-US" i="1" dirty="0" smtClean="0">
                            <a:solidFill>
                              <a:schemeClr val="accent3">
                                <a:lumMod val="75000"/>
                              </a:schemeClr>
                            </a:solidFill>
                            <a:latin typeface="Cambria Math" panose="02040503050406030204" pitchFamily="18" charset="0"/>
                          </a:rPr>
                        </m:ctrlPr>
                      </m:sSubPr>
                      <m:e>
                        <m:r>
                          <a:rPr lang="en-GB" b="0" i="1" dirty="0" smtClean="0">
                            <a:solidFill>
                              <a:schemeClr val="accent3">
                                <a:lumMod val="75000"/>
                              </a:schemeClr>
                            </a:solidFill>
                            <a:latin typeface="Cambria Math" panose="02040503050406030204" pitchFamily="18" charset="0"/>
                          </a:rPr>
                          <m:t>         </m:t>
                        </m:r>
                        <m:r>
                          <a:rPr lang="en-GB" b="0" i="1" dirty="0" smtClean="0">
                            <a:solidFill>
                              <a:schemeClr val="accent3">
                                <a:lumMod val="75000"/>
                              </a:schemeClr>
                            </a:solidFill>
                            <a:latin typeface="Cambria Math" panose="02040503050406030204" pitchFamily="18" charset="0"/>
                          </a:rPr>
                          <m:t>𝑦</m:t>
                        </m:r>
                      </m:e>
                      <m:sub>
                        <m:r>
                          <a:rPr lang="en-US" i="1" dirty="0" smtClean="0">
                            <a:solidFill>
                              <a:schemeClr val="accent3">
                                <a:lumMod val="75000"/>
                              </a:schemeClr>
                            </a:solidFill>
                            <a:latin typeface="Cambria Math" panose="02040503050406030204" pitchFamily="18" charset="0"/>
                          </a:rPr>
                          <m:t>𝑖</m:t>
                        </m:r>
                      </m:sub>
                    </m:sSub>
                    <m:r>
                      <a:rPr lang="en-GB" b="0" i="1" dirty="0" smtClean="0">
                        <a:solidFill>
                          <a:schemeClr val="accent3">
                            <a:lumMod val="75000"/>
                          </a:schemeClr>
                        </a:solidFill>
                        <a:latin typeface="Cambria Math" panose="02040503050406030204" pitchFamily="18" charset="0"/>
                      </a:rPr>
                      <m:t>∈ [0,1]</m:t>
                    </m:r>
                  </m:oMath>
                </a14:m>
                <a:endParaRPr lang="en-US" dirty="0"/>
              </a:p>
              <a:p>
                <a:pPr marL="114300" indent="0">
                  <a:buNone/>
                </a:pPr>
                <a:endParaRPr lang="en-US" dirty="0"/>
              </a:p>
              <a:p>
                <a:pPr marL="114300" indent="0">
                  <a:buNone/>
                </a:pPr>
                <a:r>
                  <a:rPr lang="en-US" dirty="0"/>
                  <a:t>Als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latin typeface="Cambria Math" panose="02040503050406030204" pitchFamily="18" charset="0"/>
                      </a:rPr>
                      <m:t>=1</m:t>
                    </m:r>
                  </m:oMath>
                </a14:m>
                <a:r>
                  <a:rPr lang="en-US" dirty="0"/>
                  <a:t>: </a:t>
                </a:r>
                <a14:m>
                  <m:oMath xmlns:m="http://schemas.openxmlformats.org/officeDocument/2006/math">
                    <m:r>
                      <a:rPr lang="en-GB" b="0" i="0" smtClean="0">
                        <a:latin typeface="Cambria Math" panose="02040503050406030204" pitchFamily="18" charset="0"/>
                      </a:rPr>
                      <m:t> −</m:t>
                    </m:r>
                    <m:r>
                      <m:rPr>
                        <m:sty m:val="p"/>
                      </m:rPr>
                      <a:rPr lang="en-GB">
                        <a:latin typeface="Cambria Math" panose="02040503050406030204" pitchFamily="18" charset="0"/>
                      </a:rPr>
                      <m:t>log</m:t>
                    </m:r>
                    <m:d>
                      <m:dPr>
                        <m:ctrlPr>
                          <a:rPr lang="en-GB" b="0" i="1" smtClean="0">
                            <a:latin typeface="Cambria Math" panose="02040503050406030204" pitchFamily="18" charset="0"/>
                          </a:rPr>
                        </m:ctrlPr>
                      </m:dPr>
                      <m:e>
                        <m:sSub>
                          <m:sSubPr>
                            <m:ctrlPr>
                              <a:rPr lang="en-GB" b="0" i="1" smtClean="0">
                                <a:solidFill>
                                  <a:schemeClr val="accent3">
                                    <a:lumMod val="75000"/>
                                  </a:schemeClr>
                                </a:solidFill>
                                <a:latin typeface="Cambria Math" panose="02040503050406030204" pitchFamily="18" charset="0"/>
                              </a:rPr>
                            </m:ctrlPr>
                          </m:sSubPr>
                          <m:e>
                            <m:r>
                              <a:rPr lang="en-GB" b="0" i="1" smtClean="0">
                                <a:solidFill>
                                  <a:schemeClr val="accent3">
                                    <a:lumMod val="75000"/>
                                  </a:schemeClr>
                                </a:solidFill>
                                <a:latin typeface="Cambria Math" panose="02040503050406030204" pitchFamily="18" charset="0"/>
                              </a:rPr>
                              <m:t>𝑦</m:t>
                            </m:r>
                          </m:e>
                          <m:sub>
                            <m:r>
                              <a:rPr lang="en-GB" b="0" i="1" smtClean="0">
                                <a:solidFill>
                                  <a:schemeClr val="accent3">
                                    <a:lumMod val="75000"/>
                                  </a:schemeClr>
                                </a:solidFill>
                                <a:latin typeface="Cambria Math" panose="02040503050406030204" pitchFamily="18" charset="0"/>
                              </a:rPr>
                              <m:t>𝑖</m:t>
                            </m:r>
                          </m:sub>
                        </m:sSub>
                      </m:e>
                    </m:d>
                  </m:oMath>
                </a14:m>
                <a:endParaRPr lang="en-GB" dirty="0"/>
              </a:p>
              <a:p>
                <a:pPr marL="114300" indent="0">
                  <a:buNone/>
                </a:pPr>
                <a:endParaRPr lang="en-GB" dirty="0"/>
              </a:p>
              <a:p>
                <a:pPr marL="114300" indent="0">
                  <a:buNone/>
                </a:pPr>
                <a:r>
                  <a:rPr lang="en-US" dirty="0"/>
                  <a:t>Als </a:t>
                </a:r>
                <a14:m>
                  <m:oMath xmlns:m="http://schemas.openxmlformats.org/officeDocument/2006/math">
                    <m:sSub>
                      <m:sSubPr>
                        <m:ctrlPr>
                          <a:rPr lang="en-US" i="1" dirty="0" smtClean="0">
                            <a:solidFill>
                              <a:schemeClr val="accent2">
                                <a:lumMod val="75000"/>
                              </a:schemeClr>
                            </a:solidFill>
                            <a:latin typeface="Cambria Math" panose="02040503050406030204" pitchFamily="18" charset="0"/>
                          </a:rPr>
                        </m:ctrlPr>
                      </m:sSubPr>
                      <m:e>
                        <m:r>
                          <a:rPr lang="en-GB" b="0" i="1" dirty="0" smtClean="0">
                            <a:solidFill>
                              <a:schemeClr val="accent2">
                                <a:lumMod val="75000"/>
                              </a:schemeClr>
                            </a:solidFill>
                            <a:latin typeface="Cambria Math" panose="02040503050406030204" pitchFamily="18" charset="0"/>
                          </a:rPr>
                          <m:t>𝑥</m:t>
                        </m:r>
                      </m:e>
                      <m:sub>
                        <m:r>
                          <a:rPr lang="en-US" i="1" dirty="0" smtClean="0">
                            <a:solidFill>
                              <a:schemeClr val="accent2">
                                <a:lumMod val="75000"/>
                              </a:schemeClr>
                            </a:solidFill>
                            <a:latin typeface="Cambria Math" panose="02040503050406030204" pitchFamily="18" charset="0"/>
                          </a:rPr>
                          <m:t>𝑖</m:t>
                        </m:r>
                      </m:sub>
                    </m:sSub>
                    <m:r>
                      <a:rPr lang="en-GB" b="0" i="1" dirty="0" smtClean="0">
                        <a:latin typeface="Cambria Math" panose="02040503050406030204" pitchFamily="18" charset="0"/>
                      </a:rPr>
                      <m:t>=0 </m:t>
                    </m:r>
                  </m:oMath>
                </a14:m>
                <a:r>
                  <a:rPr lang="en-US" dirty="0"/>
                  <a:t>: </a:t>
                </a:r>
                <a14:m>
                  <m:oMath xmlns:m="http://schemas.openxmlformats.org/officeDocument/2006/math">
                    <m:r>
                      <a:rPr lang="en-GB" b="0" i="0" smtClean="0">
                        <a:latin typeface="Cambria Math" panose="02040503050406030204" pitchFamily="18" charset="0"/>
                      </a:rPr>
                      <m:t>−</m:t>
                    </m:r>
                    <m:r>
                      <m:rPr>
                        <m:sty m:val="p"/>
                      </m:rPr>
                      <a:rPr lang="en-GB">
                        <a:latin typeface="Cambria Math" panose="02040503050406030204" pitchFamily="18" charset="0"/>
                      </a:rPr>
                      <m:t>log</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b="0" i="1" smtClean="0">
                                <a:latin typeface="Cambria Math" panose="02040503050406030204" pitchFamily="18" charset="0"/>
                              </a:rPr>
                              <m:t>1−</m:t>
                            </m:r>
                            <m:r>
                              <a:rPr lang="en-GB" b="0" i="1" smtClean="0">
                                <a:latin typeface="Cambria Math" panose="02040503050406030204" pitchFamily="18" charset="0"/>
                              </a:rPr>
                              <m:t>𝑦</m:t>
                            </m:r>
                          </m:e>
                          <m:sub>
                            <m:r>
                              <a:rPr lang="en-GB" i="1">
                                <a:latin typeface="Cambria Math" panose="02040503050406030204" pitchFamily="18" charset="0"/>
                              </a:rPr>
                              <m:t>𝑖</m:t>
                            </m:r>
                          </m:sub>
                        </m:sSub>
                      </m:e>
                    </m:d>
                  </m:oMath>
                </a14:m>
                <a:endParaRPr lang="en-US" dirty="0"/>
              </a:p>
            </p:txBody>
          </p:sp>
        </mc:Choice>
        <mc:Fallback xmlns="">
          <p:sp>
            <p:nvSpPr>
              <p:cNvPr id="3" name="Text Placeholder 2">
                <a:extLst>
                  <a:ext uri="{FF2B5EF4-FFF2-40B4-BE49-F238E27FC236}">
                    <a16:creationId xmlns:a16="http://schemas.microsoft.com/office/drawing/2014/main" id="{7A53F834-9953-0729-3698-E58BF483AF43}"/>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89F3F141-B2B1-DBCD-E09A-6F9FB1622D3B}"/>
              </a:ext>
            </a:extLst>
          </p:cNvPr>
          <p:cNvGrpSpPr/>
          <p:nvPr/>
        </p:nvGrpSpPr>
        <p:grpSpPr>
          <a:xfrm>
            <a:off x="6296312" y="2431727"/>
            <a:ext cx="1947135" cy="2506952"/>
            <a:chOff x="4639392" y="2383601"/>
            <a:chExt cx="1947135" cy="2506952"/>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E38D3EC-B5FF-4B6F-9AE7-B5136CE90AE1}"/>
                    </a:ext>
                  </a:extLst>
                </p:cNvPr>
                <p:cNvSpPr txBox="1"/>
                <p:nvPr/>
              </p:nvSpPr>
              <p:spPr>
                <a:xfrm>
                  <a:off x="4639392" y="2664882"/>
                  <a:ext cx="751669" cy="33855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600" i="1" dirty="0" smtClean="0">
                            <a:solidFill>
                              <a:schemeClr val="accent3">
                                <a:lumMod val="75000"/>
                              </a:schemeClr>
                            </a:solidFill>
                            <a:latin typeface="Cambria Math" panose="02040503050406030204" pitchFamily="18" charset="0"/>
                          </a:rPr>
                          <m:t>−</m:t>
                        </m:r>
                        <m:func>
                          <m:funcPr>
                            <m:ctrlPr>
                              <a:rPr lang="en-GB" sz="1600" b="0" i="1" dirty="0" smtClean="0">
                                <a:solidFill>
                                  <a:schemeClr val="accent3">
                                    <a:lumMod val="75000"/>
                                  </a:schemeClr>
                                </a:solidFill>
                                <a:latin typeface="Cambria Math" panose="02040503050406030204" pitchFamily="18" charset="0"/>
                              </a:rPr>
                            </m:ctrlPr>
                          </m:funcPr>
                          <m:fName>
                            <m:r>
                              <m:rPr>
                                <m:sty m:val="p"/>
                              </m:rPr>
                              <a:rPr lang="en-GB" sz="1600" b="0" i="0" dirty="0" smtClean="0">
                                <a:solidFill>
                                  <a:schemeClr val="accent3">
                                    <a:lumMod val="75000"/>
                                  </a:schemeClr>
                                </a:solidFill>
                                <a:latin typeface="Cambria Math" panose="02040503050406030204" pitchFamily="18" charset="0"/>
                              </a:rPr>
                              <m:t>log</m:t>
                            </m:r>
                          </m:fName>
                          <m:e>
                            <m:r>
                              <a:rPr lang="en-GB" sz="1600" b="0" i="1" dirty="0" smtClean="0">
                                <a:solidFill>
                                  <a:schemeClr val="accent3">
                                    <a:lumMod val="75000"/>
                                  </a:schemeClr>
                                </a:solidFill>
                                <a:latin typeface="Cambria Math" panose="02040503050406030204" pitchFamily="18" charset="0"/>
                              </a:rPr>
                              <m:t>𝑦</m:t>
                            </m:r>
                          </m:e>
                        </m:func>
                      </m:oMath>
                    </m:oMathPara>
                  </a14:m>
                  <a:endParaRPr lang="en-US" sz="1600" dirty="0">
                    <a:solidFill>
                      <a:schemeClr val="accent3">
                        <a:lumMod val="75000"/>
                      </a:schemeClr>
                    </a:solidFill>
                  </a:endParaRPr>
                </a:p>
              </p:txBody>
            </p:sp>
          </mc:Choice>
          <mc:Fallback xmlns="">
            <p:sp>
              <p:nvSpPr>
                <p:cNvPr id="4" name="TextBox 3">
                  <a:extLst>
                    <a:ext uri="{FF2B5EF4-FFF2-40B4-BE49-F238E27FC236}">
                      <a16:creationId xmlns:a16="http://schemas.microsoft.com/office/drawing/2014/main" id="{0E38D3EC-B5FF-4B6F-9AE7-B5136CE90AE1}"/>
                    </a:ext>
                  </a:extLst>
                </p:cNvPr>
                <p:cNvSpPr txBox="1">
                  <a:spLocks noRot="1" noChangeAspect="1" noMove="1" noResize="1" noEditPoints="1" noAdjustHandles="1" noChangeArrowheads="1" noChangeShapeType="1" noTextEdit="1"/>
                </p:cNvSpPr>
                <p:nvPr/>
              </p:nvSpPr>
              <p:spPr>
                <a:xfrm>
                  <a:off x="4639392" y="2664882"/>
                  <a:ext cx="751669" cy="338554"/>
                </a:xfrm>
                <a:prstGeom prst="rect">
                  <a:avLst/>
                </a:prstGeom>
                <a:blipFill>
                  <a:blip r:embed="rId3"/>
                  <a:stretch>
                    <a:fillRect r="-813"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8AE1F06-B2C2-CF83-4B68-723DDCC742DF}"/>
                    </a:ext>
                  </a:extLst>
                </p:cNvPr>
                <p:cNvSpPr txBox="1"/>
                <p:nvPr/>
              </p:nvSpPr>
              <p:spPr>
                <a:xfrm>
                  <a:off x="5395072" y="2383601"/>
                  <a:ext cx="1191455" cy="33855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600" i="1" dirty="0" smtClean="0">
                            <a:solidFill>
                              <a:schemeClr val="accent2">
                                <a:lumMod val="75000"/>
                              </a:schemeClr>
                            </a:solidFill>
                            <a:latin typeface="Cambria Math" panose="02040503050406030204" pitchFamily="18" charset="0"/>
                          </a:rPr>
                          <m:t>−</m:t>
                        </m:r>
                        <m:func>
                          <m:funcPr>
                            <m:ctrlPr>
                              <a:rPr lang="en-GB" sz="1600" b="0" i="1" dirty="0" smtClean="0">
                                <a:solidFill>
                                  <a:schemeClr val="accent2">
                                    <a:lumMod val="75000"/>
                                  </a:schemeClr>
                                </a:solidFill>
                                <a:latin typeface="Cambria Math" panose="02040503050406030204" pitchFamily="18" charset="0"/>
                              </a:rPr>
                            </m:ctrlPr>
                          </m:funcPr>
                          <m:fName>
                            <m:r>
                              <m:rPr>
                                <m:sty m:val="p"/>
                              </m:rPr>
                              <a:rPr lang="en-GB" sz="1600" b="0" i="0" dirty="0" smtClean="0">
                                <a:solidFill>
                                  <a:schemeClr val="accent2">
                                    <a:lumMod val="75000"/>
                                  </a:schemeClr>
                                </a:solidFill>
                                <a:latin typeface="Cambria Math" panose="02040503050406030204" pitchFamily="18" charset="0"/>
                              </a:rPr>
                              <m:t>log</m:t>
                            </m:r>
                          </m:fName>
                          <m:e>
                            <m:r>
                              <a:rPr lang="en-GB" sz="1600" b="0" i="1" dirty="0" smtClean="0">
                                <a:solidFill>
                                  <a:schemeClr val="accent2">
                                    <a:lumMod val="75000"/>
                                  </a:schemeClr>
                                </a:solidFill>
                                <a:latin typeface="Cambria Math" panose="02040503050406030204" pitchFamily="18" charset="0"/>
                              </a:rPr>
                              <m:t>(1−</m:t>
                            </m:r>
                            <m:r>
                              <a:rPr lang="en-GB" sz="1600" b="0" i="1" dirty="0" smtClean="0">
                                <a:solidFill>
                                  <a:schemeClr val="accent2">
                                    <a:lumMod val="75000"/>
                                  </a:schemeClr>
                                </a:solidFill>
                                <a:latin typeface="Cambria Math" panose="02040503050406030204" pitchFamily="18" charset="0"/>
                              </a:rPr>
                              <m:t>𝑦</m:t>
                            </m:r>
                            <m:r>
                              <a:rPr lang="en-GB" sz="1600" b="0" i="1" dirty="0" smtClean="0">
                                <a:solidFill>
                                  <a:schemeClr val="accent2">
                                    <a:lumMod val="75000"/>
                                  </a:schemeClr>
                                </a:solidFill>
                                <a:latin typeface="Cambria Math" panose="02040503050406030204" pitchFamily="18" charset="0"/>
                              </a:rPr>
                              <m:t>)</m:t>
                            </m:r>
                          </m:e>
                        </m:func>
                      </m:oMath>
                    </m:oMathPara>
                  </a14:m>
                  <a:endParaRPr lang="en-US" sz="1600" dirty="0">
                    <a:solidFill>
                      <a:schemeClr val="tx1">
                        <a:lumMod val="75000"/>
                        <a:lumOff val="25000"/>
                      </a:schemeClr>
                    </a:solidFill>
                  </a:endParaRPr>
                </a:p>
              </p:txBody>
            </p:sp>
          </mc:Choice>
          <mc:Fallback xmlns="">
            <p:sp>
              <p:nvSpPr>
                <p:cNvPr id="5" name="TextBox 4">
                  <a:extLst>
                    <a:ext uri="{FF2B5EF4-FFF2-40B4-BE49-F238E27FC236}">
                      <a16:creationId xmlns:a16="http://schemas.microsoft.com/office/drawing/2014/main" id="{C8AE1F06-B2C2-CF83-4B68-723DDCC742DF}"/>
                    </a:ext>
                  </a:extLst>
                </p:cNvPr>
                <p:cNvSpPr txBox="1">
                  <a:spLocks noRot="1" noChangeAspect="1" noMove="1" noResize="1" noEditPoints="1" noAdjustHandles="1" noChangeArrowheads="1" noChangeShapeType="1" noTextEdit="1"/>
                </p:cNvSpPr>
                <p:nvPr/>
              </p:nvSpPr>
              <p:spPr>
                <a:xfrm>
                  <a:off x="5395072" y="2383601"/>
                  <a:ext cx="1191455" cy="338554"/>
                </a:xfrm>
                <a:prstGeom prst="rect">
                  <a:avLst/>
                </a:prstGeom>
                <a:blipFill>
                  <a:blip r:embed="rId4"/>
                  <a:stretch>
                    <a:fillRect r="-7179"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92AFED9-F788-0F18-4F76-2CA5F2FCD6F0}"/>
                    </a:ext>
                  </a:extLst>
                </p:cNvPr>
                <p:cNvSpPr txBox="1"/>
                <p:nvPr/>
              </p:nvSpPr>
              <p:spPr>
                <a:xfrm>
                  <a:off x="5116981" y="4551999"/>
                  <a:ext cx="1191455" cy="338554"/>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600" b="0" i="1" dirty="0" smtClean="0">
                            <a:solidFill>
                              <a:schemeClr val="tx1">
                                <a:lumMod val="75000"/>
                                <a:lumOff val="25000"/>
                              </a:schemeClr>
                            </a:solidFill>
                            <a:latin typeface="Cambria Math" panose="02040503050406030204" pitchFamily="18" charset="0"/>
                          </a:rPr>
                          <m:t>𝑦</m:t>
                        </m:r>
                      </m:oMath>
                    </m:oMathPara>
                  </a14:m>
                  <a:endParaRPr lang="en-US" sz="1600" dirty="0">
                    <a:solidFill>
                      <a:schemeClr val="tx1">
                        <a:lumMod val="75000"/>
                        <a:lumOff val="25000"/>
                      </a:schemeClr>
                    </a:solidFill>
                  </a:endParaRPr>
                </a:p>
              </p:txBody>
            </p:sp>
          </mc:Choice>
          <mc:Fallback xmlns="">
            <p:sp>
              <p:nvSpPr>
                <p:cNvPr id="6" name="TextBox 5">
                  <a:extLst>
                    <a:ext uri="{FF2B5EF4-FFF2-40B4-BE49-F238E27FC236}">
                      <a16:creationId xmlns:a16="http://schemas.microsoft.com/office/drawing/2014/main" id="{092AFED9-F788-0F18-4F76-2CA5F2FCD6F0}"/>
                    </a:ext>
                  </a:extLst>
                </p:cNvPr>
                <p:cNvSpPr txBox="1">
                  <a:spLocks noRot="1" noChangeAspect="1" noMove="1" noResize="1" noEditPoints="1" noAdjustHandles="1" noChangeArrowheads="1" noChangeShapeType="1" noTextEdit="1"/>
                </p:cNvSpPr>
                <p:nvPr/>
              </p:nvSpPr>
              <p:spPr>
                <a:xfrm>
                  <a:off x="5116981" y="4551999"/>
                  <a:ext cx="1191455" cy="338554"/>
                </a:xfrm>
                <a:prstGeom prst="rect">
                  <a:avLst/>
                </a:prstGeom>
                <a:blipFill>
                  <a:blip r:embed="rId5"/>
                  <a:stretch>
                    <a:fillRect b="-3636"/>
                  </a:stretch>
                </a:blipFill>
              </p:spPr>
              <p:txBody>
                <a:bodyPr/>
                <a:lstStyle/>
                <a:p>
                  <a:r>
                    <a:rPr lang="en-US">
                      <a:noFill/>
                    </a:rPr>
                    <a:t> </a:t>
                  </a:r>
                </a:p>
              </p:txBody>
            </p:sp>
          </mc:Fallback>
        </mc:AlternateContent>
      </p:grpSp>
      <p:sp>
        <p:nvSpPr>
          <p:cNvPr id="9" name="Freeform: Shape 8">
            <a:extLst>
              <a:ext uri="{FF2B5EF4-FFF2-40B4-BE49-F238E27FC236}">
                <a16:creationId xmlns:a16="http://schemas.microsoft.com/office/drawing/2014/main" id="{265E47BC-DE6C-DF3A-E198-F2CE81835962}"/>
              </a:ext>
            </a:extLst>
          </p:cNvPr>
          <p:cNvSpPr/>
          <p:nvPr/>
        </p:nvSpPr>
        <p:spPr>
          <a:xfrm>
            <a:off x="6249546" y="2344439"/>
            <a:ext cx="2083182" cy="2014430"/>
          </a:xfrm>
          <a:custGeom>
            <a:avLst/>
            <a:gdLst>
              <a:gd name="connsiteX0" fmla="*/ 0 w 2083182"/>
              <a:gd name="connsiteY0" fmla="*/ 2014430 h 2014430"/>
              <a:gd name="connsiteX1" fmla="*/ 522514 w 2083182"/>
              <a:gd name="connsiteY1" fmla="*/ 2014430 h 2014430"/>
              <a:gd name="connsiteX2" fmla="*/ 852523 w 2083182"/>
              <a:gd name="connsiteY2" fmla="*/ 2000680 h 2014430"/>
              <a:gd name="connsiteX3" fmla="*/ 1182532 w 2083182"/>
              <a:gd name="connsiteY3" fmla="*/ 1945678 h 2014430"/>
              <a:gd name="connsiteX4" fmla="*/ 1450665 w 2083182"/>
              <a:gd name="connsiteY4" fmla="*/ 1842550 h 2014430"/>
              <a:gd name="connsiteX5" fmla="*/ 1643170 w 2083182"/>
              <a:gd name="connsiteY5" fmla="*/ 1698172 h 2014430"/>
              <a:gd name="connsiteX6" fmla="*/ 1835675 w 2083182"/>
              <a:gd name="connsiteY6" fmla="*/ 1409414 h 2014430"/>
              <a:gd name="connsiteX7" fmla="*/ 1986929 w 2083182"/>
              <a:gd name="connsiteY7" fmla="*/ 893775 h 2014430"/>
              <a:gd name="connsiteX8" fmla="*/ 2083182 w 2083182"/>
              <a:gd name="connsiteY8" fmla="*/ 0 h 201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182" h="2014430">
                <a:moveTo>
                  <a:pt x="0" y="2014430"/>
                </a:moveTo>
                <a:lnTo>
                  <a:pt x="522514" y="2014430"/>
                </a:lnTo>
                <a:cubicBezTo>
                  <a:pt x="664601" y="2012138"/>
                  <a:pt x="742520" y="2012139"/>
                  <a:pt x="852523" y="2000680"/>
                </a:cubicBezTo>
                <a:cubicBezTo>
                  <a:pt x="962526" y="1989221"/>
                  <a:pt x="1082842" y="1972033"/>
                  <a:pt x="1182532" y="1945678"/>
                </a:cubicBezTo>
                <a:cubicBezTo>
                  <a:pt x="1282222" y="1919323"/>
                  <a:pt x="1373892" y="1883801"/>
                  <a:pt x="1450665" y="1842550"/>
                </a:cubicBezTo>
                <a:cubicBezTo>
                  <a:pt x="1527438" y="1801299"/>
                  <a:pt x="1579002" y="1770361"/>
                  <a:pt x="1643170" y="1698172"/>
                </a:cubicBezTo>
                <a:cubicBezTo>
                  <a:pt x="1707338" y="1625983"/>
                  <a:pt x="1778382" y="1543480"/>
                  <a:pt x="1835675" y="1409414"/>
                </a:cubicBezTo>
                <a:cubicBezTo>
                  <a:pt x="1892968" y="1275348"/>
                  <a:pt x="1945678" y="1128677"/>
                  <a:pt x="1986929" y="893775"/>
                </a:cubicBezTo>
                <a:cubicBezTo>
                  <a:pt x="2028180" y="658873"/>
                  <a:pt x="2055681" y="329436"/>
                  <a:pt x="2083182" y="0"/>
                </a:cubicBezTo>
              </a:path>
            </a:pathLst>
          </a:cu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D669157A-9E17-8B5E-3450-3D34A7D34150}"/>
              </a:ext>
            </a:extLst>
          </p:cNvPr>
          <p:cNvSpPr/>
          <p:nvPr/>
        </p:nvSpPr>
        <p:spPr>
          <a:xfrm flipH="1">
            <a:off x="6241525" y="2344439"/>
            <a:ext cx="2091203" cy="2014430"/>
          </a:xfrm>
          <a:custGeom>
            <a:avLst/>
            <a:gdLst>
              <a:gd name="connsiteX0" fmla="*/ 0 w 2083182"/>
              <a:gd name="connsiteY0" fmla="*/ 2014430 h 2014430"/>
              <a:gd name="connsiteX1" fmla="*/ 522514 w 2083182"/>
              <a:gd name="connsiteY1" fmla="*/ 2014430 h 2014430"/>
              <a:gd name="connsiteX2" fmla="*/ 852523 w 2083182"/>
              <a:gd name="connsiteY2" fmla="*/ 2000680 h 2014430"/>
              <a:gd name="connsiteX3" fmla="*/ 1182532 w 2083182"/>
              <a:gd name="connsiteY3" fmla="*/ 1945678 h 2014430"/>
              <a:gd name="connsiteX4" fmla="*/ 1450665 w 2083182"/>
              <a:gd name="connsiteY4" fmla="*/ 1842550 h 2014430"/>
              <a:gd name="connsiteX5" fmla="*/ 1643170 w 2083182"/>
              <a:gd name="connsiteY5" fmla="*/ 1698172 h 2014430"/>
              <a:gd name="connsiteX6" fmla="*/ 1835675 w 2083182"/>
              <a:gd name="connsiteY6" fmla="*/ 1409414 h 2014430"/>
              <a:gd name="connsiteX7" fmla="*/ 1986929 w 2083182"/>
              <a:gd name="connsiteY7" fmla="*/ 893775 h 2014430"/>
              <a:gd name="connsiteX8" fmla="*/ 2083182 w 2083182"/>
              <a:gd name="connsiteY8" fmla="*/ 0 h 201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182" h="2014430">
                <a:moveTo>
                  <a:pt x="0" y="2014430"/>
                </a:moveTo>
                <a:lnTo>
                  <a:pt x="522514" y="2014430"/>
                </a:lnTo>
                <a:cubicBezTo>
                  <a:pt x="664601" y="2012138"/>
                  <a:pt x="742520" y="2012139"/>
                  <a:pt x="852523" y="2000680"/>
                </a:cubicBezTo>
                <a:cubicBezTo>
                  <a:pt x="962526" y="1989221"/>
                  <a:pt x="1082842" y="1972033"/>
                  <a:pt x="1182532" y="1945678"/>
                </a:cubicBezTo>
                <a:cubicBezTo>
                  <a:pt x="1282222" y="1919323"/>
                  <a:pt x="1373892" y="1883801"/>
                  <a:pt x="1450665" y="1842550"/>
                </a:cubicBezTo>
                <a:cubicBezTo>
                  <a:pt x="1527438" y="1801299"/>
                  <a:pt x="1579002" y="1770361"/>
                  <a:pt x="1643170" y="1698172"/>
                </a:cubicBezTo>
                <a:cubicBezTo>
                  <a:pt x="1707338" y="1625983"/>
                  <a:pt x="1778382" y="1543480"/>
                  <a:pt x="1835675" y="1409414"/>
                </a:cubicBezTo>
                <a:cubicBezTo>
                  <a:pt x="1892968" y="1275348"/>
                  <a:pt x="1945678" y="1128677"/>
                  <a:pt x="1986929" y="893775"/>
                </a:cubicBezTo>
                <a:cubicBezTo>
                  <a:pt x="2028180" y="658873"/>
                  <a:pt x="2055681" y="329436"/>
                  <a:pt x="2083182" y="0"/>
                </a:cubicBezTo>
              </a:path>
            </a:pathLst>
          </a:cu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62B59C1-2B7B-4061-31C6-CABD2193CB16}"/>
              </a:ext>
            </a:extLst>
          </p:cNvPr>
          <p:cNvCxnSpPr/>
          <p:nvPr/>
        </p:nvCxnSpPr>
        <p:spPr>
          <a:xfrm>
            <a:off x="6214025" y="4400119"/>
            <a:ext cx="2311209" cy="0"/>
          </a:xfrm>
          <a:prstGeom prst="line">
            <a:avLst/>
          </a:prstGeom>
          <a:ln w="28575">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2333C02-A75B-6043-0271-10D9FFAE07D6}"/>
              </a:ext>
            </a:extLst>
          </p:cNvPr>
          <p:cNvCxnSpPr>
            <a:cxnSpLocks/>
          </p:cNvCxnSpPr>
          <p:nvPr/>
        </p:nvCxnSpPr>
        <p:spPr>
          <a:xfrm flipV="1">
            <a:off x="6214025" y="2242440"/>
            <a:ext cx="0" cy="2157679"/>
          </a:xfrm>
          <a:prstGeom prst="line">
            <a:avLst/>
          </a:prstGeom>
          <a:ln w="28575">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9AE3A8A-AA0A-ED51-9232-E64ABD068573}"/>
              </a:ext>
            </a:extLst>
          </p:cNvPr>
          <p:cNvSpPr txBox="1"/>
          <p:nvPr/>
        </p:nvSpPr>
        <p:spPr>
          <a:xfrm>
            <a:off x="6158737" y="4389091"/>
            <a:ext cx="308098" cy="369332"/>
          </a:xfrm>
          <a:prstGeom prst="rect">
            <a:avLst/>
          </a:prstGeom>
          <a:noFill/>
        </p:spPr>
        <p:txBody>
          <a:bodyPr wrap="none" rtlCol="0">
            <a:spAutoFit/>
          </a:bodyPr>
          <a:lstStyle/>
          <a:p>
            <a:r>
              <a:rPr lang="en-GB" dirty="0"/>
              <a:t>0</a:t>
            </a:r>
            <a:endParaRPr lang="en-US" dirty="0"/>
          </a:p>
        </p:txBody>
      </p:sp>
      <p:sp>
        <p:nvSpPr>
          <p:cNvPr id="17" name="TextBox 16">
            <a:extLst>
              <a:ext uri="{FF2B5EF4-FFF2-40B4-BE49-F238E27FC236}">
                <a16:creationId xmlns:a16="http://schemas.microsoft.com/office/drawing/2014/main" id="{8DF26722-D35C-5BC5-7F59-BB13BFC24A9A}"/>
              </a:ext>
            </a:extLst>
          </p:cNvPr>
          <p:cNvSpPr txBox="1"/>
          <p:nvPr/>
        </p:nvSpPr>
        <p:spPr>
          <a:xfrm>
            <a:off x="8371185" y="4415459"/>
            <a:ext cx="308098" cy="369332"/>
          </a:xfrm>
          <a:prstGeom prst="rect">
            <a:avLst/>
          </a:prstGeom>
          <a:noFill/>
        </p:spPr>
        <p:txBody>
          <a:bodyPr wrap="none" rtlCol="0">
            <a:spAutoFit/>
          </a:bodyPr>
          <a:lstStyle/>
          <a:p>
            <a:r>
              <a:rPr lang="en-GB" dirty="0"/>
              <a:t>1</a:t>
            </a:r>
            <a:endParaRPr lang="en-US" dirty="0"/>
          </a:p>
        </p:txBody>
      </p:sp>
    </p:spTree>
    <p:extLst>
      <p:ext uri="{BB962C8B-B14F-4D97-AF65-F5344CB8AC3E}">
        <p14:creationId xmlns:p14="http://schemas.microsoft.com/office/powerpoint/2010/main" val="1369511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BB3B-0DA1-1DBC-07EC-6158C1D69424}"/>
              </a:ext>
            </a:extLst>
          </p:cNvPr>
          <p:cNvSpPr>
            <a:spLocks noGrp="1"/>
          </p:cNvSpPr>
          <p:nvPr>
            <p:ph type="title"/>
          </p:nvPr>
        </p:nvSpPr>
        <p:spPr/>
        <p:txBody>
          <a:bodyPr>
            <a:normAutofit fontScale="90000"/>
          </a:bodyPr>
          <a:lstStyle/>
          <a:p>
            <a:r>
              <a:rPr lang="en-GB" dirty="0"/>
              <a:t>Hoe </a:t>
            </a:r>
            <a:r>
              <a:rPr lang="en-GB" dirty="0" err="1"/>
              <a:t>minimaliseer</a:t>
            </a:r>
            <a:r>
              <a:rPr lang="en-GB" dirty="0"/>
              <a:t> je de loss </a:t>
            </a:r>
            <a:r>
              <a:rPr lang="en-GB" dirty="0" err="1"/>
              <a:t>functie</a:t>
            </a:r>
            <a:r>
              <a:rPr lang="en-GB" dirty="0"/>
              <a:t>?</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F51119B-6EA7-91B4-B163-E1FD0C1FA8E9}"/>
                  </a:ext>
                </a:extLst>
              </p:cNvPr>
              <p:cNvSpPr>
                <a:spLocks noGrp="1"/>
              </p:cNvSpPr>
              <p:nvPr>
                <p:ph type="body" idx="1"/>
              </p:nvPr>
            </p:nvSpPr>
            <p:spPr/>
            <p:txBody>
              <a:bodyPr/>
              <a:lstStyle/>
              <a:p>
                <a:r>
                  <a:rPr lang="en-GB" dirty="0"/>
                  <a:t>Begin met </a:t>
                </a:r>
                <a:r>
                  <a:rPr lang="en-GB" dirty="0" err="1"/>
                  <a:t>willekeurige</a:t>
                </a:r>
                <a:r>
                  <a:rPr lang="en-GB" dirty="0"/>
                  <a:t> kernels</a:t>
                </a:r>
              </a:p>
              <a:p>
                <a:r>
                  <a:rPr lang="en-GB" dirty="0"/>
                  <a:t>In </a:t>
                </a:r>
                <a:r>
                  <a:rPr lang="en-GB" dirty="0" err="1"/>
                  <a:t>iedere</a:t>
                </a:r>
                <a:r>
                  <a:rPr lang="en-GB" dirty="0"/>
                  <a:t> </a:t>
                </a:r>
                <a:r>
                  <a:rPr lang="en-GB" dirty="0" err="1"/>
                  <a:t>tijdsstap</a:t>
                </a:r>
                <a:r>
                  <a:rPr lang="en-GB" dirty="0"/>
                  <a:t>, </a:t>
                </a:r>
                <a:r>
                  <a:rPr lang="en-GB" dirty="0" err="1"/>
                  <a:t>bereken</a:t>
                </a:r>
                <a:endParaRPr lang="en-GB" dirty="0"/>
              </a:p>
              <a:p>
                <a:pPr marL="11430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smtClean="0">
                              <a:latin typeface="Cambria Math" panose="02040503050406030204" pitchFamily="18" charset="0"/>
                            </a:rPr>
                            <m:t>𝜕</m:t>
                          </m:r>
                          <m:r>
                            <a:rPr lang="en-GB" b="0" i="1" smtClean="0">
                              <a:latin typeface="Cambria Math" panose="02040503050406030204" pitchFamily="18" charset="0"/>
                            </a:rPr>
                            <m:t>𝐿</m:t>
                          </m:r>
                        </m:num>
                        <m:den>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𝑖</m:t>
                              </m:r>
                            </m:sub>
                          </m:sSub>
                        </m:den>
                      </m:f>
                    </m:oMath>
                  </m:oMathPara>
                </a14:m>
                <a:endParaRPr lang="en-GB" dirty="0"/>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b="0" i="1" smtClean="0">
                                <a:latin typeface="Cambria Math" panose="02040503050406030204" pitchFamily="18" charset="0"/>
                              </a:rPr>
                              <m:t>𝑖</m:t>
                            </m:r>
                          </m:sub>
                        </m:sSub>
                      </m:den>
                    </m:f>
                  </m:oMath>
                </a14:m>
                <a:endParaRPr lang="en-GB" dirty="0"/>
              </a:p>
              <a:p>
                <a:endParaRPr lang="en-GB" dirty="0"/>
              </a:p>
              <a:p>
                <a:endParaRPr lang="en-US" dirty="0"/>
              </a:p>
            </p:txBody>
          </p:sp>
        </mc:Choice>
        <mc:Fallback xmlns="">
          <p:sp>
            <p:nvSpPr>
              <p:cNvPr id="3" name="Text Placeholder 2">
                <a:extLst>
                  <a:ext uri="{FF2B5EF4-FFF2-40B4-BE49-F238E27FC236}">
                    <a16:creationId xmlns:a16="http://schemas.microsoft.com/office/drawing/2014/main" id="{9F51119B-6EA7-91B4-B163-E1FD0C1FA8E9}"/>
                  </a:ext>
                </a:extLst>
              </p:cNvPr>
              <p:cNvSpPr>
                <a:spLocks noGrp="1" noRot="1" noChangeAspect="1" noMove="1" noResize="1" noEditPoints="1" noAdjustHandles="1" noChangeArrowheads="1" noChangeShapeType="1" noTextEdit="1"/>
              </p:cNvSpPr>
              <p:nvPr>
                <p:ph type="body" idx="1"/>
              </p:nvPr>
            </p:nvSpPr>
            <p:spPr>
              <a:blipFill>
                <a:blip r:embed="rId2"/>
                <a:stretch>
                  <a:fillRect t="-893"/>
                </a:stretch>
              </a:blipFill>
            </p:spPr>
            <p:txBody>
              <a:bodyPr/>
              <a:lstStyle/>
              <a:p>
                <a:r>
                  <a:rPr lang="nl-NL">
                    <a:noFill/>
                  </a:rPr>
                  <a:t> </a:t>
                </a:r>
              </a:p>
            </p:txBody>
          </p:sp>
        </mc:Fallback>
      </mc:AlternateContent>
      <p:pic>
        <p:nvPicPr>
          <p:cNvPr id="5" name="Picture 4">
            <a:extLst>
              <a:ext uri="{FF2B5EF4-FFF2-40B4-BE49-F238E27FC236}">
                <a16:creationId xmlns:a16="http://schemas.microsoft.com/office/drawing/2014/main" id="{A7E532CD-29E1-4F5F-D837-00B21D7D22CE}"/>
              </a:ext>
            </a:extLst>
          </p:cNvPr>
          <p:cNvPicPr>
            <a:picLocks noChangeAspect="1"/>
          </p:cNvPicPr>
          <p:nvPr/>
        </p:nvPicPr>
        <p:blipFill>
          <a:blip r:embed="rId3"/>
          <a:srcRect l="32317" t="11862" r="33791" b="29046"/>
          <a:stretch/>
        </p:blipFill>
        <p:spPr>
          <a:xfrm>
            <a:off x="5206181" y="2765323"/>
            <a:ext cx="2831690" cy="1867048"/>
          </a:xfrm>
          <a:prstGeom prst="rect">
            <a:avLst/>
          </a:prstGeom>
        </p:spPr>
      </p:pic>
      <p:sp>
        <p:nvSpPr>
          <p:cNvPr id="4" name="Rectangle 3">
            <a:extLst>
              <a:ext uri="{FF2B5EF4-FFF2-40B4-BE49-F238E27FC236}">
                <a16:creationId xmlns:a16="http://schemas.microsoft.com/office/drawing/2014/main" id="{15515DDA-2EF2-4401-6341-1858D458BA81}"/>
              </a:ext>
            </a:extLst>
          </p:cNvPr>
          <p:cNvSpPr/>
          <p:nvPr/>
        </p:nvSpPr>
        <p:spPr>
          <a:xfrm>
            <a:off x="4697361" y="2860675"/>
            <a:ext cx="833284" cy="265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lumMod val="85000"/>
                    <a:lumOff val="15000"/>
                  </a:schemeClr>
                </a:solidFill>
              </a:rPr>
              <a:t>Loss </a:t>
            </a:r>
            <a:r>
              <a:rPr lang="en-GB" sz="1200" dirty="0" err="1">
                <a:solidFill>
                  <a:schemeClr val="tx1">
                    <a:lumMod val="85000"/>
                    <a:lumOff val="15000"/>
                  </a:schemeClr>
                </a:solidFill>
              </a:rPr>
              <a:t>functie</a:t>
            </a:r>
            <a:endParaRPr lang="en-US" sz="1200" dirty="0">
              <a:solidFill>
                <a:schemeClr val="tx1">
                  <a:lumMod val="85000"/>
                  <a:lumOff val="15000"/>
                </a:schemeClr>
              </a:solidFill>
            </a:endParaRPr>
          </a:p>
        </p:txBody>
      </p:sp>
      <p:sp>
        <p:nvSpPr>
          <p:cNvPr id="6" name="Rectangle 5">
            <a:extLst>
              <a:ext uri="{FF2B5EF4-FFF2-40B4-BE49-F238E27FC236}">
                <a16:creationId xmlns:a16="http://schemas.microsoft.com/office/drawing/2014/main" id="{0B89381A-9B98-1C7E-3018-BD6FBE4A8FE9}"/>
              </a:ext>
            </a:extLst>
          </p:cNvPr>
          <p:cNvSpPr/>
          <p:nvPr/>
        </p:nvSpPr>
        <p:spPr>
          <a:xfrm>
            <a:off x="7728155" y="4433004"/>
            <a:ext cx="331838" cy="265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918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E7AE-51AB-01EE-684E-658F94FDE446}"/>
              </a:ext>
            </a:extLst>
          </p:cNvPr>
          <p:cNvSpPr>
            <a:spLocks noGrp="1"/>
          </p:cNvSpPr>
          <p:nvPr>
            <p:ph type="title"/>
          </p:nvPr>
        </p:nvSpPr>
        <p:spPr/>
        <p:txBody>
          <a:bodyPr>
            <a:normAutofit fontScale="90000"/>
          </a:bodyPr>
          <a:lstStyle/>
          <a:p>
            <a:endParaRPr lang="nl-NL"/>
          </a:p>
        </p:txBody>
      </p:sp>
      <p:sp>
        <p:nvSpPr>
          <p:cNvPr id="3" name="Text Placeholder 2">
            <a:extLst>
              <a:ext uri="{FF2B5EF4-FFF2-40B4-BE49-F238E27FC236}">
                <a16:creationId xmlns:a16="http://schemas.microsoft.com/office/drawing/2014/main" id="{562AF9F8-6FBC-4AA5-8F94-41712CE71D28}"/>
              </a:ext>
            </a:extLst>
          </p:cNvPr>
          <p:cNvSpPr>
            <a:spLocks noGrp="1"/>
          </p:cNvSpPr>
          <p:nvPr>
            <p:ph type="body" idx="1"/>
          </p:nvPr>
        </p:nvSpPr>
        <p:spPr/>
        <p:txBody>
          <a:bodyPr/>
          <a:lstStyle/>
          <a:p>
            <a:endParaRPr lang="nl-NL" dirty="0"/>
          </a:p>
        </p:txBody>
      </p:sp>
      <p:pic>
        <p:nvPicPr>
          <p:cNvPr id="5" name="Picture 4" descr="A grid with a grid and a grid with a grid and a grid with a grid and a grid with a grid and a grid with a grid and a grid with a grid and a grid with&#10;&#10;AI-generated content may be incorrect.">
            <a:extLst>
              <a:ext uri="{FF2B5EF4-FFF2-40B4-BE49-F238E27FC236}">
                <a16:creationId xmlns:a16="http://schemas.microsoft.com/office/drawing/2014/main" id="{E0CAD02B-BC68-FBD1-1657-4224902D4C1D}"/>
              </a:ext>
            </a:extLst>
          </p:cNvPr>
          <p:cNvPicPr>
            <a:picLocks noChangeAspect="1"/>
          </p:cNvPicPr>
          <p:nvPr/>
        </p:nvPicPr>
        <p:blipFill>
          <a:blip r:embed="rId3"/>
          <a:stretch>
            <a:fillRect/>
          </a:stretch>
        </p:blipFill>
        <p:spPr>
          <a:xfrm>
            <a:off x="1879921" y="574625"/>
            <a:ext cx="5384158" cy="4105796"/>
          </a:xfrm>
          <a:prstGeom prst="rect">
            <a:avLst/>
          </a:prstGeom>
        </p:spPr>
      </p:pic>
    </p:spTree>
    <p:extLst>
      <p:ext uri="{BB962C8B-B14F-4D97-AF65-F5344CB8AC3E}">
        <p14:creationId xmlns:p14="http://schemas.microsoft.com/office/powerpoint/2010/main" val="18305157"/>
      </p:ext>
    </p:extLst>
  </p:cSld>
  <p:clrMapOvr>
    <a:masterClrMapping/>
  </p:clrMapOvr>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6" name="Picture 2">
            <a:extLst>
              <a:ext uri="{FF2B5EF4-FFF2-40B4-BE49-F238E27FC236}">
                <a16:creationId xmlns:a16="http://schemas.microsoft.com/office/drawing/2014/main" id="{41307960-BA18-52C2-8810-753AD5933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649"/>
          <a:stretch/>
        </p:blipFill>
        <p:spPr bwMode="auto">
          <a:xfrm>
            <a:off x="20" y="961"/>
            <a:ext cx="9143980" cy="5142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974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139BD-7DD3-F966-FC69-BB13A83D0F41}"/>
              </a:ext>
            </a:extLst>
          </p:cNvPr>
          <p:cNvSpPr>
            <a:spLocks noGrp="1"/>
          </p:cNvSpPr>
          <p:nvPr>
            <p:ph type="title"/>
          </p:nvPr>
        </p:nvSpPr>
        <p:spPr/>
        <p:txBody>
          <a:bodyPr>
            <a:normAutofit fontScale="90000"/>
          </a:bodyPr>
          <a:lstStyle/>
          <a:p>
            <a:r>
              <a:rPr lang="en-GB" dirty="0"/>
              <a:t>Overfitting</a:t>
            </a:r>
            <a:endParaRPr lang="en-US" dirty="0"/>
          </a:p>
        </p:txBody>
      </p:sp>
      <p:sp>
        <p:nvSpPr>
          <p:cNvPr id="4" name="Rectangle 3">
            <a:extLst>
              <a:ext uri="{FF2B5EF4-FFF2-40B4-BE49-F238E27FC236}">
                <a16:creationId xmlns:a16="http://schemas.microsoft.com/office/drawing/2014/main" id="{D3C50B46-66C8-1D7F-683E-790BCAF13BF1}"/>
              </a:ext>
            </a:extLst>
          </p:cNvPr>
          <p:cNvSpPr/>
          <p:nvPr/>
        </p:nvSpPr>
        <p:spPr>
          <a:xfrm>
            <a:off x="935027" y="1331366"/>
            <a:ext cx="6765184" cy="672999"/>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Alle data</a:t>
            </a:r>
            <a:endParaRPr lang="en-US" dirty="0"/>
          </a:p>
        </p:txBody>
      </p:sp>
      <p:sp>
        <p:nvSpPr>
          <p:cNvPr id="5" name="Rectangle 4">
            <a:extLst>
              <a:ext uri="{FF2B5EF4-FFF2-40B4-BE49-F238E27FC236}">
                <a16:creationId xmlns:a16="http://schemas.microsoft.com/office/drawing/2014/main" id="{E44E05AE-5376-3CEC-A42B-E5946231C22E}"/>
              </a:ext>
            </a:extLst>
          </p:cNvPr>
          <p:cNvSpPr/>
          <p:nvPr/>
        </p:nvSpPr>
        <p:spPr>
          <a:xfrm>
            <a:off x="935027" y="2466137"/>
            <a:ext cx="3925731" cy="672999"/>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Trainingdata</a:t>
            </a:r>
            <a:endParaRPr lang="en-US" dirty="0"/>
          </a:p>
        </p:txBody>
      </p:sp>
      <p:sp>
        <p:nvSpPr>
          <p:cNvPr id="6" name="Rectangle 5">
            <a:extLst>
              <a:ext uri="{FF2B5EF4-FFF2-40B4-BE49-F238E27FC236}">
                <a16:creationId xmlns:a16="http://schemas.microsoft.com/office/drawing/2014/main" id="{2FEC9329-35FA-C424-356D-411027E63BCB}"/>
              </a:ext>
            </a:extLst>
          </p:cNvPr>
          <p:cNvSpPr/>
          <p:nvPr/>
        </p:nvSpPr>
        <p:spPr>
          <a:xfrm>
            <a:off x="4923782" y="2466137"/>
            <a:ext cx="1483893" cy="6729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Validatiedata</a:t>
            </a:r>
            <a:endParaRPr lang="en-US" dirty="0"/>
          </a:p>
        </p:txBody>
      </p:sp>
      <p:sp>
        <p:nvSpPr>
          <p:cNvPr id="7" name="Rectangle 6">
            <a:extLst>
              <a:ext uri="{FF2B5EF4-FFF2-40B4-BE49-F238E27FC236}">
                <a16:creationId xmlns:a16="http://schemas.microsoft.com/office/drawing/2014/main" id="{5D2C82F7-E75F-693F-ED57-14B25C4A9A0A}"/>
              </a:ext>
            </a:extLst>
          </p:cNvPr>
          <p:cNvSpPr/>
          <p:nvPr/>
        </p:nvSpPr>
        <p:spPr>
          <a:xfrm>
            <a:off x="6470700" y="2466137"/>
            <a:ext cx="1229512" cy="67299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Testdata</a:t>
            </a:r>
            <a:endParaRPr lang="en-US" dirty="0"/>
          </a:p>
        </p:txBody>
      </p:sp>
      <p:sp>
        <p:nvSpPr>
          <p:cNvPr id="8" name="TextBox 7">
            <a:extLst>
              <a:ext uri="{FF2B5EF4-FFF2-40B4-BE49-F238E27FC236}">
                <a16:creationId xmlns:a16="http://schemas.microsoft.com/office/drawing/2014/main" id="{643F2C5C-9FB9-A183-D14A-07EEDD49B970}"/>
              </a:ext>
            </a:extLst>
          </p:cNvPr>
          <p:cNvSpPr txBox="1"/>
          <p:nvPr/>
        </p:nvSpPr>
        <p:spPr>
          <a:xfrm>
            <a:off x="1024302" y="3484673"/>
            <a:ext cx="3498715" cy="369332"/>
          </a:xfrm>
          <a:prstGeom prst="rect">
            <a:avLst/>
          </a:prstGeom>
          <a:noFill/>
        </p:spPr>
        <p:txBody>
          <a:bodyPr wrap="none" rtlCol="0">
            <a:spAutoFit/>
          </a:bodyPr>
          <a:lstStyle/>
          <a:p>
            <a:r>
              <a:rPr lang="en-GB" dirty="0"/>
              <a:t>Train de </a:t>
            </a:r>
            <a:r>
              <a:rPr lang="en-GB" dirty="0" err="1"/>
              <a:t>gewichten</a:t>
            </a:r>
            <a:r>
              <a:rPr lang="en-GB" dirty="0"/>
              <a:t> van de kernels</a:t>
            </a:r>
            <a:endParaRPr lang="en-US" dirty="0"/>
          </a:p>
        </p:txBody>
      </p:sp>
      <p:sp>
        <p:nvSpPr>
          <p:cNvPr id="9" name="TextBox 8">
            <a:extLst>
              <a:ext uri="{FF2B5EF4-FFF2-40B4-BE49-F238E27FC236}">
                <a16:creationId xmlns:a16="http://schemas.microsoft.com/office/drawing/2014/main" id="{3EB4DC2C-6A20-3171-928B-B687A6E5619A}"/>
              </a:ext>
            </a:extLst>
          </p:cNvPr>
          <p:cNvSpPr txBox="1"/>
          <p:nvPr/>
        </p:nvSpPr>
        <p:spPr>
          <a:xfrm>
            <a:off x="4923782" y="3484673"/>
            <a:ext cx="1483893" cy="923330"/>
          </a:xfrm>
          <a:prstGeom prst="rect">
            <a:avLst/>
          </a:prstGeom>
          <a:noFill/>
        </p:spPr>
        <p:txBody>
          <a:bodyPr wrap="square" rtlCol="0">
            <a:spAutoFit/>
          </a:bodyPr>
          <a:lstStyle/>
          <a:p>
            <a:r>
              <a:rPr lang="en-GB" dirty="0" err="1">
                <a:solidFill>
                  <a:schemeClr val="tx1">
                    <a:lumMod val="75000"/>
                    <a:lumOff val="25000"/>
                  </a:schemeClr>
                </a:solidFill>
              </a:rPr>
              <a:t>Selecteer</a:t>
            </a:r>
            <a:r>
              <a:rPr lang="en-GB" dirty="0">
                <a:solidFill>
                  <a:schemeClr val="tx1">
                    <a:lumMod val="75000"/>
                    <a:lumOff val="25000"/>
                  </a:schemeClr>
                </a:solidFill>
              </a:rPr>
              <a:t> het </a:t>
            </a:r>
            <a:r>
              <a:rPr lang="en-GB" dirty="0" err="1">
                <a:solidFill>
                  <a:schemeClr val="tx1">
                    <a:lumMod val="75000"/>
                    <a:lumOff val="25000"/>
                  </a:schemeClr>
                </a:solidFill>
              </a:rPr>
              <a:t>beste</a:t>
            </a:r>
            <a:r>
              <a:rPr lang="en-GB" dirty="0">
                <a:solidFill>
                  <a:schemeClr val="tx1">
                    <a:lumMod val="75000"/>
                    <a:lumOff val="25000"/>
                  </a:schemeClr>
                </a:solidFill>
              </a:rPr>
              <a:t> model</a:t>
            </a:r>
            <a:endParaRPr lang="en-US" dirty="0">
              <a:solidFill>
                <a:schemeClr val="tx1">
                  <a:lumMod val="75000"/>
                  <a:lumOff val="25000"/>
                </a:schemeClr>
              </a:solidFill>
            </a:endParaRPr>
          </a:p>
        </p:txBody>
      </p:sp>
      <p:sp>
        <p:nvSpPr>
          <p:cNvPr id="10" name="TextBox 9">
            <a:extLst>
              <a:ext uri="{FF2B5EF4-FFF2-40B4-BE49-F238E27FC236}">
                <a16:creationId xmlns:a16="http://schemas.microsoft.com/office/drawing/2014/main" id="{00AEE0B1-A6EA-562F-63AD-EFA7190B7CC4}"/>
              </a:ext>
            </a:extLst>
          </p:cNvPr>
          <p:cNvSpPr txBox="1"/>
          <p:nvPr/>
        </p:nvSpPr>
        <p:spPr>
          <a:xfrm>
            <a:off x="6470700" y="3484673"/>
            <a:ext cx="1483893" cy="923330"/>
          </a:xfrm>
          <a:prstGeom prst="rect">
            <a:avLst/>
          </a:prstGeom>
          <a:noFill/>
        </p:spPr>
        <p:txBody>
          <a:bodyPr wrap="square" rtlCol="0">
            <a:spAutoFit/>
          </a:bodyPr>
          <a:lstStyle/>
          <a:p>
            <a:r>
              <a:rPr lang="en-GB" dirty="0">
                <a:solidFill>
                  <a:schemeClr val="tx1">
                    <a:lumMod val="75000"/>
                    <a:lumOff val="25000"/>
                  </a:schemeClr>
                </a:solidFill>
              </a:rPr>
              <a:t>Test hoe </a:t>
            </a:r>
            <a:r>
              <a:rPr lang="en-GB" dirty="0" err="1">
                <a:solidFill>
                  <a:schemeClr val="tx1">
                    <a:lumMod val="75000"/>
                    <a:lumOff val="25000"/>
                  </a:schemeClr>
                </a:solidFill>
              </a:rPr>
              <a:t>goed</a:t>
            </a:r>
            <a:r>
              <a:rPr lang="en-GB" dirty="0">
                <a:solidFill>
                  <a:schemeClr val="tx1">
                    <a:lumMod val="75000"/>
                    <a:lumOff val="25000"/>
                  </a:schemeClr>
                </a:solidFill>
              </a:rPr>
              <a:t> het model </a:t>
            </a:r>
            <a:r>
              <a:rPr lang="en-GB" dirty="0" err="1">
                <a:solidFill>
                  <a:schemeClr val="tx1">
                    <a:lumMod val="75000"/>
                    <a:lumOff val="25000"/>
                  </a:schemeClr>
                </a:solidFill>
              </a:rPr>
              <a:t>werkt</a:t>
            </a:r>
            <a:endParaRPr lang="en-US" dirty="0">
              <a:solidFill>
                <a:schemeClr val="tx1">
                  <a:lumMod val="75000"/>
                  <a:lumOff val="25000"/>
                </a:schemeClr>
              </a:solidFill>
            </a:endParaRPr>
          </a:p>
        </p:txBody>
      </p:sp>
      <p:cxnSp>
        <p:nvCxnSpPr>
          <p:cNvPr id="12" name="Straight Arrow Connector 11">
            <a:extLst>
              <a:ext uri="{FF2B5EF4-FFF2-40B4-BE49-F238E27FC236}">
                <a16:creationId xmlns:a16="http://schemas.microsoft.com/office/drawing/2014/main" id="{D36A9D74-E21E-41CD-22E3-EE9756666D1B}"/>
              </a:ext>
            </a:extLst>
          </p:cNvPr>
          <p:cNvCxnSpPr>
            <a:stCxn id="4" idx="2"/>
            <a:endCxn id="5" idx="0"/>
          </p:cNvCxnSpPr>
          <p:nvPr/>
        </p:nvCxnSpPr>
        <p:spPr>
          <a:xfrm flipH="1">
            <a:off x="2897893" y="2004365"/>
            <a:ext cx="1419726" cy="46177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FAA12D9-42FF-82BC-CDAA-10A49076B2A1}"/>
              </a:ext>
            </a:extLst>
          </p:cNvPr>
          <p:cNvCxnSpPr>
            <a:cxnSpLocks/>
            <a:endCxn id="6" idx="0"/>
          </p:cNvCxnSpPr>
          <p:nvPr/>
        </p:nvCxnSpPr>
        <p:spPr>
          <a:xfrm>
            <a:off x="4317619" y="2004365"/>
            <a:ext cx="1348110" cy="46177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929698A-7D8C-6733-527B-9D1509CCF271}"/>
              </a:ext>
            </a:extLst>
          </p:cNvPr>
          <p:cNvCxnSpPr>
            <a:cxnSpLocks/>
            <a:endCxn id="7" idx="0"/>
          </p:cNvCxnSpPr>
          <p:nvPr/>
        </p:nvCxnSpPr>
        <p:spPr>
          <a:xfrm>
            <a:off x="4380643" y="2004365"/>
            <a:ext cx="2704813" cy="461772"/>
          </a:xfrm>
          <a:prstGeom prst="straightConnector1">
            <a:avLst/>
          </a:prstGeom>
          <a:ln w="38100">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88254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F50A-6B68-5DF1-1232-76DAB19DB316}"/>
              </a:ext>
            </a:extLst>
          </p:cNvPr>
          <p:cNvSpPr>
            <a:spLocks noGrp="1"/>
          </p:cNvSpPr>
          <p:nvPr>
            <p:ph type="title"/>
          </p:nvPr>
        </p:nvSpPr>
        <p:spPr/>
        <p:txBody>
          <a:bodyPr>
            <a:normAutofit fontScale="90000"/>
          </a:bodyPr>
          <a:lstStyle/>
          <a:p>
            <a:r>
              <a:rPr lang="en-US" dirty="0"/>
              <a:t>Overfitting</a:t>
            </a:r>
            <a:endParaRPr lang="nl-NL" dirty="0"/>
          </a:p>
        </p:txBody>
      </p:sp>
      <p:pic>
        <p:nvPicPr>
          <p:cNvPr id="5" name="Picture 4" descr="A graph of a curve&#10;&#10;AI-generated content may be incorrect.">
            <a:extLst>
              <a:ext uri="{FF2B5EF4-FFF2-40B4-BE49-F238E27FC236}">
                <a16:creationId xmlns:a16="http://schemas.microsoft.com/office/drawing/2014/main" id="{2CAB6BC6-1EBE-17DA-1D2D-722F72CA3A64}"/>
              </a:ext>
            </a:extLst>
          </p:cNvPr>
          <p:cNvPicPr>
            <a:picLocks noChangeAspect="1"/>
          </p:cNvPicPr>
          <p:nvPr/>
        </p:nvPicPr>
        <p:blipFill>
          <a:blip r:embed="rId3"/>
          <a:stretch>
            <a:fillRect/>
          </a:stretch>
        </p:blipFill>
        <p:spPr>
          <a:xfrm>
            <a:off x="3499944" y="839514"/>
            <a:ext cx="5738649" cy="4303986"/>
          </a:xfrm>
          <a:prstGeom prst="rect">
            <a:avLst/>
          </a:prstGeom>
        </p:spPr>
      </p:pic>
      <p:sp>
        <p:nvSpPr>
          <p:cNvPr id="6" name="TextBox 5">
            <a:extLst>
              <a:ext uri="{FF2B5EF4-FFF2-40B4-BE49-F238E27FC236}">
                <a16:creationId xmlns:a16="http://schemas.microsoft.com/office/drawing/2014/main" id="{4FEFBAE3-8E0D-91CC-7B23-409636C582D6}"/>
              </a:ext>
            </a:extLst>
          </p:cNvPr>
          <p:cNvSpPr txBox="1"/>
          <p:nvPr/>
        </p:nvSpPr>
        <p:spPr>
          <a:xfrm>
            <a:off x="469354" y="1971585"/>
            <a:ext cx="3030590" cy="1200329"/>
          </a:xfrm>
          <a:prstGeom prst="rect">
            <a:avLst/>
          </a:prstGeom>
          <a:noFill/>
        </p:spPr>
        <p:txBody>
          <a:bodyPr wrap="square" rtlCol="0">
            <a:spAutoFit/>
          </a:bodyPr>
          <a:lstStyle/>
          <a:p>
            <a:r>
              <a:rPr lang="en-US" dirty="0" err="1"/>
              <a:t>Groeiend</a:t>
            </a:r>
            <a:r>
              <a:rPr lang="en-US" dirty="0"/>
              <a:t> ‘gat’ </a:t>
            </a:r>
            <a:r>
              <a:rPr lang="en-US" dirty="0" err="1"/>
              <a:t>tussen</a:t>
            </a:r>
            <a:r>
              <a:rPr lang="en-US" dirty="0"/>
              <a:t> performance op de </a:t>
            </a:r>
            <a:r>
              <a:rPr lang="en-US" dirty="0" err="1"/>
              <a:t>validatie</a:t>
            </a:r>
            <a:r>
              <a:rPr lang="en-US" dirty="0"/>
              <a:t>- </a:t>
            </a:r>
            <a:r>
              <a:rPr lang="en-US" dirty="0" err="1"/>
              <a:t>en</a:t>
            </a:r>
            <a:r>
              <a:rPr lang="en-US" dirty="0"/>
              <a:t> </a:t>
            </a:r>
            <a:r>
              <a:rPr lang="en-US" dirty="0" err="1"/>
              <a:t>trainingsdata</a:t>
            </a:r>
            <a:r>
              <a:rPr lang="en-US" dirty="0"/>
              <a:t> </a:t>
            </a:r>
            <a:r>
              <a:rPr lang="en-US" dirty="0" err="1"/>
              <a:t>tijdens</a:t>
            </a:r>
            <a:r>
              <a:rPr lang="en-US" dirty="0"/>
              <a:t> training.</a:t>
            </a:r>
            <a:endParaRPr lang="nl-NL" dirty="0"/>
          </a:p>
        </p:txBody>
      </p:sp>
    </p:spTree>
    <p:extLst>
      <p:ext uri="{BB962C8B-B14F-4D97-AF65-F5344CB8AC3E}">
        <p14:creationId xmlns:p14="http://schemas.microsoft.com/office/powerpoint/2010/main" val="2757899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E252-7F6B-8C0F-4E21-A917B9E3D64B}"/>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A55722BB-9FDA-C189-9B71-6ECBD66C2ABB}"/>
              </a:ext>
            </a:extLst>
          </p:cNvPr>
          <p:cNvSpPr>
            <a:spLocks noGrp="1"/>
          </p:cNvSpPr>
          <p:nvPr>
            <p:ph type="body" idx="1"/>
          </p:nvPr>
        </p:nvSpPr>
        <p:spPr/>
        <p:txBody>
          <a:bodyPr/>
          <a:lstStyle/>
          <a:p>
            <a:endParaRPr lang="en-US"/>
          </a:p>
        </p:txBody>
      </p:sp>
      <p:pic>
        <p:nvPicPr>
          <p:cNvPr id="2050" name="Picture 2">
            <a:extLst>
              <a:ext uri="{FF2B5EF4-FFF2-40B4-BE49-F238E27FC236}">
                <a16:creationId xmlns:a16="http://schemas.microsoft.com/office/drawing/2014/main" id="{6F986E15-7EB1-367C-7F93-D43EEC3E40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bbons (mensaap) - Wikipedia">
            <a:extLst>
              <a:ext uri="{FF2B5EF4-FFF2-40B4-BE49-F238E27FC236}">
                <a16:creationId xmlns:a16="http://schemas.microsoft.com/office/drawing/2014/main" id="{B9A8572C-5B75-4F2B-CCCA-4FFA55EA46A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5286"/>
          <a:stretch/>
        </p:blipFill>
        <p:spPr bwMode="auto">
          <a:xfrm>
            <a:off x="6537519" y="1247824"/>
            <a:ext cx="2116364" cy="2124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38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5923-AD62-6066-14F4-AE52142B09AE}"/>
              </a:ext>
            </a:extLst>
          </p:cNvPr>
          <p:cNvSpPr>
            <a:spLocks noGrp="1"/>
          </p:cNvSpPr>
          <p:nvPr>
            <p:ph type="title"/>
          </p:nvPr>
        </p:nvSpPr>
        <p:spPr/>
        <p:txBody>
          <a:bodyPr>
            <a:normAutofit fontScale="90000"/>
          </a:bodyPr>
          <a:lstStyle/>
          <a:p>
            <a:r>
              <a:rPr lang="en-GB" dirty="0"/>
              <a:t>Overfitting </a:t>
            </a:r>
            <a:r>
              <a:rPr lang="en-GB" dirty="0" err="1"/>
              <a:t>voorkomen</a:t>
            </a:r>
            <a:r>
              <a:rPr lang="en-GB" dirty="0"/>
              <a:t>: Data </a:t>
            </a:r>
            <a:r>
              <a:rPr lang="en-GB" dirty="0" err="1"/>
              <a:t>augmentatie</a:t>
            </a:r>
            <a:endParaRPr lang="en-US" dirty="0"/>
          </a:p>
        </p:txBody>
      </p:sp>
      <p:sp>
        <p:nvSpPr>
          <p:cNvPr id="3" name="Text Placeholder 2">
            <a:extLst>
              <a:ext uri="{FF2B5EF4-FFF2-40B4-BE49-F238E27FC236}">
                <a16:creationId xmlns:a16="http://schemas.microsoft.com/office/drawing/2014/main" id="{65297558-A1CF-1F39-C28B-28D338E4BF90}"/>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7EF53B49-27C6-6D0D-A139-62962841C36E}"/>
              </a:ext>
            </a:extLst>
          </p:cNvPr>
          <p:cNvPicPr>
            <a:picLocks noChangeAspect="1"/>
          </p:cNvPicPr>
          <p:nvPr/>
        </p:nvPicPr>
        <p:blipFill>
          <a:blip r:embed="rId3"/>
          <a:stretch>
            <a:fillRect/>
          </a:stretch>
        </p:blipFill>
        <p:spPr>
          <a:xfrm>
            <a:off x="0" y="1271579"/>
            <a:ext cx="9144000" cy="2600342"/>
          </a:xfrm>
          <a:prstGeom prst="rect">
            <a:avLst/>
          </a:prstGeom>
        </p:spPr>
      </p:pic>
    </p:spTree>
    <p:extLst>
      <p:ext uri="{BB962C8B-B14F-4D97-AF65-F5344CB8AC3E}">
        <p14:creationId xmlns:p14="http://schemas.microsoft.com/office/powerpoint/2010/main" val="72362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DE11-754B-8FC1-5F7B-5143AD645DF4}"/>
              </a:ext>
            </a:extLst>
          </p:cNvPr>
          <p:cNvSpPr>
            <a:spLocks noGrp="1"/>
          </p:cNvSpPr>
          <p:nvPr>
            <p:ph type="title"/>
          </p:nvPr>
        </p:nvSpPr>
        <p:spPr/>
        <p:txBody>
          <a:bodyPr>
            <a:normAutofit fontScale="90000"/>
          </a:bodyPr>
          <a:lstStyle/>
          <a:p>
            <a:r>
              <a:rPr lang="en-GB" dirty="0" err="1"/>
              <a:t>Wanneer</a:t>
            </a:r>
            <a:r>
              <a:rPr lang="en-GB" dirty="0"/>
              <a:t> </a:t>
            </a:r>
            <a:r>
              <a:rPr lang="en-GB" dirty="0" err="1"/>
              <a:t>werkt</a:t>
            </a:r>
            <a:r>
              <a:rPr lang="en-GB" dirty="0"/>
              <a:t> </a:t>
            </a:r>
            <a:r>
              <a:rPr lang="en-GB" dirty="0" err="1"/>
              <a:t>een</a:t>
            </a:r>
            <a:r>
              <a:rPr lang="en-GB" dirty="0"/>
              <a:t> </a:t>
            </a:r>
            <a:r>
              <a:rPr lang="en-GB" dirty="0" err="1"/>
              <a:t>algoritme</a:t>
            </a:r>
            <a:r>
              <a:rPr lang="en-GB" dirty="0"/>
              <a:t> </a:t>
            </a:r>
            <a:r>
              <a:rPr lang="en-GB" dirty="0" err="1"/>
              <a:t>goed</a:t>
            </a:r>
            <a:r>
              <a:rPr lang="en-GB" dirty="0"/>
              <a:t>?</a:t>
            </a:r>
            <a:endParaRPr lang="en-US" dirty="0"/>
          </a:p>
        </p:txBody>
      </p:sp>
      <p:sp>
        <p:nvSpPr>
          <p:cNvPr id="3" name="Text Placeholder 2">
            <a:extLst>
              <a:ext uri="{FF2B5EF4-FFF2-40B4-BE49-F238E27FC236}">
                <a16:creationId xmlns:a16="http://schemas.microsoft.com/office/drawing/2014/main" id="{4C8DB8FC-7DDB-0984-75D4-8D9D1AB1BDB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CF671E05-1C10-4CD3-1E46-2BB46AA30042}"/>
              </a:ext>
            </a:extLst>
          </p:cNvPr>
          <p:cNvPicPr>
            <a:picLocks noChangeAspect="1"/>
          </p:cNvPicPr>
          <p:nvPr/>
        </p:nvPicPr>
        <p:blipFill>
          <a:blip r:embed="rId2"/>
          <a:srcRect t="69808"/>
          <a:stretch/>
        </p:blipFill>
        <p:spPr>
          <a:xfrm>
            <a:off x="4901458" y="1455725"/>
            <a:ext cx="2779227" cy="1552956"/>
          </a:xfrm>
          <a:prstGeom prst="rect">
            <a:avLst/>
          </a:prstGeom>
        </p:spPr>
      </p:pic>
      <p:pic>
        <p:nvPicPr>
          <p:cNvPr id="6" name="Picture 5">
            <a:extLst>
              <a:ext uri="{FF2B5EF4-FFF2-40B4-BE49-F238E27FC236}">
                <a16:creationId xmlns:a16="http://schemas.microsoft.com/office/drawing/2014/main" id="{449BEBC9-7CCF-1EAB-C48C-B5D51253C6EA}"/>
              </a:ext>
            </a:extLst>
          </p:cNvPr>
          <p:cNvPicPr>
            <a:picLocks noChangeAspect="1"/>
          </p:cNvPicPr>
          <p:nvPr/>
        </p:nvPicPr>
        <p:blipFill>
          <a:blip r:embed="rId2"/>
          <a:srcRect b="33579"/>
          <a:stretch/>
        </p:blipFill>
        <p:spPr>
          <a:xfrm>
            <a:off x="1967790" y="1152475"/>
            <a:ext cx="2779227" cy="3416400"/>
          </a:xfrm>
          <a:prstGeom prst="rect">
            <a:avLst/>
          </a:prstGeom>
        </p:spPr>
      </p:pic>
    </p:spTree>
    <p:extLst>
      <p:ext uri="{BB962C8B-B14F-4D97-AF65-F5344CB8AC3E}">
        <p14:creationId xmlns:p14="http://schemas.microsoft.com/office/powerpoint/2010/main" val="3064943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7A2B5-1D02-9D17-6657-9B587EB15283}"/>
              </a:ext>
            </a:extLst>
          </p:cNvPr>
          <p:cNvSpPr>
            <a:spLocks noGrp="1"/>
          </p:cNvSpPr>
          <p:nvPr>
            <p:ph type="title"/>
          </p:nvPr>
        </p:nvSpPr>
        <p:spPr/>
        <p:txBody>
          <a:bodyPr>
            <a:normAutofit fontScale="90000"/>
          </a:bodyPr>
          <a:lstStyle/>
          <a:p>
            <a:r>
              <a:rPr lang="en-GB" dirty="0" err="1"/>
              <a:t>Zeldzame</a:t>
            </a:r>
            <a:r>
              <a:rPr lang="en-GB" dirty="0"/>
              <a:t> </a:t>
            </a:r>
            <a:r>
              <a:rPr lang="en-GB" dirty="0" err="1"/>
              <a:t>ziekte</a:t>
            </a:r>
            <a:endParaRPr lang="en-US" dirty="0"/>
          </a:p>
        </p:txBody>
      </p:sp>
      <p:sp>
        <p:nvSpPr>
          <p:cNvPr id="3" name="Text Placeholder 2">
            <a:extLst>
              <a:ext uri="{FF2B5EF4-FFF2-40B4-BE49-F238E27FC236}">
                <a16:creationId xmlns:a16="http://schemas.microsoft.com/office/drawing/2014/main" id="{34E09A68-96D2-07FC-1559-EBD898D32F6F}"/>
              </a:ext>
            </a:extLst>
          </p:cNvPr>
          <p:cNvSpPr>
            <a:spLocks noGrp="1"/>
          </p:cNvSpPr>
          <p:nvPr>
            <p:ph type="body" idx="1"/>
          </p:nvPr>
        </p:nvSpPr>
        <p:spPr/>
        <p:txBody>
          <a:bodyPr/>
          <a:lstStyle/>
          <a:p>
            <a:pPr marL="114300" indent="0">
              <a:buNone/>
            </a:pPr>
            <a:r>
              <a:rPr lang="en-GB" dirty="0"/>
              <a:t>Stel </a:t>
            </a:r>
            <a:r>
              <a:rPr lang="en-GB" dirty="0" err="1"/>
              <a:t>dat</a:t>
            </a:r>
            <a:r>
              <a:rPr lang="en-GB" dirty="0"/>
              <a:t> </a:t>
            </a:r>
            <a:r>
              <a:rPr lang="en-GB" dirty="0" err="1"/>
              <a:t>een</a:t>
            </a:r>
            <a:r>
              <a:rPr lang="en-GB" dirty="0"/>
              <a:t> </a:t>
            </a:r>
            <a:r>
              <a:rPr lang="en-GB" dirty="0" err="1"/>
              <a:t>ziekte</a:t>
            </a:r>
            <a:r>
              <a:rPr lang="en-GB" dirty="0"/>
              <a:t> </a:t>
            </a:r>
            <a:r>
              <a:rPr lang="en-GB" dirty="0" err="1"/>
              <a:t>bij</a:t>
            </a:r>
            <a:r>
              <a:rPr lang="en-GB" dirty="0"/>
              <a:t> 1% van de </a:t>
            </a:r>
            <a:r>
              <a:rPr lang="en-GB" dirty="0" err="1"/>
              <a:t>bevolking</a:t>
            </a:r>
            <a:r>
              <a:rPr lang="en-GB" dirty="0"/>
              <a:t> </a:t>
            </a:r>
            <a:r>
              <a:rPr lang="en-GB" dirty="0" err="1"/>
              <a:t>voorkomt</a:t>
            </a:r>
            <a:r>
              <a:rPr lang="en-GB" dirty="0"/>
              <a:t>.</a:t>
            </a:r>
          </a:p>
          <a:p>
            <a:pPr marL="114300" indent="0">
              <a:buNone/>
            </a:pPr>
            <a:r>
              <a:rPr lang="en-GB" dirty="0" err="1"/>
              <a:t>Een</a:t>
            </a:r>
            <a:r>
              <a:rPr lang="en-GB" dirty="0"/>
              <a:t> </a:t>
            </a:r>
            <a:r>
              <a:rPr lang="en-GB" dirty="0" err="1"/>
              <a:t>classificatiealgoritme</a:t>
            </a:r>
            <a:r>
              <a:rPr lang="en-GB" dirty="0"/>
              <a:t> </a:t>
            </a:r>
            <a:r>
              <a:rPr lang="en-GB" dirty="0" err="1"/>
              <a:t>heeft</a:t>
            </a:r>
            <a:r>
              <a:rPr lang="en-GB" dirty="0"/>
              <a:t> </a:t>
            </a:r>
            <a:r>
              <a:rPr lang="en-GB" dirty="0" err="1"/>
              <a:t>een</a:t>
            </a:r>
            <a:r>
              <a:rPr lang="en-GB" dirty="0"/>
              <a:t> accuracy van 99%. Is </a:t>
            </a:r>
            <a:r>
              <a:rPr lang="en-GB" dirty="0" err="1"/>
              <a:t>dit</a:t>
            </a:r>
            <a:r>
              <a:rPr lang="en-GB" dirty="0"/>
              <a:t> </a:t>
            </a:r>
            <a:r>
              <a:rPr lang="en-GB" dirty="0" err="1"/>
              <a:t>een</a:t>
            </a:r>
            <a:r>
              <a:rPr lang="en-GB" dirty="0"/>
              <a:t> </a:t>
            </a:r>
            <a:r>
              <a:rPr lang="en-GB" dirty="0" err="1"/>
              <a:t>goed</a:t>
            </a:r>
            <a:r>
              <a:rPr lang="en-GB" dirty="0"/>
              <a:t> </a:t>
            </a:r>
            <a:r>
              <a:rPr lang="en-GB" dirty="0" err="1"/>
              <a:t>algoritme</a:t>
            </a:r>
            <a:r>
              <a:rPr lang="en-GB" dirty="0"/>
              <a:t>?</a:t>
            </a:r>
            <a:endParaRPr lang="en-US" dirty="0"/>
          </a:p>
        </p:txBody>
      </p:sp>
    </p:spTree>
    <p:extLst>
      <p:ext uri="{BB962C8B-B14F-4D97-AF65-F5344CB8AC3E}">
        <p14:creationId xmlns:p14="http://schemas.microsoft.com/office/powerpoint/2010/main" val="2334450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8121C-A70E-ECF3-EBEB-B440B665DCC4}"/>
              </a:ext>
            </a:extLst>
          </p:cNvPr>
          <p:cNvSpPr>
            <a:spLocks noGrp="1"/>
          </p:cNvSpPr>
          <p:nvPr>
            <p:ph type="title"/>
          </p:nvPr>
        </p:nvSpPr>
        <p:spPr/>
        <p:txBody>
          <a:bodyPr>
            <a:normAutofit fontScale="90000"/>
          </a:bodyPr>
          <a:lstStyle/>
          <a:p>
            <a:r>
              <a:rPr lang="en-GB" dirty="0" err="1"/>
              <a:t>Longontsteking</a:t>
            </a:r>
            <a:r>
              <a:rPr lang="en-GB" dirty="0"/>
              <a:t> of </a:t>
            </a:r>
            <a:r>
              <a:rPr lang="en-GB" dirty="0" err="1"/>
              <a:t>niet</a:t>
            </a:r>
            <a:r>
              <a:rPr lang="en-GB" dirty="0"/>
              <a:t>?</a:t>
            </a:r>
            <a:endParaRPr lang="en-US" dirty="0"/>
          </a:p>
        </p:txBody>
      </p:sp>
      <p:sp>
        <p:nvSpPr>
          <p:cNvPr id="3" name="Text Placeholder 2">
            <a:extLst>
              <a:ext uri="{FF2B5EF4-FFF2-40B4-BE49-F238E27FC236}">
                <a16:creationId xmlns:a16="http://schemas.microsoft.com/office/drawing/2014/main" id="{508A5D01-10B7-AF27-0733-8303CC164090}"/>
              </a:ext>
            </a:extLst>
          </p:cNvPr>
          <p:cNvSpPr>
            <a:spLocks noGrp="1"/>
          </p:cNvSpPr>
          <p:nvPr>
            <p:ph type="body" idx="1"/>
          </p:nvPr>
        </p:nvSpPr>
        <p:spPr/>
        <p:txBody>
          <a:bodyPr/>
          <a:lstStyle/>
          <a:p>
            <a:endParaRPr lang="en-US"/>
          </a:p>
        </p:txBody>
      </p:sp>
      <p:pic>
        <p:nvPicPr>
          <p:cNvPr id="1026" name="Picture 2">
            <a:extLst>
              <a:ext uri="{FF2B5EF4-FFF2-40B4-BE49-F238E27FC236}">
                <a16:creationId xmlns:a16="http://schemas.microsoft.com/office/drawing/2014/main" id="{B70EE330-AB8E-2FFC-A4A5-4454F665A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236" y="1017725"/>
            <a:ext cx="4740502" cy="4038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16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E6FF-5647-A6D5-9891-EF686EAC19AA}"/>
              </a:ext>
            </a:extLst>
          </p:cNvPr>
          <p:cNvSpPr>
            <a:spLocks noGrp="1"/>
          </p:cNvSpPr>
          <p:nvPr>
            <p:ph type="title"/>
          </p:nvPr>
        </p:nvSpPr>
        <p:spPr/>
        <p:txBody>
          <a:bodyPr>
            <a:normAutofit fontScale="90000"/>
          </a:bodyPr>
          <a:lstStyle/>
          <a:p>
            <a:r>
              <a:rPr lang="en-GB" dirty="0"/>
              <a:t>Ben </a:t>
            </a:r>
            <a:r>
              <a:rPr lang="en-GB" dirty="0" err="1"/>
              <a:t>jij</a:t>
            </a:r>
            <a:r>
              <a:rPr lang="en-GB" dirty="0"/>
              <a:t> </a:t>
            </a:r>
            <a:r>
              <a:rPr lang="en-GB" dirty="0" err="1"/>
              <a:t>beter</a:t>
            </a:r>
            <a:r>
              <a:rPr lang="en-GB" dirty="0"/>
              <a:t> dan AI?</a:t>
            </a:r>
            <a:endParaRPr lang="en-US" dirty="0"/>
          </a:p>
        </p:txBody>
      </p:sp>
      <p:sp>
        <p:nvSpPr>
          <p:cNvPr id="3" name="Text Placeholder 2">
            <a:extLst>
              <a:ext uri="{FF2B5EF4-FFF2-40B4-BE49-F238E27FC236}">
                <a16:creationId xmlns:a16="http://schemas.microsoft.com/office/drawing/2014/main" id="{E7A35E66-9074-1956-1036-0AF19687D6EC}"/>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54636F11-23F9-B071-A9E4-770E4AE34CF1}"/>
              </a:ext>
            </a:extLst>
          </p:cNvPr>
          <p:cNvPicPr>
            <a:picLocks noChangeAspect="1"/>
          </p:cNvPicPr>
          <p:nvPr/>
        </p:nvPicPr>
        <p:blipFill>
          <a:blip r:embed="rId2"/>
          <a:stretch>
            <a:fillRect/>
          </a:stretch>
        </p:blipFill>
        <p:spPr>
          <a:xfrm>
            <a:off x="311700" y="1152475"/>
            <a:ext cx="2627443" cy="2586708"/>
          </a:xfrm>
          <a:prstGeom prst="rect">
            <a:avLst/>
          </a:prstGeom>
        </p:spPr>
      </p:pic>
      <p:pic>
        <p:nvPicPr>
          <p:cNvPr id="7" name="Picture 6">
            <a:extLst>
              <a:ext uri="{FF2B5EF4-FFF2-40B4-BE49-F238E27FC236}">
                <a16:creationId xmlns:a16="http://schemas.microsoft.com/office/drawing/2014/main" id="{8F931C9F-817B-A99D-2B96-75B9E4387B13}"/>
              </a:ext>
            </a:extLst>
          </p:cNvPr>
          <p:cNvPicPr>
            <a:picLocks noChangeAspect="1"/>
          </p:cNvPicPr>
          <p:nvPr/>
        </p:nvPicPr>
        <p:blipFill>
          <a:blip r:embed="rId3"/>
          <a:stretch>
            <a:fillRect/>
          </a:stretch>
        </p:blipFill>
        <p:spPr>
          <a:xfrm>
            <a:off x="3362704" y="1152475"/>
            <a:ext cx="2627443" cy="2606645"/>
          </a:xfrm>
          <a:prstGeom prst="rect">
            <a:avLst/>
          </a:prstGeom>
        </p:spPr>
      </p:pic>
      <p:pic>
        <p:nvPicPr>
          <p:cNvPr id="9" name="Picture 8">
            <a:extLst>
              <a:ext uri="{FF2B5EF4-FFF2-40B4-BE49-F238E27FC236}">
                <a16:creationId xmlns:a16="http://schemas.microsoft.com/office/drawing/2014/main" id="{B065B7EE-B7B3-06B9-9FBF-C8F3D7FBE474}"/>
              </a:ext>
            </a:extLst>
          </p:cNvPr>
          <p:cNvPicPr>
            <a:picLocks noChangeAspect="1"/>
          </p:cNvPicPr>
          <p:nvPr/>
        </p:nvPicPr>
        <p:blipFill>
          <a:blip r:embed="rId4"/>
          <a:stretch>
            <a:fillRect/>
          </a:stretch>
        </p:blipFill>
        <p:spPr>
          <a:xfrm>
            <a:off x="6413709" y="1142506"/>
            <a:ext cx="2613522" cy="2606645"/>
          </a:xfrm>
          <a:prstGeom prst="rect">
            <a:avLst/>
          </a:prstGeom>
        </p:spPr>
      </p:pic>
    </p:spTree>
    <p:extLst>
      <p:ext uri="{BB962C8B-B14F-4D97-AF65-F5344CB8AC3E}">
        <p14:creationId xmlns:p14="http://schemas.microsoft.com/office/powerpoint/2010/main" val="3677686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151EC-7D06-6AAC-97B5-D48DE2D7CC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B17EC2-4C3C-1E02-B4E2-DE62E210181A}"/>
              </a:ext>
            </a:extLst>
          </p:cNvPr>
          <p:cNvGrpSpPr/>
          <p:nvPr/>
        </p:nvGrpSpPr>
        <p:grpSpPr>
          <a:xfrm>
            <a:off x="8185500" y="4630500"/>
            <a:ext cx="675000" cy="229500"/>
            <a:chOff x="0" y="0"/>
            <a:chExt cx="1800000" cy="612000"/>
          </a:xfrm>
        </p:grpSpPr>
        <p:sp>
          <p:nvSpPr>
            <p:cNvPr id="3" name="Freeform 3">
              <a:extLst>
                <a:ext uri="{FF2B5EF4-FFF2-40B4-BE49-F238E27FC236}">
                  <a16:creationId xmlns:a16="http://schemas.microsoft.com/office/drawing/2014/main" id="{09F2E7A7-89E0-CE56-741E-65ED9F5B6811}"/>
                </a:ext>
              </a:extLst>
            </p:cNvPr>
            <p:cNvSpPr/>
            <p:nvPr/>
          </p:nvSpPr>
          <p:spPr>
            <a:xfrm>
              <a:off x="0" y="0"/>
              <a:ext cx="1799971" cy="612013"/>
            </a:xfrm>
            <a:custGeom>
              <a:avLst/>
              <a:gdLst/>
              <a:ahLst/>
              <a:cxnLst/>
              <a:rect l="l" t="t" r="r" b="b"/>
              <a:pathLst>
                <a:path w="1799971" h="612013">
                  <a:moveTo>
                    <a:pt x="0" y="0"/>
                  </a:moveTo>
                  <a:lnTo>
                    <a:pt x="1799971" y="0"/>
                  </a:lnTo>
                  <a:lnTo>
                    <a:pt x="1799971" y="612013"/>
                  </a:lnTo>
                  <a:lnTo>
                    <a:pt x="0" y="612013"/>
                  </a:lnTo>
                  <a:close/>
                </a:path>
              </a:pathLst>
            </a:custGeom>
            <a:solidFill>
              <a:srgbClr val="BF9D00"/>
            </a:solidFill>
          </p:spPr>
          <p:txBody>
            <a:bodyPr/>
            <a:lstStyle/>
            <a:p>
              <a:endParaRPr lang="nl-NL" sz="900"/>
            </a:p>
          </p:txBody>
        </p:sp>
      </p:grpSp>
      <p:sp>
        <p:nvSpPr>
          <p:cNvPr id="4" name="Freeform 4">
            <a:extLst>
              <a:ext uri="{FF2B5EF4-FFF2-40B4-BE49-F238E27FC236}">
                <a16:creationId xmlns:a16="http://schemas.microsoft.com/office/drawing/2014/main" id="{82E07B75-912B-91E0-F0B2-B37BE36DCBC2}"/>
              </a:ext>
            </a:extLst>
          </p:cNvPr>
          <p:cNvSpPr/>
          <p:nvPr/>
        </p:nvSpPr>
        <p:spPr>
          <a:xfrm>
            <a:off x="8206773" y="4631978"/>
            <a:ext cx="653727" cy="229500"/>
          </a:xfrm>
          <a:custGeom>
            <a:avLst/>
            <a:gdLst/>
            <a:ahLst/>
            <a:cxnLst/>
            <a:rect l="l" t="t" r="r" b="b"/>
            <a:pathLst>
              <a:path w="1307454" h="459000">
                <a:moveTo>
                  <a:pt x="0" y="0"/>
                </a:moveTo>
                <a:lnTo>
                  <a:pt x="1307454" y="0"/>
                </a:lnTo>
                <a:lnTo>
                  <a:pt x="1307454" y="459000"/>
                </a:lnTo>
                <a:lnTo>
                  <a:pt x="0" y="459000"/>
                </a:lnTo>
                <a:lnTo>
                  <a:pt x="0" y="0"/>
                </a:lnTo>
                <a:close/>
              </a:path>
            </a:pathLst>
          </a:custGeom>
          <a:blipFill>
            <a:blip r:embed="rId3">
              <a:extLst>
                <a:ext uri="{96DAC541-7B7A-43D3-8B79-37D633B846F1}">
                  <asvg:svgBlip xmlns:asvg="http://schemas.microsoft.com/office/drawing/2016/SVG/main" r:embed="rId4"/>
                </a:ext>
              </a:extLst>
            </a:blip>
            <a:stretch>
              <a:fillRect t="-570" b="-570"/>
            </a:stretch>
          </a:blipFill>
        </p:spPr>
        <p:txBody>
          <a:bodyPr/>
          <a:lstStyle/>
          <a:p>
            <a:endParaRPr lang="nl-NL" sz="900"/>
          </a:p>
        </p:txBody>
      </p:sp>
      <p:sp>
        <p:nvSpPr>
          <p:cNvPr id="5" name="Freeform 5">
            <a:extLst>
              <a:ext uri="{FF2B5EF4-FFF2-40B4-BE49-F238E27FC236}">
                <a16:creationId xmlns:a16="http://schemas.microsoft.com/office/drawing/2014/main" id="{3C792B65-2397-C7CA-3C09-8DDDC3327A49}"/>
              </a:ext>
            </a:extLst>
          </p:cNvPr>
          <p:cNvSpPr/>
          <p:nvPr/>
        </p:nvSpPr>
        <p:spPr>
          <a:xfrm>
            <a:off x="0" y="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nl-NL" sz="900" dirty="0"/>
          </a:p>
        </p:txBody>
      </p:sp>
      <p:sp>
        <p:nvSpPr>
          <p:cNvPr id="6" name="TextBox 6">
            <a:extLst>
              <a:ext uri="{FF2B5EF4-FFF2-40B4-BE49-F238E27FC236}">
                <a16:creationId xmlns:a16="http://schemas.microsoft.com/office/drawing/2014/main" id="{4EB25456-5EBF-B559-F7F3-F529A1111B46}"/>
              </a:ext>
            </a:extLst>
          </p:cNvPr>
          <p:cNvSpPr txBox="1"/>
          <p:nvPr/>
        </p:nvSpPr>
        <p:spPr>
          <a:xfrm>
            <a:off x="4441371" y="357449"/>
            <a:ext cx="4409735" cy="3030317"/>
          </a:xfrm>
          <a:prstGeom prst="rect">
            <a:avLst/>
          </a:prstGeom>
        </p:spPr>
        <p:txBody>
          <a:bodyPr wrap="square" lIns="0" tIns="0" rIns="0" bIns="0" rtlCol="0" anchor="t">
            <a:spAutoFit/>
          </a:bodyPr>
          <a:lstStyle/>
          <a:p>
            <a:pPr>
              <a:lnSpc>
                <a:spcPct val="150000"/>
              </a:lnSpc>
            </a:pPr>
            <a:r>
              <a:rPr lang="en-US" sz="1450" b="1" spc="-17" dirty="0">
                <a:solidFill>
                  <a:srgbClr val="FFFFFF"/>
                </a:solidFill>
                <a:latin typeface="Arial Narrow" panose="020B0604020202020204" pitchFamily="34" charset="0"/>
                <a:cs typeface="Arial Narrow" panose="020B0604020202020204" pitchFamily="34" charset="0"/>
              </a:rPr>
              <a:t>13:00-13:10 	|	Welkom</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13.10 - 14.10 | 	</a:t>
            </a:r>
            <a:r>
              <a:rPr lang="en-US" sz="1450" b="1" spc="-17" dirty="0" err="1">
                <a:solidFill>
                  <a:srgbClr val="FFFFFF"/>
                </a:solidFill>
                <a:latin typeface="Arial Narrow" panose="020B0604020202020204" pitchFamily="34" charset="0"/>
                <a:cs typeface="Arial Narrow" panose="020B0604020202020204" pitchFamily="34" charset="0"/>
              </a:rPr>
              <a:t>Beeldalyse</a:t>
            </a:r>
            <a:r>
              <a:rPr lang="en-US" sz="1450" b="1" spc="-17" dirty="0">
                <a:solidFill>
                  <a:srgbClr val="FFFFFF"/>
                </a:solidFill>
                <a:latin typeface="Arial Narrow" panose="020B0604020202020204" pitchFamily="34" charset="0"/>
                <a:cs typeface="Arial Narrow" panose="020B0604020202020204" pitchFamily="34" charset="0"/>
              </a:rPr>
              <a:t>: 	</a:t>
            </a:r>
            <a:r>
              <a:rPr lang="en-US" sz="1450" b="1" spc="-17" dirty="0" err="1">
                <a:solidFill>
                  <a:srgbClr val="FFFFFF"/>
                </a:solidFill>
                <a:latin typeface="Arial Narrow" panose="020B0604020202020204" pitchFamily="34" charset="0"/>
                <a:cs typeface="Arial Narrow" panose="020B0604020202020204" pitchFamily="34" charset="0"/>
              </a:rPr>
              <a:t>Theorie</a:t>
            </a:r>
            <a:r>
              <a:rPr lang="en-US" sz="1450" b="1" spc="-17" dirty="0">
                <a:solidFill>
                  <a:srgbClr val="FFFFFF"/>
                </a:solidFill>
                <a:latin typeface="Arial Narrow" panose="020B0604020202020204" pitchFamily="34" charset="0"/>
                <a:cs typeface="Arial Narrow" panose="020B0604020202020204" pitchFamily="34" charset="0"/>
              </a:rPr>
              <a:t>	</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14.10 - 14.30 | 	</a:t>
            </a:r>
            <a:r>
              <a:rPr lang="en-US" sz="1450" b="1" spc="-17" dirty="0" err="1">
                <a:solidFill>
                  <a:srgbClr val="FFFFFF"/>
                </a:solidFill>
                <a:latin typeface="Arial Narrow" panose="020B0604020202020204" pitchFamily="34" charset="0"/>
                <a:cs typeface="Arial Narrow" panose="020B0604020202020204" pitchFamily="34" charset="0"/>
              </a:rPr>
              <a:t>Pauze</a:t>
            </a:r>
            <a:endParaRPr lang="en-US" sz="1450" b="1" spc="-17" dirty="0">
              <a:solidFill>
                <a:srgbClr val="FFFFFF"/>
              </a:solidFill>
              <a:latin typeface="Arial Narrow" panose="020B0604020202020204" pitchFamily="34" charset="0"/>
              <a:cs typeface="Arial Narrow" panose="020B0604020202020204" pitchFamily="34" charset="0"/>
            </a:endParaRP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14:30 –16:00 |	</a:t>
            </a:r>
            <a:r>
              <a:rPr lang="en-US" sz="1450" b="1" spc="-17" dirty="0" err="1">
                <a:solidFill>
                  <a:srgbClr val="FFFFFF"/>
                </a:solidFill>
                <a:latin typeface="Arial Narrow" panose="020B0604020202020204" pitchFamily="34" charset="0"/>
                <a:cs typeface="Arial Narrow" panose="020B0604020202020204" pitchFamily="34" charset="0"/>
              </a:rPr>
              <a:t>programmeren</a:t>
            </a:r>
            <a:r>
              <a:rPr lang="en-US" sz="1450" b="1" spc="-17" dirty="0">
                <a:solidFill>
                  <a:srgbClr val="FFFFFF"/>
                </a:solidFill>
                <a:latin typeface="Arial Narrow" panose="020B0604020202020204" pitchFamily="34" charset="0"/>
                <a:cs typeface="Arial Narrow" panose="020B0604020202020204" pitchFamily="34" charset="0"/>
              </a:rPr>
              <a:t> </a:t>
            </a:r>
          </a:p>
          <a:p>
            <a:pPr>
              <a:lnSpc>
                <a:spcPts val="3624"/>
              </a:lnSpc>
            </a:pPr>
            <a:r>
              <a:rPr lang="en-US" sz="1450" b="1" spc="-17" dirty="0">
                <a:solidFill>
                  <a:srgbClr val="FFFFFF"/>
                </a:solidFill>
                <a:latin typeface="Arial Narrow" panose="020B0604020202020204" pitchFamily="34" charset="0"/>
                <a:cs typeface="Arial Narrow" panose="020B0604020202020204" pitchFamily="34" charset="0"/>
              </a:rPr>
              <a:t>16:00 - 16:30 |	</a:t>
            </a:r>
            <a:r>
              <a:rPr lang="en-US" sz="1450" b="1" spc="-17" dirty="0" err="1">
                <a:solidFill>
                  <a:srgbClr val="FFFFFF"/>
                </a:solidFill>
                <a:latin typeface="Arial Narrow" panose="020B0604020202020204" pitchFamily="34" charset="0"/>
                <a:cs typeface="Arial Narrow" panose="020B0604020202020204" pitchFamily="34" charset="0"/>
              </a:rPr>
              <a:t>Presentatie</a:t>
            </a:r>
            <a:r>
              <a:rPr lang="en-US" sz="1450" b="1" spc="-17" dirty="0">
                <a:solidFill>
                  <a:srgbClr val="FFFFFF"/>
                </a:solidFill>
                <a:latin typeface="Arial Narrow" panose="020B0604020202020204" pitchFamily="34" charset="0"/>
                <a:cs typeface="Arial Narrow" panose="020B0604020202020204" pitchFamily="34" charset="0"/>
              </a:rPr>
              <a:t> medical machine 		learning Dieuwertje</a:t>
            </a:r>
          </a:p>
          <a:p>
            <a:pPr>
              <a:lnSpc>
                <a:spcPts val="3624"/>
              </a:lnSpc>
            </a:pPr>
            <a:endParaRPr lang="en-US" sz="1450" b="1" spc="-17" dirty="0">
              <a:solidFill>
                <a:srgbClr val="FFFFFF"/>
              </a:solidFill>
              <a:latin typeface="Arial Narrow" panose="020B0604020202020204" pitchFamily="34" charset="0"/>
              <a:cs typeface="Arial Narrow" panose="020B0604020202020204" pitchFamily="34" charset="0"/>
            </a:endParaRPr>
          </a:p>
        </p:txBody>
      </p:sp>
      <p:sp>
        <p:nvSpPr>
          <p:cNvPr id="7" name="TextBox 7">
            <a:extLst>
              <a:ext uri="{FF2B5EF4-FFF2-40B4-BE49-F238E27FC236}">
                <a16:creationId xmlns:a16="http://schemas.microsoft.com/office/drawing/2014/main" id="{9C41A771-08BC-82EB-43FA-FC19CEB4C559}"/>
              </a:ext>
            </a:extLst>
          </p:cNvPr>
          <p:cNvSpPr txBox="1"/>
          <p:nvPr/>
        </p:nvSpPr>
        <p:spPr>
          <a:xfrm>
            <a:off x="567000" y="543187"/>
            <a:ext cx="4076438" cy="371897"/>
          </a:xfrm>
          <a:prstGeom prst="rect">
            <a:avLst/>
          </a:prstGeom>
        </p:spPr>
        <p:txBody>
          <a:bodyPr lIns="0" tIns="0" rIns="0" bIns="0" rtlCol="0" anchor="t">
            <a:spAutoFit/>
          </a:bodyPr>
          <a:lstStyle/>
          <a:p>
            <a:pPr>
              <a:lnSpc>
                <a:spcPts val="2925"/>
              </a:lnSpc>
            </a:pPr>
            <a:r>
              <a:rPr lang="en-US" sz="2700" b="1" dirty="0">
                <a:solidFill>
                  <a:srgbClr val="FFFFFF"/>
                </a:solidFill>
                <a:latin typeface="Arial Narrow" panose="020B0604020202020204" pitchFamily="34" charset="0"/>
                <a:cs typeface="Arial Narrow" panose="020B0604020202020204" pitchFamily="34" charset="0"/>
              </a:rPr>
              <a:t>PROGRAMMA</a:t>
            </a:r>
          </a:p>
        </p:txBody>
      </p:sp>
      <p:sp>
        <p:nvSpPr>
          <p:cNvPr id="8" name="Freeform 8">
            <a:extLst>
              <a:ext uri="{FF2B5EF4-FFF2-40B4-BE49-F238E27FC236}">
                <a16:creationId xmlns:a16="http://schemas.microsoft.com/office/drawing/2014/main" id="{14FBF0E7-613A-E05A-B5AE-AE5B8E972598}"/>
              </a:ext>
            </a:extLst>
          </p:cNvPr>
          <p:cNvSpPr/>
          <p:nvPr/>
        </p:nvSpPr>
        <p:spPr>
          <a:xfrm>
            <a:off x="8093228" y="4517229"/>
            <a:ext cx="880817" cy="440409"/>
          </a:xfrm>
          <a:custGeom>
            <a:avLst/>
            <a:gdLst/>
            <a:ahLst/>
            <a:cxnLst/>
            <a:rect l="l" t="t" r="r" b="b"/>
            <a:pathLst>
              <a:path w="1761634" h="880817">
                <a:moveTo>
                  <a:pt x="0" y="0"/>
                </a:moveTo>
                <a:lnTo>
                  <a:pt x="1761634" y="0"/>
                </a:lnTo>
                <a:lnTo>
                  <a:pt x="1761634" y="880817"/>
                </a:lnTo>
                <a:lnTo>
                  <a:pt x="0" y="88081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nl-NL" sz="900"/>
          </a:p>
        </p:txBody>
      </p:sp>
    </p:spTree>
    <p:extLst>
      <p:ext uri="{BB962C8B-B14F-4D97-AF65-F5344CB8AC3E}">
        <p14:creationId xmlns:p14="http://schemas.microsoft.com/office/powerpoint/2010/main" val="2370852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0230-75CD-805C-8D48-1517657968B3}"/>
              </a:ext>
            </a:extLst>
          </p:cNvPr>
          <p:cNvSpPr>
            <a:spLocks noGrp="1"/>
          </p:cNvSpPr>
          <p:nvPr>
            <p:ph type="title"/>
          </p:nvPr>
        </p:nvSpPr>
        <p:spPr/>
        <p:txBody>
          <a:bodyPr>
            <a:normAutofit fontScale="90000"/>
          </a:bodyPr>
          <a:lstStyle/>
          <a:p>
            <a:r>
              <a:rPr lang="en-GB" dirty="0"/>
              <a:t>En nu </a:t>
            </a:r>
            <a:r>
              <a:rPr lang="en-GB" dirty="0" err="1"/>
              <a:t>aan</a:t>
            </a:r>
            <a:r>
              <a:rPr lang="en-GB" dirty="0"/>
              <a:t> de slag!</a:t>
            </a:r>
            <a:endParaRPr lang="en-US" dirty="0"/>
          </a:p>
        </p:txBody>
      </p:sp>
      <p:sp>
        <p:nvSpPr>
          <p:cNvPr id="3" name="Text Placeholder 2">
            <a:extLst>
              <a:ext uri="{FF2B5EF4-FFF2-40B4-BE49-F238E27FC236}">
                <a16:creationId xmlns:a16="http://schemas.microsoft.com/office/drawing/2014/main" id="{D3647AB3-2811-916F-2BBF-7ED1CD3811F9}"/>
              </a:ext>
            </a:extLst>
          </p:cNvPr>
          <p:cNvSpPr>
            <a:spLocks noGrp="1"/>
          </p:cNvSpPr>
          <p:nvPr>
            <p:ph type="body" idx="1"/>
          </p:nvPr>
        </p:nvSpPr>
        <p:spPr/>
        <p:txBody>
          <a:bodyPr/>
          <a:lstStyle/>
          <a:p>
            <a:pPr marL="114300" indent="0">
              <a:buNone/>
            </a:pPr>
            <a:r>
              <a:rPr lang="en-GB" dirty="0"/>
              <a:t>Ga </a:t>
            </a:r>
            <a:r>
              <a:rPr lang="en-GB" dirty="0" err="1"/>
              <a:t>naar</a:t>
            </a:r>
            <a:endParaRPr lang="en-GB" dirty="0"/>
          </a:p>
          <a:p>
            <a:pPr marL="114300" indent="0">
              <a:buNone/>
            </a:pPr>
            <a:r>
              <a:rPr lang="en-US" dirty="0">
                <a:hlinkClick r:id="rId2"/>
              </a:rPr>
              <a:t>https://colab.research.google.com/github/clarastegehuis/machine_learning_medical_data_workshop/</a:t>
            </a:r>
            <a:endParaRPr lang="en-US" dirty="0"/>
          </a:p>
          <a:p>
            <a:pPr marL="114300" indent="0">
              <a:buNone/>
            </a:pPr>
            <a:endParaRPr lang="en-GB" dirty="0"/>
          </a:p>
          <a:p>
            <a:pPr marL="114300" indent="0">
              <a:buNone/>
            </a:pPr>
            <a:r>
              <a:rPr lang="en-GB" dirty="0" err="1"/>
              <a:t>Selecteer</a:t>
            </a:r>
            <a:r>
              <a:rPr lang="en-GB" dirty="0"/>
              <a:t> in ‘Runtime’ </a:t>
            </a:r>
            <a:r>
              <a:rPr lang="en-GB" dirty="0" err="1"/>
              <a:t>onder</a:t>
            </a:r>
            <a:r>
              <a:rPr lang="en-GB" dirty="0"/>
              <a:t> ‘select runtime’ GPU</a:t>
            </a:r>
            <a:endParaRPr lang="en-US" dirty="0"/>
          </a:p>
        </p:txBody>
      </p:sp>
      <p:pic>
        <p:nvPicPr>
          <p:cNvPr id="5" name="Picture 4" descr="A qr code with a few black squares&#10;&#10;AI-generated content may be incorrect.">
            <a:extLst>
              <a:ext uri="{FF2B5EF4-FFF2-40B4-BE49-F238E27FC236}">
                <a16:creationId xmlns:a16="http://schemas.microsoft.com/office/drawing/2014/main" id="{1FA56F91-75D9-C0F8-F89B-D75A2C7B7CDB}"/>
              </a:ext>
            </a:extLst>
          </p:cNvPr>
          <p:cNvPicPr>
            <a:picLocks noChangeAspect="1"/>
          </p:cNvPicPr>
          <p:nvPr/>
        </p:nvPicPr>
        <p:blipFill>
          <a:blip r:embed="rId3"/>
          <a:stretch>
            <a:fillRect/>
          </a:stretch>
        </p:blipFill>
        <p:spPr>
          <a:xfrm>
            <a:off x="6747310" y="2613485"/>
            <a:ext cx="2084990" cy="2084990"/>
          </a:xfrm>
          <a:prstGeom prst="rect">
            <a:avLst/>
          </a:prstGeom>
        </p:spPr>
      </p:pic>
    </p:spTree>
    <p:extLst>
      <p:ext uri="{BB962C8B-B14F-4D97-AF65-F5344CB8AC3E}">
        <p14:creationId xmlns:p14="http://schemas.microsoft.com/office/powerpoint/2010/main" val="3138933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888B-FAA3-FE2E-9A76-9AF850659740}"/>
              </a:ext>
            </a:extLst>
          </p:cNvPr>
          <p:cNvSpPr>
            <a:spLocks noGrp="1"/>
          </p:cNvSpPr>
          <p:nvPr>
            <p:ph type="title"/>
          </p:nvPr>
        </p:nvSpPr>
        <p:spPr/>
        <p:txBody>
          <a:bodyPr>
            <a:normAutofit fontScale="90000"/>
          </a:bodyPr>
          <a:lstStyle/>
          <a:p>
            <a:r>
              <a:rPr lang="en-GB" dirty="0"/>
              <a:t>Feedback</a:t>
            </a:r>
            <a:endParaRPr lang="en-US" dirty="0"/>
          </a:p>
        </p:txBody>
      </p:sp>
      <p:sp>
        <p:nvSpPr>
          <p:cNvPr id="3" name="Text Placeholder 2">
            <a:extLst>
              <a:ext uri="{FF2B5EF4-FFF2-40B4-BE49-F238E27FC236}">
                <a16:creationId xmlns:a16="http://schemas.microsoft.com/office/drawing/2014/main" id="{73E594EE-BC2F-5586-3169-D8DCE19469C1}"/>
              </a:ext>
            </a:extLst>
          </p:cNvPr>
          <p:cNvSpPr>
            <a:spLocks noGrp="1"/>
          </p:cNvSpPr>
          <p:nvPr>
            <p:ph type="body" idx="1"/>
          </p:nvPr>
        </p:nvSpPr>
        <p:spPr/>
        <p:txBody>
          <a:bodyPr/>
          <a:lstStyle/>
          <a:p>
            <a:endParaRPr lang="en-US"/>
          </a:p>
        </p:txBody>
      </p:sp>
      <p:pic>
        <p:nvPicPr>
          <p:cNvPr id="5" name="Picture 4" descr="Qr code on a screen&#10;&#10;AI-generated content may be incorrect.">
            <a:extLst>
              <a:ext uri="{FF2B5EF4-FFF2-40B4-BE49-F238E27FC236}">
                <a16:creationId xmlns:a16="http://schemas.microsoft.com/office/drawing/2014/main" id="{B3168404-C6BD-F2ED-BB0F-14A60D7C2A22}"/>
              </a:ext>
            </a:extLst>
          </p:cNvPr>
          <p:cNvPicPr>
            <a:picLocks noChangeAspect="1"/>
          </p:cNvPicPr>
          <p:nvPr/>
        </p:nvPicPr>
        <p:blipFill>
          <a:blip r:embed="rId2"/>
          <a:stretch>
            <a:fillRect/>
          </a:stretch>
        </p:blipFill>
        <p:spPr>
          <a:xfrm>
            <a:off x="467433" y="1152475"/>
            <a:ext cx="3454345" cy="3454345"/>
          </a:xfrm>
          <a:prstGeom prst="rect">
            <a:avLst/>
          </a:prstGeom>
        </p:spPr>
      </p:pic>
    </p:spTree>
    <p:extLst>
      <p:ext uri="{BB962C8B-B14F-4D97-AF65-F5344CB8AC3E}">
        <p14:creationId xmlns:p14="http://schemas.microsoft.com/office/powerpoint/2010/main" val="1682749071"/>
      </p:ext>
    </p:extLst>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15022</TotalTime>
  <Words>762</Words>
  <Application>Microsoft Office PowerPoint</Application>
  <PresentationFormat>On-screen Show (16:9)</PresentationFormat>
  <Paragraphs>178</Paragraphs>
  <Slides>50</Slides>
  <Notes>19</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Linotype Univers 1</vt:lpstr>
      <vt:lpstr>Aptos</vt:lpstr>
      <vt:lpstr>Arial Narrow</vt:lpstr>
      <vt:lpstr>Lato Medium</vt:lpstr>
      <vt:lpstr>Fira Sans Condensed Light</vt:lpstr>
      <vt:lpstr>Arial</vt:lpstr>
      <vt:lpstr>Arimo</vt:lpstr>
      <vt:lpstr>Lato</vt:lpstr>
      <vt:lpstr>Cambria Math</vt:lpstr>
      <vt:lpstr>Office Theme</vt:lpstr>
      <vt:lpstr>De wiskunde achter medische machine learning</vt:lpstr>
      <vt:lpstr>PowerPoint Presentation</vt:lpstr>
      <vt:lpstr>PowerPoint Presentation</vt:lpstr>
      <vt:lpstr>PowerPoint Presentation</vt:lpstr>
      <vt:lpstr>PowerPoint Presentation</vt:lpstr>
      <vt:lpstr>PowerPoint Presentation</vt:lpstr>
      <vt:lpstr>PowerPoint Presentation</vt:lpstr>
      <vt:lpstr>De wiskunde achter medische machine learning</vt:lpstr>
      <vt:lpstr>ChatGPT - openAI</vt:lpstr>
      <vt:lpstr>Supervised/ unsupervised  learning</vt:lpstr>
      <vt:lpstr>Supervised learning</vt:lpstr>
      <vt:lpstr>Unsupervised learning</vt:lpstr>
      <vt:lpstr>PowerPoint Presentation</vt:lpstr>
      <vt:lpstr>Hoe ziet de computer een beeld?</vt:lpstr>
      <vt:lpstr>Convolutie</vt:lpstr>
      <vt:lpstr>Convolutie</vt:lpstr>
      <vt:lpstr>Grootte output</vt:lpstr>
      <vt:lpstr>Voorbeeld</vt:lpstr>
      <vt:lpstr>Voorbeeld</vt:lpstr>
      <vt:lpstr>Vraag</vt:lpstr>
      <vt:lpstr>PowerPoint Presentation</vt:lpstr>
      <vt:lpstr>Convolutie zoekt naar patroon in kernel</vt:lpstr>
      <vt:lpstr>PowerPoint Presentation</vt:lpstr>
      <vt:lpstr>Neuraal netwerk</vt:lpstr>
      <vt:lpstr>PowerPoint Presentation</vt:lpstr>
      <vt:lpstr>PowerPoint Presentation</vt:lpstr>
      <vt:lpstr>Receptive field</vt:lpstr>
      <vt:lpstr>PowerPoint Presentation</vt:lpstr>
      <vt:lpstr>PowerPoint Presentation</vt:lpstr>
      <vt:lpstr>Welke kernel</vt:lpstr>
      <vt:lpstr>Binaire output</vt:lpstr>
      <vt:lpstr>Binaire output</vt:lpstr>
      <vt:lpstr>Loss functie</vt:lpstr>
      <vt:lpstr>Loss functie</vt:lpstr>
      <vt:lpstr>Loss functie</vt:lpstr>
      <vt:lpstr>Loss functie</vt:lpstr>
      <vt:lpstr>Hoe minimaliseer je de loss functie?</vt:lpstr>
      <vt:lpstr>PowerPoint Presentation</vt:lpstr>
      <vt:lpstr>PowerPoint Presentation</vt:lpstr>
      <vt:lpstr>Overfitting</vt:lpstr>
      <vt:lpstr>Overfitting</vt:lpstr>
      <vt:lpstr>PowerPoint Presentation</vt:lpstr>
      <vt:lpstr>Overfitting voorkomen: Data augmentatie</vt:lpstr>
      <vt:lpstr>Wanneer werkt een algoritme goed?</vt:lpstr>
      <vt:lpstr>Zeldzame ziekte</vt:lpstr>
      <vt:lpstr>Longontsteking of niet?</vt:lpstr>
      <vt:lpstr>Ben jij beter dan AI?</vt:lpstr>
      <vt:lpstr>PowerPoint Presentation</vt:lpstr>
      <vt:lpstr>En nu aan de slag!</vt:lpstr>
      <vt:lpstr>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Bouke Hoekstra</dc:creator>
  <cp:lastModifiedBy>Nicos Starreveld</cp:lastModifiedBy>
  <cp:revision>7</cp:revision>
  <dcterms:modified xsi:type="dcterms:W3CDTF">2026-03-24T09:32:11Z</dcterms:modified>
</cp:coreProperties>
</file>